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3" r:id="rId4"/>
    <p:sldId id="259" r:id="rId5"/>
    <p:sldId id="261" r:id="rId6"/>
    <p:sldId id="260" r:id="rId7"/>
    <p:sldId id="275" r:id="rId8"/>
    <p:sldId id="276" r:id="rId9"/>
    <p:sldId id="277" r:id="rId10"/>
    <p:sldId id="278" r:id="rId11"/>
    <p:sldId id="279" r:id="rId12"/>
    <p:sldId id="264" r:id="rId13"/>
    <p:sldId id="280" r:id="rId14"/>
    <p:sldId id="265" r:id="rId15"/>
    <p:sldId id="281" r:id="rId16"/>
    <p:sldId id="282" r:id="rId17"/>
    <p:sldId id="283" r:id="rId18"/>
    <p:sldId id="284" r:id="rId19"/>
    <p:sldId id="285" r:id="rId20"/>
    <p:sldId id="286" r:id="rId21"/>
    <p:sldId id="271" r:id="rId22"/>
    <p:sldId id="272"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5F2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7386" autoAdjust="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95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“My capstone builds a machine-learning system that predicts soccer player market values, finds undervalued talent, suggests like-for-like replacements, and explains its own reasoning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This is your personal hook — speak from the heart for a moment. You're a lifelong Liverpool fan; the club is famous for using data (under FSG since 2010) to sign undervalued players like Salah and Robertson before the market caught on. Say that THIS is what inspired your project: you wanted to build a smaller version of what Liverpool's analytics team does. It makes the whole talk feel motivated and personal. ~90 seconds.</a:t>
            </a:r>
          </a:p>
          <a:p>
            <a:endParaRPr lang="en-US" dirty="0"/>
          </a:p>
          <a:p>
            <a:endParaRPr lang="en-US" dirty="0"/>
          </a:p>
          <a:p>
            <a:endParaRPr lang="en-US" dirty="0"/>
          </a:p>
          <a:p>
            <a:r>
              <a:rPr lang="en-US" dirty="0"/>
              <a:t>Source: https://cdn.fifa.sportsagentinstitute.com/wp-content/uploads/2026/02/26175053/Global-Transfer-Report-2025-1.pdf</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"Before building the model, I first looked at the problem that clubs face today.</a:t>
            </a:r>
            <a:endParaRPr lang="en-US" dirty="0"/>
          </a:p>
          <a:p>
            <a:endParaRPr lang="en-001" dirty="0"/>
          </a:p>
          <a:p>
            <a:r>
              <a:rPr lang="en-001" dirty="0"/>
              <a:t>Every year, football clubs spend </a:t>
            </a:r>
            <a:r>
              <a:rPr lang="en-001" b="1" dirty="0"/>
              <a:t>billions of dollars</a:t>
            </a:r>
            <a:r>
              <a:rPr lang="en-001" dirty="0"/>
              <a:t> on player transfers. However, recruitment decisions are still heavily influenced by factors such as scouting opinions, player reputation, and media hype.</a:t>
            </a:r>
            <a:endParaRPr lang="en-US" dirty="0"/>
          </a:p>
          <a:p>
            <a:endParaRPr lang="en-001" dirty="0"/>
          </a:p>
          <a:p>
            <a:r>
              <a:rPr lang="en-001" dirty="0"/>
              <a:t>This often leads to two major problems. First, clubs sometimes </a:t>
            </a:r>
            <a:r>
              <a:rPr lang="en-001" b="1" dirty="0"/>
              <a:t>overpay for highly hyped players</a:t>
            </a:r>
            <a:r>
              <a:rPr lang="en-001" dirty="0"/>
              <a:t>. Second, they </a:t>
            </a:r>
            <a:r>
              <a:rPr lang="en-001" b="1" dirty="0"/>
              <a:t>miss talented players who are undervalued by the market</a:t>
            </a:r>
            <a:r>
              <a:rPr lang="en-001" dirty="0"/>
              <a:t>.</a:t>
            </a:r>
            <a:endParaRPr lang="en-US" dirty="0"/>
          </a:p>
          <a:p>
            <a:endParaRPr lang="en-001" dirty="0"/>
          </a:p>
          <a:p>
            <a:r>
              <a:rPr lang="en-001" dirty="0"/>
              <a:t>This is especially challenging for smaller clubs because they don't have the financial resources to compete with the biggest clubs. Instead of outspending their competitors, they need to </a:t>
            </a:r>
            <a:r>
              <a:rPr lang="en-001" b="1" dirty="0"/>
              <a:t>outsmart them</a:t>
            </a:r>
            <a:r>
              <a:rPr lang="en-001" dirty="0"/>
              <a:t>.</a:t>
            </a:r>
          </a:p>
          <a:p>
            <a:endParaRPr lang="en-US" dirty="0"/>
          </a:p>
          <a:p>
            <a:r>
              <a:rPr lang="en-001" dirty="0"/>
              <a:t>Traditionally, recruitment relied mainly on human judgment. Today, many clubs combine traditional scouting with </a:t>
            </a:r>
            <a:r>
              <a:rPr lang="en-001" b="1" dirty="0"/>
              <a:t>data analytics and machine learning</a:t>
            </a:r>
            <a:r>
              <a:rPr lang="en-001" dirty="0"/>
              <a:t> to make more objective and informed recruitment decisions.</a:t>
            </a:r>
          </a:p>
          <a:p>
            <a:endParaRPr lang="en-US" b="1" dirty="0"/>
          </a:p>
          <a:p>
            <a:r>
              <a:rPr lang="en-001" b="1" dirty="0"/>
              <a:t>My project follows this modern approach by using machine learning to identify undervalued players before the market recognizes their true value.</a:t>
            </a:r>
            <a:endParaRPr lang="en-001"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b="1" dirty="0"/>
              <a:t>First</a:t>
            </a:r>
            <a:r>
              <a:rPr lang="en-001" dirty="0"/>
              <a:t>, it predicts a player's market value using features such as age, position, league, playing time, and performance statistics.</a:t>
            </a:r>
            <a:br>
              <a:rPr lang="en-US" dirty="0"/>
            </a:br>
            <a:endParaRPr lang="en-001" dirty="0"/>
          </a:p>
          <a:p>
            <a:r>
              <a:rPr lang="en-001" b="1" dirty="0"/>
              <a:t>Second</a:t>
            </a:r>
            <a:r>
              <a:rPr lang="en-001" dirty="0"/>
              <a:t>, it compares the predicted market value with the player's actual market value to identify potentially undervalued players in the transfer market.</a:t>
            </a:r>
          </a:p>
          <a:p>
            <a:endParaRPr lang="en-US" b="1" dirty="0"/>
          </a:p>
          <a:p>
            <a:r>
              <a:rPr lang="en-001" b="1" dirty="0"/>
              <a:t>Third</a:t>
            </a:r>
            <a:r>
              <a:rPr lang="en-001" dirty="0"/>
              <a:t>, it performs player similarity analysis using </a:t>
            </a:r>
            <a:r>
              <a:rPr lang="en-001" b="1" dirty="0"/>
              <a:t>Cosine Similarity</a:t>
            </a:r>
            <a:r>
              <a:rPr lang="en-001" dirty="0"/>
              <a:t>, </a:t>
            </a:r>
            <a:r>
              <a:rPr lang="en-001" b="1" dirty="0"/>
              <a:t>K-Means clustering</a:t>
            </a:r>
            <a:r>
              <a:rPr lang="en-001" dirty="0"/>
              <a:t>, and </a:t>
            </a:r>
            <a:r>
              <a:rPr lang="en-001" b="1" dirty="0"/>
              <a:t>PCA</a:t>
            </a:r>
            <a:r>
              <a:rPr lang="en-001" dirty="0"/>
              <a:t> to recommend statistically similar, lower-cost alternatives.</a:t>
            </a:r>
          </a:p>
          <a:p>
            <a:endParaRPr lang="en-US" b="1" dirty="0"/>
          </a:p>
          <a:p>
            <a:r>
              <a:rPr lang="en-001" b="1" dirty="0"/>
              <a:t>Finally</a:t>
            </a:r>
            <a:r>
              <a:rPr lang="en-001" dirty="0"/>
              <a:t>, I used </a:t>
            </a:r>
            <a:r>
              <a:rPr lang="en-001" b="1" dirty="0"/>
              <a:t>SHAP</a:t>
            </a:r>
            <a:r>
              <a:rPr lang="en-US" dirty="0"/>
              <a:t>(</a:t>
            </a:r>
            <a:r>
              <a:rPr lang="en-001" b="1" dirty="0" err="1"/>
              <a:t>SHapley</a:t>
            </a:r>
            <a:r>
              <a:rPr lang="en-001" b="1" dirty="0"/>
              <a:t> Additive </a:t>
            </a:r>
            <a:r>
              <a:rPr lang="en-001" b="1" dirty="0" err="1"/>
              <a:t>exPlanations</a:t>
            </a:r>
            <a:r>
              <a:rPr lang="en-US" dirty="0"/>
              <a:t>) </a:t>
            </a:r>
            <a:r>
              <a:rPr lang="en-001" dirty="0"/>
              <a:t>to explain the model's predictions, allowing us to understand which features had the greatest influence on each player's estimated value.</a:t>
            </a:r>
          </a:p>
          <a:p>
            <a:endParaRPr lang="en-US" dirty="0"/>
          </a:p>
          <a:p>
            <a:endParaRPr lang="en-US" dirty="0"/>
          </a:p>
          <a:p>
            <a:r>
              <a:rPr lang="en-001" dirty="0"/>
              <a:t>Together, these four components provide clubs with a more objective and data-driven approach to player recruitment."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"This slide summarizes the complete pipeline of my project, from collecting raw data to generating recruitment insights.</a:t>
            </a:r>
            <a:endParaRPr lang="en-US" dirty="0"/>
          </a:p>
          <a:p>
            <a:endParaRPr lang="en-001" dirty="0"/>
          </a:p>
          <a:p>
            <a:r>
              <a:rPr lang="en-001" dirty="0"/>
              <a:t>I started by collecting data from </a:t>
            </a:r>
            <a:r>
              <a:rPr lang="en-001" b="1" dirty="0"/>
              <a:t>FBref</a:t>
            </a:r>
            <a:r>
              <a:rPr lang="en-001" dirty="0"/>
              <a:t> and </a:t>
            </a:r>
            <a:r>
              <a:rPr lang="en-001" b="1" dirty="0"/>
              <a:t>Transfermarkt</a:t>
            </a:r>
            <a:r>
              <a:rPr lang="en-001" dirty="0"/>
              <a:t>, then cleaned and merged the datasets into one unified dataset.</a:t>
            </a:r>
          </a:p>
          <a:p>
            <a:endParaRPr lang="en-US" dirty="0"/>
          </a:p>
          <a:p>
            <a:r>
              <a:rPr lang="en-001" dirty="0"/>
              <a:t>Next, I performed </a:t>
            </a:r>
            <a:r>
              <a:rPr lang="en-001" b="1" dirty="0"/>
              <a:t>exploratory data analysis</a:t>
            </a:r>
            <a:r>
              <a:rPr lang="en-001" dirty="0"/>
              <a:t> and trained machine learning models to predict player market values.</a:t>
            </a:r>
          </a:p>
          <a:p>
            <a:endParaRPr lang="en-US" dirty="0"/>
          </a:p>
          <a:p>
            <a:r>
              <a:rPr lang="en-001" dirty="0"/>
              <a:t>Using those predictions, I identified </a:t>
            </a:r>
            <a:r>
              <a:rPr lang="en-001" b="1" dirty="0"/>
              <a:t>undervalued players</a:t>
            </a:r>
            <a:r>
              <a:rPr lang="en-001" dirty="0"/>
              <a:t>, recommended </a:t>
            </a:r>
            <a:r>
              <a:rPr lang="en-001" b="1" dirty="0"/>
              <a:t>similar lower-cost alternatives</a:t>
            </a:r>
            <a:r>
              <a:rPr lang="en-001" dirty="0"/>
              <a:t>, and used </a:t>
            </a:r>
            <a:r>
              <a:rPr lang="en-001" b="1" dirty="0"/>
              <a:t>SHAP</a:t>
            </a:r>
            <a:r>
              <a:rPr lang="en-001" dirty="0"/>
              <a:t> to explain the model's predictions.</a:t>
            </a:r>
          </a:p>
          <a:p>
            <a:endParaRPr lang="en-US" dirty="0"/>
          </a:p>
          <a:p>
            <a:r>
              <a:rPr lang="en-001" dirty="0"/>
              <a:t>In the next few slides, I'll walk through each step in more detail."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endParaRPr lang="en-US" dirty="0"/>
          </a:p>
          <a:p>
            <a:r>
              <a:rPr lang="en-001" dirty="0"/>
              <a:t>FBref tells you </a:t>
            </a:r>
            <a:r>
              <a:rPr lang="en-001" i="1" dirty="0"/>
              <a:t>how a player performs</a:t>
            </a:r>
            <a:r>
              <a:rPr lang="en-001" dirty="0"/>
              <a:t>; </a:t>
            </a:r>
            <a:endParaRPr lang="en-US" dirty="0"/>
          </a:p>
          <a:p>
            <a:endParaRPr lang="en-US" dirty="0"/>
          </a:p>
          <a:p>
            <a:r>
              <a:rPr lang="en-001" dirty="0"/>
              <a:t>Transfermarkt tells you </a:t>
            </a:r>
            <a:r>
              <a:rPr lang="en-001" i="1" dirty="0"/>
              <a:t>what he's worth and his situation</a:t>
            </a:r>
            <a:r>
              <a:rPr lang="en-001" dirty="0"/>
              <a:t>. That two-source combination is the core of your dataset.</a:t>
            </a:r>
            <a:endParaRPr lang="en-US" dirty="0"/>
          </a:p>
          <a:p>
            <a:endParaRPr lang="en-US" b="1" dirty="0"/>
          </a:p>
          <a:p>
            <a:endParaRPr lang="en-US" dirty="0"/>
          </a:p>
          <a:p>
            <a:endParaRPr lang="en-US" dirty="0"/>
          </a:p>
          <a:p>
            <a:r>
              <a:rPr lang="en-001" dirty="0"/>
              <a:t>Since these datasets don't share a common player ID, I merged them using </a:t>
            </a:r>
            <a:r>
              <a:rPr lang="en-001" b="1" dirty="0"/>
              <a:t>player name and birth year</a:t>
            </a:r>
            <a:r>
              <a:rPr lang="en-001" dirty="0"/>
              <a:t>. I also manually validated the matches to reduce incorrect mappings and duplicate records.</a:t>
            </a:r>
          </a:p>
          <a:p>
            <a:endParaRPr lang="en-US" dirty="0"/>
          </a:p>
          <a:p>
            <a:r>
              <a:rPr lang="en-001" dirty="0"/>
              <a:t>After the merge, I achieved an </a:t>
            </a:r>
            <a:r>
              <a:rPr lang="en-001" b="1" dirty="0"/>
              <a:t>approximately 88% match rate</a:t>
            </a:r>
            <a:r>
              <a:rPr lang="en-001" dirty="0"/>
              <a:t>, resulting in a final dataset of </a:t>
            </a:r>
            <a:r>
              <a:rPr lang="en-001" b="1" dirty="0"/>
              <a:t>2,514 players with both performance statistics and market values</a:t>
            </a:r>
            <a:r>
              <a:rPr lang="en-001" dirty="0"/>
              <a:t>.</a:t>
            </a:r>
          </a:p>
          <a:p>
            <a:endParaRPr lang="en-US" dirty="0"/>
          </a:p>
          <a:p>
            <a:endParaRPr lang="en-US" dirty="0"/>
          </a:p>
          <a:p>
            <a:endParaRPr lang="en-US" dirty="0"/>
          </a:p>
          <a:p>
            <a:endParaRPr lang="en-US" dirty="0"/>
          </a:p>
          <a:p>
            <a:endParaRPr lang="en-US" dirty="0"/>
          </a:p>
          <a:p>
            <a:r>
              <a:rPr lang="en-001" b="1" dirty="0"/>
              <a:t>transfers.csv</a:t>
            </a:r>
            <a:r>
              <a:rPr lang="en-001" dirty="0"/>
              <a:t> </a:t>
            </a:r>
            <a:r>
              <a:rPr lang="en-001" i="1" dirty="0"/>
              <a:t>(this is your validation data)</a:t>
            </a:r>
            <a:endParaRPr lang="en-US" i="1" dirty="0"/>
          </a:p>
          <a:p>
            <a:r>
              <a:rPr lang="en-001" b="1" dirty="0"/>
              <a:t>Transfer records:</a:t>
            </a:r>
            <a:r>
              <a:rPr lang="en-001" dirty="0"/>
              <a:t> </a:t>
            </a:r>
            <a:r>
              <a:rPr lang="en-001" b="1" dirty="0"/>
              <a:t>1993 to 20</a:t>
            </a:r>
            <a:r>
              <a:rPr lang="en-US" b="1" dirty="0"/>
              <a:t>30</a:t>
            </a:r>
          </a:p>
          <a:p>
            <a:endParaRPr lang="en-US" b="1" dirty="0"/>
          </a:p>
          <a:p>
            <a:endParaRPr lang="en-US" b="1" dirty="0"/>
          </a:p>
          <a:p>
            <a:r>
              <a:rPr lang="en-001" b="1" dirty="0"/>
              <a:t>88.6% of your merged players successfully got a market value</a:t>
            </a:r>
            <a:r>
              <a:rPr lang="en-001" dirty="0"/>
              <a:t> attached from Transfermarkt</a:t>
            </a:r>
            <a:r>
              <a:rPr lang="en-US" dirty="0"/>
              <a:t> </a:t>
            </a:r>
          </a:p>
          <a:p>
            <a:r>
              <a:rPr lang="en-001" dirty="0"/>
              <a:t>2,514 ÷ 2,839 = 88.6%</a:t>
            </a:r>
            <a:endParaRPr lang="en-US" b="1"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I created </a:t>
            </a:r>
            <a:r>
              <a:rPr lang="en-001" b="1" dirty="0"/>
              <a:t>three Python scripts</a:t>
            </a:r>
            <a:r>
              <a:rPr lang="en-001" dirty="0"/>
              <a:t> to automate the data preparation process.</a:t>
            </a:r>
            <a:endParaRPr lang="en-US" dirty="0"/>
          </a:p>
          <a:p>
            <a:endParaRPr lang="en-001" dirty="0"/>
          </a:p>
          <a:p>
            <a:r>
              <a:rPr lang="en-001" b="1" dirty="0"/>
              <a:t>First</a:t>
            </a:r>
            <a:r>
              <a:rPr lang="en-001" dirty="0"/>
              <a:t>, I merged the FBref and Transfermarkt datasets by matching players using their </a:t>
            </a:r>
            <a:r>
              <a:rPr lang="en-001" b="1" dirty="0"/>
              <a:t>name and birth year</a:t>
            </a:r>
            <a:r>
              <a:rPr lang="en-001" dirty="0"/>
              <a:t>, achieving an approximately </a:t>
            </a:r>
            <a:r>
              <a:rPr lang="en-001" b="1" dirty="0"/>
              <a:t>88% match rate</a:t>
            </a:r>
            <a:r>
              <a:rPr lang="en-001" dirty="0"/>
              <a:t>.</a:t>
            </a:r>
            <a:endParaRPr lang="en-US" dirty="0"/>
          </a:p>
          <a:p>
            <a:endParaRPr lang="en-001" dirty="0"/>
          </a:p>
          <a:p>
            <a:r>
              <a:rPr lang="en-001" b="1" dirty="0"/>
              <a:t>Second</a:t>
            </a:r>
            <a:r>
              <a:rPr lang="en-001" dirty="0"/>
              <a:t>, I cleaned the merged dataset by removing duplicate and unnecessary columns, handling missing values, and organizing the columns into a logical structure.</a:t>
            </a:r>
            <a:endParaRPr lang="en-US" dirty="0"/>
          </a:p>
          <a:p>
            <a:endParaRPr lang="en-001" dirty="0"/>
          </a:p>
          <a:p>
            <a:r>
              <a:rPr lang="en-001" b="1" dirty="0"/>
              <a:t>Finally</a:t>
            </a:r>
            <a:r>
              <a:rPr lang="en-001" dirty="0"/>
              <a:t>, I renamed abbreviated column names from FBref into more descriptive labels. For example, </a:t>
            </a:r>
            <a:r>
              <a:rPr lang="en-001" b="1" dirty="0"/>
              <a:t>'</a:t>
            </a:r>
            <a:r>
              <a:rPr lang="en-001" b="1" dirty="0" err="1"/>
              <a:t>Gls'</a:t>
            </a:r>
            <a:r>
              <a:rPr lang="en-001" b="1" dirty="0"/>
              <a:t> became 'Goals'</a:t>
            </a:r>
            <a:r>
              <a:rPr lang="en-001" dirty="0"/>
              <a:t> and </a:t>
            </a:r>
            <a:r>
              <a:rPr lang="en-001" b="1" dirty="0"/>
              <a:t>'PPM' became 'Points per Match'</a:t>
            </a:r>
            <a:r>
              <a:rPr lang="en-001" dirty="0"/>
              <a:t>, making the dataset easier to understand and </a:t>
            </a:r>
            <a:r>
              <a:rPr lang="en-001" dirty="0" err="1"/>
              <a:t>analyze</a:t>
            </a:r>
            <a:r>
              <a:rPr lang="en-001" dirty="0"/>
              <a:t>.</a:t>
            </a:r>
            <a:endParaRPr lang="en-US" dirty="0"/>
          </a:p>
          <a:p>
            <a:endParaRPr lang="en-001" dirty="0"/>
          </a:p>
          <a:p>
            <a:r>
              <a:rPr lang="en-001" dirty="0"/>
              <a:t>The final output was a clean dataset containing </a:t>
            </a:r>
            <a:r>
              <a:rPr lang="en-001" b="1" dirty="0"/>
              <a:t>2,839 players</a:t>
            </a:r>
            <a:r>
              <a:rPr lang="en-001" dirty="0"/>
              <a:t> and </a:t>
            </a:r>
            <a:r>
              <a:rPr lang="en-001" b="1" dirty="0"/>
              <a:t>71 columns</a:t>
            </a:r>
            <a:r>
              <a:rPr lang="en-001" dirty="0"/>
              <a:t>, combining both performance statistics and market value information in a single file ready for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endParaRPr lang="en-US" dirty="0"/>
          </a:p>
          <a:p>
            <a:r>
              <a:rPr lang="en-001" dirty="0"/>
              <a:t>Before building the machine learning model, I performed </a:t>
            </a:r>
            <a:r>
              <a:rPr lang="en-001" b="1" dirty="0"/>
              <a:t>Exploratory Data Analysis</a:t>
            </a:r>
            <a:r>
              <a:rPr lang="en-001" dirty="0"/>
              <a:t>, or EDA, to better understand the dataset and identify the factors that influence player market value.</a:t>
            </a:r>
            <a:endParaRPr lang="en-US" dirty="0"/>
          </a:p>
          <a:p>
            <a:endParaRPr lang="en-001" dirty="0"/>
          </a:p>
          <a:p>
            <a:r>
              <a:rPr lang="en-001" dirty="0"/>
              <a:t>During this step, I loaded the merged dataset, converted market values into numerical values, and applied a </a:t>
            </a:r>
            <a:r>
              <a:rPr lang="en-001" b="1" dirty="0"/>
              <a:t>log transformation</a:t>
            </a:r>
            <a:r>
              <a:rPr lang="en-001" dirty="0"/>
              <a:t> because market values are highly skewed. A few players are worth hundreds of millions of euros, while most players are valued much lower.</a:t>
            </a:r>
            <a:endParaRPr lang="en-US" dirty="0"/>
          </a:p>
          <a:p>
            <a:endParaRPr lang="en-001" dirty="0"/>
          </a:p>
          <a:p>
            <a:r>
              <a:rPr lang="en-001" dirty="0"/>
              <a:t>I then generated </a:t>
            </a:r>
            <a:r>
              <a:rPr lang="en-001" b="1" dirty="0"/>
              <a:t>12 visualizations</a:t>
            </a:r>
            <a:r>
              <a:rPr lang="en-001" dirty="0"/>
              <a:t> to explore the data from three different perspectives: the distribution of player values, relationships between variables, and correlations among features.</a:t>
            </a:r>
            <a:endParaRPr lang="en-US" dirty="0"/>
          </a:p>
          <a:p>
            <a:endParaRPr lang="en-US" dirty="0"/>
          </a:p>
          <a:p>
            <a:endParaRPr lang="en-001" dirty="0"/>
          </a:p>
          <a:p>
            <a:r>
              <a:rPr lang="en-001" dirty="0"/>
              <a:t>The analysis revealed several important insights.</a:t>
            </a:r>
          </a:p>
          <a:p>
            <a:r>
              <a:rPr lang="en-001" dirty="0"/>
              <a:t>First, </a:t>
            </a:r>
            <a:r>
              <a:rPr lang="en-001" b="1" dirty="0"/>
              <a:t>market value peaks around ages 24 to 26</a:t>
            </a:r>
            <a:r>
              <a:rPr lang="en-001" dirty="0"/>
              <a:t>, then gradually declines, showing that age is one of the strongest factors influencing value.</a:t>
            </a:r>
            <a:endParaRPr lang="en-US" dirty="0"/>
          </a:p>
          <a:p>
            <a:endParaRPr lang="en-001" dirty="0"/>
          </a:p>
          <a:p>
            <a:r>
              <a:rPr lang="en-001" dirty="0"/>
              <a:t>Second, players in the </a:t>
            </a:r>
            <a:r>
              <a:rPr lang="en-001" b="1" dirty="0"/>
              <a:t>Premier League</a:t>
            </a:r>
            <a:r>
              <a:rPr lang="en-001" dirty="0"/>
              <a:t> generally have much higher market values than players in other leagues.</a:t>
            </a:r>
            <a:endParaRPr lang="en-US" dirty="0"/>
          </a:p>
          <a:p>
            <a:endParaRPr lang="en-001" dirty="0"/>
          </a:p>
          <a:p>
            <a:r>
              <a:rPr lang="en-001" dirty="0"/>
              <a:t>Third, players with </a:t>
            </a:r>
            <a:r>
              <a:rPr lang="en-001" b="1" dirty="0"/>
              <a:t>longer contracts</a:t>
            </a:r>
            <a:r>
              <a:rPr lang="en-001" dirty="0"/>
              <a:t> tend to have higher market values because clubs have greater negotiating power.</a:t>
            </a:r>
            <a:endParaRPr lang="en-US" dirty="0"/>
          </a:p>
          <a:p>
            <a:endParaRPr lang="en-001" dirty="0"/>
          </a:p>
          <a:p>
            <a:r>
              <a:rPr lang="en-001" dirty="0"/>
              <a:t>Finally, players who perform well and play for successful teams are generally valued more highly.</a:t>
            </a:r>
            <a:endParaRPr lang="en-US" dirty="0"/>
          </a:p>
          <a:p>
            <a:endParaRPr lang="en-001" dirty="0"/>
          </a:p>
          <a:p>
            <a:r>
              <a:rPr lang="en-001" dirty="0"/>
              <a:t>These insights helped me select meaningful features and better understand the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One important finding from my exploratory analysis was that </a:t>
            </a:r>
            <a:r>
              <a:rPr lang="en-001" b="1" dirty="0"/>
              <a:t>player market values were highly skewed</a:t>
            </a:r>
            <a:r>
              <a:rPr lang="en-001" dirty="0"/>
              <a:t>.</a:t>
            </a:r>
            <a:endParaRPr lang="en-US" dirty="0"/>
          </a:p>
          <a:p>
            <a:endParaRPr lang="en-001" dirty="0"/>
          </a:p>
          <a:p>
            <a:r>
              <a:rPr lang="en-001" dirty="0"/>
              <a:t>As you can see in the graph on the left, most players were valued below </a:t>
            </a:r>
            <a:r>
              <a:rPr lang="en-001" b="1" dirty="0"/>
              <a:t>€5 million</a:t>
            </a:r>
            <a:r>
              <a:rPr lang="en-001" dirty="0"/>
              <a:t>, while only a small number of players were worth over </a:t>
            </a:r>
            <a:r>
              <a:rPr lang="en-001" b="1" dirty="0"/>
              <a:t>€100 million</a:t>
            </a:r>
            <a:r>
              <a:rPr lang="en-001" dirty="0"/>
              <a:t> or even </a:t>
            </a:r>
            <a:r>
              <a:rPr lang="en-001" b="1" dirty="0"/>
              <a:t>€200 million</a:t>
            </a:r>
            <a:r>
              <a:rPr lang="en-001" dirty="0"/>
              <a:t>.</a:t>
            </a:r>
          </a:p>
          <a:p>
            <a:endParaRPr lang="en-US" dirty="0"/>
          </a:p>
          <a:p>
            <a:r>
              <a:rPr lang="en-001" dirty="0"/>
              <a:t>This type of distribution can make it difficult for a machine learning model to learn because the extremely high values dominate the training process.</a:t>
            </a:r>
            <a:endParaRPr lang="en-US" dirty="0"/>
          </a:p>
          <a:p>
            <a:endParaRPr lang="en-001" dirty="0"/>
          </a:p>
          <a:p>
            <a:r>
              <a:rPr lang="en-001" dirty="0"/>
              <a:t>To address this, I applied a </a:t>
            </a:r>
            <a:r>
              <a:rPr lang="en-001" b="1" dirty="0"/>
              <a:t>log transformation</a:t>
            </a:r>
            <a:r>
              <a:rPr lang="en-001" dirty="0"/>
              <a:t> to the market values.</a:t>
            </a:r>
            <a:endParaRPr lang="en-US" dirty="0"/>
          </a:p>
          <a:p>
            <a:endParaRPr lang="en-001" dirty="0"/>
          </a:p>
          <a:p>
            <a:r>
              <a:rPr lang="en-001" dirty="0"/>
              <a:t>As shown in the graph on the right, the distribution became much more balanced and closer to a normal distribution.</a:t>
            </a:r>
            <a:endParaRPr lang="en-US" dirty="0"/>
          </a:p>
          <a:p>
            <a:endParaRPr lang="en-001" dirty="0"/>
          </a:p>
          <a:p>
            <a:r>
              <a:rPr lang="en-001" dirty="0"/>
              <a:t>This allowed the model to learn the underlying patterns more effectively and improved the stability and accuracy of the predictions.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1BEAE-BC11-F23C-79F2-00F6BE736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E17D3-5F14-9299-30FB-4E6261D6797D}"/>
              </a:ext>
            </a:extLst>
          </p:cNvPr>
          <p:cNvSpPr>
            <a:spLocks noGrp="1" noRot="1" noChangeAspect="1"/>
          </p:cNvSpPr>
          <p:nvPr>
            <p:ph type="sldImg"/>
          </p:nvPr>
        </p:nvSpPr>
        <p:spPr/>
        <p:txBody>
          <a:bodyPr/>
          <a:lstStyle/>
          <a:p>
            <a:endParaRPr lang="en-001"/>
          </a:p>
        </p:txBody>
      </p:sp>
      <p:sp>
        <p:nvSpPr>
          <p:cNvPr id="3" name="Notes Placeholder 2">
            <a:extLst>
              <a:ext uri="{FF2B5EF4-FFF2-40B4-BE49-F238E27FC236}">
                <a16:creationId xmlns:a16="http://schemas.microsoft.com/office/drawing/2014/main" id="{1CABD26D-F1CE-1F31-6E43-B78ADCD739A8}"/>
              </a:ext>
            </a:extLst>
          </p:cNvPr>
          <p:cNvSpPr>
            <a:spLocks noGrp="1"/>
          </p:cNvSpPr>
          <p:nvPr>
            <p:ph type="body" idx="1"/>
          </p:nvPr>
        </p:nvSpPr>
        <p:spPr/>
        <p:txBody>
          <a:bodyPr/>
          <a:lstStyle/>
          <a:p>
            <a:pPr lvl="0"/>
            <a:r>
              <a:rPr lang="en-001" b="1" dirty="0"/>
              <a:t>Forwards (blue) peak the highest</a:t>
            </a:r>
            <a:r>
              <a:rPr lang="en-001" dirty="0"/>
              <a:t> — spiking to ~€27M around age 25. Attackers command the biggest values in their prime.</a:t>
            </a:r>
          </a:p>
          <a:p>
            <a:pPr lvl="0"/>
            <a:r>
              <a:rPr lang="en-001" b="1" dirty="0"/>
              <a:t>Midfielders (orange) peak early</a:t>
            </a:r>
            <a:r>
              <a:rPr lang="en-001" dirty="0"/>
              <a:t> — high value already by 18–23 (~€19–21M), reflecting how much young creative midfielders are prized.</a:t>
            </a:r>
          </a:p>
          <a:p>
            <a:pPr lvl="0"/>
            <a:r>
              <a:rPr lang="en-001" b="1" dirty="0"/>
              <a:t>Defenders (green)</a:t>
            </a:r>
            <a:r>
              <a:rPr lang="en-001" dirty="0"/>
              <a:t> follow a similar hill, peaking ~€19M around 23.</a:t>
            </a:r>
          </a:p>
          <a:p>
            <a:pPr lvl="0"/>
            <a:r>
              <a:rPr lang="en-001" b="1" dirty="0"/>
              <a:t>Goalkeepers (red) are lowest and flattest</a:t>
            </a:r>
            <a:r>
              <a:rPr lang="en-001" dirty="0"/>
              <a:t> — they peak later and lower (~€13M), and their value holds up better into their 30s</a:t>
            </a:r>
            <a:endParaRPr lang="en-US" dirty="0"/>
          </a:p>
        </p:txBody>
      </p:sp>
      <p:sp>
        <p:nvSpPr>
          <p:cNvPr id="4" name="Slide Number Placeholder 3">
            <a:extLst>
              <a:ext uri="{FF2B5EF4-FFF2-40B4-BE49-F238E27FC236}">
                <a16:creationId xmlns:a16="http://schemas.microsoft.com/office/drawing/2014/main" id="{AF07C464-EBEE-79AC-199A-EA01ECF9429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69662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"After cleaning the data, the next step was </a:t>
            </a:r>
            <a:r>
              <a:rPr lang="en-001" b="1" dirty="0"/>
              <a:t>feature engineering</a:t>
            </a:r>
            <a:r>
              <a:rPr lang="en-001" dirty="0"/>
              <a:t>, where I created and transformed variables to improve the model's ability to predict player market values.</a:t>
            </a:r>
            <a:endParaRPr lang="en-US" dirty="0"/>
          </a:p>
          <a:p>
            <a:endParaRPr lang="en-001" dirty="0"/>
          </a:p>
          <a:p>
            <a:r>
              <a:rPr lang="en-001" dirty="0"/>
              <a:t>First, I trained the model on the </a:t>
            </a:r>
            <a:r>
              <a:rPr lang="en-001" b="1" dirty="0"/>
              <a:t>log-transformed market value</a:t>
            </a:r>
            <a:r>
              <a:rPr lang="en-001" dirty="0"/>
              <a:t> instead of the raw value. This reduced the effect of extremely expensive players and created a more balanced target variable.</a:t>
            </a:r>
            <a:endParaRPr lang="en-US" dirty="0"/>
          </a:p>
          <a:p>
            <a:endParaRPr lang="en-001" dirty="0"/>
          </a:p>
          <a:p>
            <a:r>
              <a:rPr lang="en-001" dirty="0"/>
              <a:t>I then created a feature representing the </a:t>
            </a:r>
            <a:r>
              <a:rPr lang="en-001" b="1" dirty="0"/>
              <a:t>number of years remaining on a player's contract</a:t>
            </a:r>
            <a:r>
              <a:rPr lang="en-001" dirty="0"/>
              <a:t>, since players with longer contracts are generally more valuable.</a:t>
            </a:r>
            <a:endParaRPr lang="en-US" dirty="0"/>
          </a:p>
          <a:p>
            <a:endParaRPr lang="en-001" dirty="0"/>
          </a:p>
          <a:p>
            <a:r>
              <a:rPr lang="en-001" dirty="0"/>
              <a:t>Next, I created an </a:t>
            </a:r>
            <a:r>
              <a:rPr lang="en-001" b="1" dirty="0"/>
              <a:t>Age Squared</a:t>
            </a:r>
            <a:r>
              <a:rPr lang="en-001" dirty="0"/>
              <a:t> feature. From my exploratory analysis, I found that a player's value increases during the early years of their career, peaks around the mid-20s, and then declines. Adding Age Squared allows the model to learn this curved relationship instead of assuming a straight line.</a:t>
            </a:r>
            <a:endParaRPr lang="en-US" dirty="0"/>
          </a:p>
          <a:p>
            <a:endParaRPr lang="en-001" dirty="0"/>
          </a:p>
          <a:p>
            <a:r>
              <a:rPr lang="en-001" dirty="0"/>
              <a:t>I also extracted each player's </a:t>
            </a:r>
            <a:r>
              <a:rPr lang="en-001" b="1" dirty="0"/>
              <a:t>primary position</a:t>
            </a:r>
            <a:r>
              <a:rPr lang="en-001" dirty="0"/>
              <a:t> and used </a:t>
            </a:r>
            <a:r>
              <a:rPr lang="en-US" b="1" dirty="0"/>
              <a:t>league and position </a:t>
            </a:r>
            <a:r>
              <a:rPr lang="en-001" b="1" dirty="0"/>
              <a:t>encoding</a:t>
            </a:r>
            <a:r>
              <a:rPr lang="en-001" dirty="0"/>
              <a:t> to convert positions and leagues into numerical features that machine learning models can understand.</a:t>
            </a:r>
            <a:endParaRPr lang="en-US" dirty="0"/>
          </a:p>
          <a:p>
            <a:endParaRPr lang="en-001" dirty="0"/>
          </a:p>
          <a:p>
            <a:r>
              <a:rPr lang="en-001" dirty="0"/>
              <a:t>Finally, I handled missing values and removed any columns that could cause data leakage.</a:t>
            </a:r>
            <a:endParaRPr lang="en-US" dirty="0"/>
          </a:p>
          <a:p>
            <a:endParaRPr lang="en-001" dirty="0"/>
          </a:p>
          <a:p>
            <a:r>
              <a:rPr lang="en-001" dirty="0"/>
              <a:t>These engineered features gave the model more meaningful information and improved its predictive performance."</a:t>
            </a:r>
          </a:p>
          <a:p>
            <a:pPr rtl="0"/>
            <a:endParaRPr lang="en-001"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"Next, I built the machine learning models to predict a player's market value based on their performance statistics.</a:t>
            </a:r>
            <a:endParaRPr lang="en-US" dirty="0"/>
          </a:p>
          <a:p>
            <a:endParaRPr lang="en-001" dirty="0"/>
          </a:p>
          <a:p>
            <a:r>
              <a:rPr lang="en-001" dirty="0"/>
              <a:t>Since this is a continuous value, I used </a:t>
            </a:r>
            <a:r>
              <a:rPr lang="en-001" b="1" dirty="0"/>
              <a:t>regression</a:t>
            </a:r>
            <a:r>
              <a:rPr lang="en-001" dirty="0"/>
              <a:t> and compared three models: </a:t>
            </a:r>
            <a:r>
              <a:rPr lang="en-001" b="1" dirty="0"/>
              <a:t>Linear Regression, Random Forest, and XGBoost</a:t>
            </a:r>
            <a:r>
              <a:rPr lang="en-001" dirty="0"/>
              <a:t>.</a:t>
            </a:r>
            <a:endParaRPr lang="en-US" dirty="0"/>
          </a:p>
          <a:p>
            <a:endParaRPr lang="en-001" dirty="0"/>
          </a:p>
          <a:p>
            <a:r>
              <a:rPr lang="en-001" dirty="0"/>
              <a:t>I used an </a:t>
            </a:r>
            <a:r>
              <a:rPr lang="en-001" b="1" dirty="0"/>
              <a:t>80/20 train-test split</a:t>
            </a:r>
            <a:r>
              <a:rPr lang="en-001" dirty="0"/>
              <a:t>, </a:t>
            </a:r>
            <a:r>
              <a:rPr lang="en-001" b="1" dirty="0"/>
              <a:t>5-fold cross-validation</a:t>
            </a:r>
            <a:r>
              <a:rPr lang="en-001" dirty="0"/>
              <a:t> to ensure reliable performance, and </a:t>
            </a:r>
            <a:r>
              <a:rPr lang="en-001" b="1" dirty="0"/>
              <a:t>hyperparameter tuning</a:t>
            </a:r>
            <a:r>
              <a:rPr lang="en-001" dirty="0"/>
              <a:t> to find the best settings for each model. trained using </a:t>
            </a:r>
            <a:r>
              <a:rPr lang="en-001" b="1" dirty="0"/>
              <a:t>64 input features</a:t>
            </a:r>
            <a:r>
              <a:rPr lang="en-00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2D6A4F"/>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2D6A4F"/>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2D6A4F"/>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2D6A4F"/>
                </a:solidFill>
                <a:latin typeface="Calibri" pitchFamily="34" charset="0"/>
                <a:ea typeface="Calibri" pitchFamily="34" charset="-122"/>
                <a:cs typeface="Calibri" pitchFamily="34" charset="-120"/>
              </a:rPr>
              <a:t>Why cross-validation?</a:t>
            </a:r>
            <a:endParaRPr lang="en-US" sz="1200" dirty="0"/>
          </a:p>
          <a:p>
            <a:pPr lvl="0"/>
            <a:r>
              <a:rPr lang="en-001" dirty="0"/>
              <a:t>Tests the model on multiple data splits. </a:t>
            </a:r>
          </a:p>
          <a:p>
            <a:pPr lvl="0"/>
            <a:r>
              <a:rPr lang="en-001" dirty="0"/>
              <a:t>Produces more reliable performance estimates. </a:t>
            </a:r>
          </a:p>
          <a:p>
            <a:pPr lvl="0"/>
            <a:r>
              <a:rPr lang="en-001" dirty="0"/>
              <a:t>Reduces the risk of overfitting.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"To make the evaluation more reliable, I used </a:t>
            </a:r>
            <a:r>
              <a:rPr lang="en-001" b="1" dirty="0"/>
              <a:t>5-fold cross-validation</a:t>
            </a:r>
            <a:r>
              <a:rPr lang="en-001" dirty="0"/>
              <a:t> instead of relying on a single train-test split.</a:t>
            </a:r>
            <a:endParaRPr lang="en-US" dirty="0"/>
          </a:p>
          <a:p>
            <a:endParaRPr lang="en-US" dirty="0"/>
          </a:p>
          <a:p>
            <a:endParaRPr lang="en-US" dirty="0"/>
          </a:p>
          <a:p>
            <a:r>
              <a:rPr lang="en-001" dirty="0"/>
              <a:t>As shown on the right, </a:t>
            </a:r>
            <a:r>
              <a:rPr lang="en-001" b="1" dirty="0"/>
              <a:t>XGBoost achieved the highest average R²</a:t>
            </a:r>
            <a:r>
              <a:rPr lang="en-US" b="1" dirty="0"/>
              <a:t>(</a:t>
            </a:r>
            <a:r>
              <a:rPr lang="en-001" dirty="0"/>
              <a:t>R-squared</a:t>
            </a:r>
            <a:r>
              <a:rPr lang="en-US" b="1" dirty="0"/>
              <a:t>) </a:t>
            </a:r>
            <a:r>
              <a:rPr lang="en-001" b="1" dirty="0"/>
              <a:t>score of 0.757</a:t>
            </a:r>
            <a:r>
              <a:rPr lang="en-001" dirty="0"/>
              <a:t>, outperforming Random Forest and Linear Regression. The small standard deviations also indicate that the models performed consistently across all five folds."</a:t>
            </a:r>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001" sz="1200" b="0" i="0" kern="1200" dirty="0">
                <a:solidFill>
                  <a:schemeClr val="tx1"/>
                </a:solidFill>
                <a:effectLst/>
                <a:latin typeface="+mn-lt"/>
                <a:ea typeface="+mn-ea"/>
                <a:cs typeface="+mn-cs"/>
              </a:rPr>
              <a:t>Explainable artificial intelligence model for identifying Market Value in Professional Soccer Players</a:t>
            </a:r>
          </a:p>
          <a:p>
            <a:r>
              <a:rPr lang="en-US" dirty="0"/>
              <a:t>https://arxiv.org/html/2311.04599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001" dirty="0"/>
              <a:t>"After comparing the three models, </a:t>
            </a:r>
            <a:r>
              <a:rPr lang="en-001" b="1" dirty="0"/>
              <a:t>XGBoost</a:t>
            </a:r>
            <a:r>
              <a:rPr lang="en-001" dirty="0"/>
              <a:t> produced the best overall performance.</a:t>
            </a:r>
          </a:p>
          <a:p>
            <a:endParaRPr lang="en-US" dirty="0"/>
          </a:p>
          <a:p>
            <a:r>
              <a:rPr lang="en-001" dirty="0"/>
              <a:t>It achieved an </a:t>
            </a:r>
            <a:r>
              <a:rPr lang="en-001" b="1" dirty="0"/>
              <a:t>R² score of 0.75</a:t>
            </a:r>
            <a:r>
              <a:rPr lang="en-001" dirty="0"/>
              <a:t>, meaning the model was able to explain about </a:t>
            </a:r>
            <a:r>
              <a:rPr lang="en-001" b="1" dirty="0"/>
              <a:t>75% of the variation in player market values</a:t>
            </a:r>
            <a:r>
              <a:rPr lang="en-001" dirty="0"/>
              <a:t>.</a:t>
            </a:r>
            <a:endParaRPr lang="en-US" dirty="0"/>
          </a:p>
          <a:p>
            <a:endParaRPr lang="en-US" dirty="0"/>
          </a:p>
          <a:p>
            <a:r>
              <a:rPr lang="en-001" dirty="0"/>
              <a:t>Market value prediction is a challenging regression problem because player values depend on many factors beyond performance, such as reputation, transfer demand, and contract negotiations. Explaining about 75% of the variation using only performance statistics and player attributes is a strong result</a:t>
            </a:r>
            <a:endParaRPr lang="en-US" dirty="0"/>
          </a:p>
          <a:p>
            <a:endParaRPr lang="en-001" dirty="0"/>
          </a:p>
          <a:p>
            <a:r>
              <a:rPr lang="en-001" dirty="0"/>
              <a:t>It also achieved the </a:t>
            </a:r>
            <a:r>
              <a:rPr lang="en-001" b="1" dirty="0"/>
              <a:t>lowest Mean Absolute Error, or MAE, of approximately €4.9 million</a:t>
            </a:r>
            <a:r>
              <a:rPr lang="en-001" dirty="0"/>
              <a:t>, meaning that, on average, the predicted market value was about </a:t>
            </a:r>
            <a:r>
              <a:rPr lang="en-001" b="1" dirty="0"/>
              <a:t>€4.9 million</a:t>
            </a:r>
            <a:r>
              <a:rPr lang="en-001" dirty="0"/>
              <a:t> away from the actual market value.</a:t>
            </a:r>
          </a:p>
          <a:p>
            <a:endParaRPr lang="en-US" dirty="0"/>
          </a:p>
          <a:p>
            <a:endParaRPr lang="en-US" dirty="0"/>
          </a:p>
          <a:p>
            <a:pPr lvl="0"/>
            <a:r>
              <a:rPr lang="en-001" b="1" dirty="0"/>
              <a:t>MAE</a:t>
            </a:r>
            <a:r>
              <a:rPr lang="en-001" dirty="0"/>
              <a:t> = average error. XGBoost is off by </a:t>
            </a:r>
            <a:r>
              <a:rPr lang="en-001" b="1" dirty="0"/>
              <a:t>~€4.96M</a:t>
            </a:r>
            <a:r>
              <a:rPr lang="en-001" dirty="0"/>
              <a:t> on average</a:t>
            </a:r>
            <a:r>
              <a:rPr lang="en-US" dirty="0"/>
              <a:t> </a:t>
            </a:r>
            <a:r>
              <a:rPr lang="en-001" dirty="0"/>
              <a:t>compared to the ACTUAL value</a:t>
            </a:r>
          </a:p>
          <a:p>
            <a:pPr lvl="0"/>
            <a:r>
              <a:rPr lang="en-001" b="1" dirty="0"/>
              <a:t>RMSE</a:t>
            </a:r>
            <a:r>
              <a:rPr lang="en-001" dirty="0"/>
              <a:t> = error that punishes big misses more. XGBoost is lowest here too.</a:t>
            </a:r>
          </a:p>
          <a:p>
            <a:pPr lvl="0"/>
            <a:endParaRPr lang="en-US" dirty="0"/>
          </a:p>
          <a:p>
            <a:pPr lvl="0"/>
            <a:endParaRPr lang="en-US" dirty="0"/>
          </a:p>
          <a:p>
            <a:pPr lvl="0"/>
            <a:endParaRPr lang="en-001" dirty="0"/>
          </a:p>
          <a:p>
            <a:pPr rtl="0"/>
            <a:r>
              <a:rPr lang="en-001" dirty="0"/>
              <a:t>This chart shows the top 10 features the XGBoost model relied on most when predicting value</a:t>
            </a:r>
            <a:endParaRPr lang="en-US" dirty="0"/>
          </a:p>
          <a:p>
            <a:pPr rtl="0"/>
            <a:r>
              <a:rPr lang="en-001" dirty="0"/>
              <a:t>The biggest driver is </a:t>
            </a:r>
            <a:r>
              <a:rPr lang="en-001" b="1" dirty="0"/>
              <a:t>Team Goals On Pitch</a:t>
            </a:r>
            <a:r>
              <a:rPr lang="en-001" dirty="0"/>
              <a:t> — how many goals a player's team scores while he's on the field</a:t>
            </a:r>
            <a:endParaRPr lang="en-US" dirty="0"/>
          </a:p>
          <a:p>
            <a:pPr rtl="0"/>
            <a:endParaRPr lang="en-US" dirty="0"/>
          </a:p>
          <a:p>
            <a:pPr rtl="0"/>
            <a:r>
              <a:rPr lang="en-001" dirty="0"/>
              <a:t>Two things stand out. First, these are all </a:t>
            </a:r>
            <a:r>
              <a:rPr lang="en-001" b="1" dirty="0"/>
              <a:t>football-sensible</a:t>
            </a:r>
            <a:r>
              <a:rPr lang="en-001" dirty="0"/>
              <a:t> factors — team success, contracts, league, output, age — which tells me the model learned </a:t>
            </a:r>
            <a:r>
              <a:rPr lang="en-001" b="1" dirty="0"/>
              <a:t>real patterns, </a:t>
            </a:r>
            <a:r>
              <a:rPr lang="en-001" dirty="0"/>
              <a:t>Second, two of my </a:t>
            </a:r>
            <a:r>
              <a:rPr lang="en-001" b="1" dirty="0"/>
              <a:t>engineered features</a:t>
            </a:r>
            <a:r>
              <a:rPr lang="en-001" dirty="0"/>
              <a:t> — Years-Left and Age-squared — show up right here in the top 10, which confirms the feature engineering was worthwhile.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001" dirty="0"/>
              <a:t>"After building the prediction model, I used it to identify </a:t>
            </a:r>
            <a:r>
              <a:rPr lang="en-001" b="1" dirty="0"/>
              <a:t>undervalued players</a:t>
            </a:r>
            <a:r>
              <a:rPr lang="en-001" dirty="0"/>
              <a:t>.</a:t>
            </a:r>
            <a:endParaRPr lang="en-US" b="1" dirty="0"/>
          </a:p>
          <a:p>
            <a:pPr rtl="0"/>
            <a:endParaRPr lang="en-US" b="1" dirty="0"/>
          </a:p>
          <a:p>
            <a:pPr rtl="0"/>
            <a:endParaRPr lang="en-US" b="1" dirty="0"/>
          </a:p>
          <a:p>
            <a:r>
              <a:rPr lang="en-001" dirty="0"/>
              <a:t>For every player, the model predicts what their market value should be based on their performance.</a:t>
            </a:r>
            <a:endParaRPr lang="en-US" dirty="0"/>
          </a:p>
          <a:p>
            <a:endParaRPr lang="en-001" dirty="0"/>
          </a:p>
          <a:p>
            <a:r>
              <a:rPr lang="en-001" dirty="0"/>
              <a:t>I then compare the </a:t>
            </a:r>
            <a:r>
              <a:rPr lang="en-001" b="1" dirty="0"/>
              <a:t>predicted market value</a:t>
            </a:r>
            <a:r>
              <a:rPr lang="en-001" dirty="0"/>
              <a:t> with the </a:t>
            </a:r>
            <a:r>
              <a:rPr lang="en-001" b="1" dirty="0"/>
              <a:t>actual market value</a:t>
            </a:r>
            <a:r>
              <a:rPr lang="en-001" dirty="0"/>
              <a:t>.</a:t>
            </a:r>
            <a:endParaRPr lang="en-US" dirty="0"/>
          </a:p>
          <a:p>
            <a:endParaRPr lang="en-001" dirty="0"/>
          </a:p>
          <a:p>
            <a:r>
              <a:rPr lang="en-001" dirty="0"/>
              <a:t>If the predicted value is significantly higher than the listed value, it suggests the player may be </a:t>
            </a:r>
            <a:r>
              <a:rPr lang="en-001" b="1" dirty="0"/>
              <a:t>undervalued</a:t>
            </a:r>
            <a:r>
              <a:rPr lang="en-001" dirty="0"/>
              <a:t> and could represent a good transfer opportunity.</a:t>
            </a:r>
          </a:p>
          <a:p>
            <a:pPr rtl="0"/>
            <a:endParaRPr lang="en-US" b="1" dirty="0"/>
          </a:p>
          <a:p>
            <a:pPr rtl="0"/>
            <a:endParaRPr lang="en-US" b="1" dirty="0"/>
          </a:p>
          <a:p>
            <a:r>
              <a:rPr lang="en-001" dirty="0"/>
              <a:t>To improve reliability, I only included players who had played the equivalent of at least </a:t>
            </a:r>
            <a:r>
              <a:rPr lang="en-001" b="1" dirty="0"/>
              <a:t>five full matches</a:t>
            </a:r>
            <a:r>
              <a:rPr lang="en-001" dirty="0"/>
              <a:t>, reducing noise from very small sample sizes.</a:t>
            </a:r>
            <a:endParaRPr lang="en-US" dirty="0"/>
          </a:p>
          <a:p>
            <a:endParaRPr lang="en-001" dirty="0"/>
          </a:p>
          <a:p>
            <a:r>
              <a:rPr lang="en-001" dirty="0"/>
              <a:t>The table on the right shows some of the players with the largest positive value gaps. For example, the model estimated </a:t>
            </a:r>
            <a:r>
              <a:rPr lang="en-001" b="1" dirty="0"/>
              <a:t>Dani Olmo</a:t>
            </a:r>
            <a:r>
              <a:rPr lang="en-001" dirty="0"/>
              <a:t> to be worth about </a:t>
            </a:r>
            <a:r>
              <a:rPr lang="en-001" b="1" dirty="0"/>
              <a:t>€99.5 million</a:t>
            </a:r>
            <a:r>
              <a:rPr lang="en-001" dirty="0"/>
              <a:t>, while his market value was </a:t>
            </a:r>
            <a:r>
              <a:rPr lang="en-001" b="1" dirty="0"/>
              <a:t>€60 million</a:t>
            </a:r>
            <a:r>
              <a:rPr lang="en-001" dirty="0"/>
              <a:t>, creating a positive gap of nearly </a:t>
            </a:r>
            <a:r>
              <a:rPr lang="en-001" b="1" dirty="0"/>
              <a:t>€40 million</a:t>
            </a:r>
            <a:r>
              <a:rPr lang="en-001" dirty="0"/>
              <a:t>.</a:t>
            </a:r>
            <a:endParaRPr lang="en-US" dirty="0"/>
          </a:p>
          <a:p>
            <a:endParaRPr lang="en-001" dirty="0"/>
          </a:p>
          <a:p>
            <a:r>
              <a:rPr lang="en-001" dirty="0"/>
              <a:t>These are the types of players that the system flags as potential bargains for club</a:t>
            </a:r>
          </a:p>
          <a:p>
            <a:pPr rtl="0"/>
            <a:endParaRPr lang="en-US" b="1" dirty="0"/>
          </a:p>
          <a:p>
            <a:pPr rtl="0"/>
            <a:endParaRPr lang="en-US" b="1" dirty="0"/>
          </a:p>
          <a:p>
            <a:pPr rtl="0"/>
            <a:endParaRPr lang="en-US" b="1" dirty="0"/>
          </a:p>
          <a:p>
            <a:pPr rtl="0"/>
            <a:endParaRPr lang="en-US" b="1" dirty="0"/>
          </a:p>
          <a:p>
            <a:pPr rtl="0"/>
            <a:r>
              <a:rPr lang="en-001" b="1" dirty="0"/>
              <a:t>Dani Olmo</a:t>
            </a:r>
            <a:r>
              <a:rPr lang="en-001" dirty="0"/>
              <a:t> → the player's name.</a:t>
            </a:r>
          </a:p>
          <a:p>
            <a:pPr rtl="0"/>
            <a:r>
              <a:rPr lang="en-001" b="1" dirty="0"/>
              <a:t>€60M</a:t>
            </a:r>
            <a:r>
              <a:rPr lang="en-001" dirty="0"/>
              <a:t> → his </a:t>
            </a:r>
            <a:r>
              <a:rPr lang="en-001" b="1" dirty="0"/>
              <a:t>listed (actual) market value</a:t>
            </a:r>
            <a:r>
              <a:rPr lang="en-001" dirty="0"/>
              <a:t> on Transfermarkt — what he's currently valued at.</a:t>
            </a:r>
          </a:p>
          <a:p>
            <a:pPr rtl="0"/>
            <a:r>
              <a:rPr lang="en-001" b="1" dirty="0"/>
              <a:t>→ €99.5M</a:t>
            </a:r>
            <a:r>
              <a:rPr lang="en-001" dirty="0"/>
              <a:t> → the value your </a:t>
            </a:r>
            <a:r>
              <a:rPr lang="en-001" b="1" dirty="0"/>
              <a:t>model predicted</a:t>
            </a:r>
            <a:r>
              <a:rPr lang="en-001" dirty="0"/>
              <a:t> for him — what the model thinks he's </a:t>
            </a:r>
            <a:r>
              <a:rPr lang="en-001" i="1" dirty="0"/>
              <a:t>really</a:t>
            </a:r>
            <a:r>
              <a:rPr lang="en-001" dirty="0"/>
              <a:t> worth based on his performance, age, league, and contract.</a:t>
            </a:r>
          </a:p>
          <a:p>
            <a:pPr rtl="0"/>
            <a:r>
              <a:rPr lang="en-001" b="1" dirty="0"/>
              <a:t>+€39.5M</a:t>
            </a:r>
            <a:r>
              <a:rPr lang="en-001" dirty="0"/>
              <a:t> → the </a:t>
            </a:r>
            <a:r>
              <a:rPr lang="en-001" b="1" dirty="0"/>
              <a:t>gap</a:t>
            </a:r>
            <a:r>
              <a:rPr lang="en-001" dirty="0"/>
              <a:t> between the two (€99.5M − €60M = €39.5M). This is how much </a:t>
            </a:r>
            <a:r>
              <a:rPr lang="en-001" i="1" dirty="0"/>
              <a:t>more</a:t>
            </a:r>
            <a:r>
              <a:rPr lang="en-001" dirty="0"/>
              <a:t> the model thinks he's worth than his listed price.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001" dirty="0"/>
              <a:t>I ranked players by </a:t>
            </a:r>
            <a:r>
              <a:rPr lang="en-001" b="1" dirty="0"/>
              <a:t>Euro gap</a:t>
            </a:r>
            <a:r>
              <a:rPr lang="en-001" dirty="0"/>
              <a:t> instead of </a:t>
            </a:r>
            <a:r>
              <a:rPr lang="en-001" b="1" dirty="0"/>
              <a:t>ratio</a:t>
            </a:r>
            <a:r>
              <a:rPr lang="en-001" dirty="0"/>
              <a:t> because it's more reliable.</a:t>
            </a:r>
            <a:endParaRPr lang="en-US" dirty="0"/>
          </a:p>
          <a:p>
            <a:endParaRPr lang="en-001" dirty="0"/>
          </a:p>
          <a:p>
            <a:r>
              <a:rPr lang="en-001" dirty="0"/>
              <a:t>The </a:t>
            </a:r>
            <a:r>
              <a:rPr lang="en-001" b="1" dirty="0"/>
              <a:t>Euro gap</a:t>
            </a:r>
            <a:r>
              <a:rPr lang="en-001" dirty="0"/>
              <a:t> measures the actual difference between the predicted and listed market value, while the </a:t>
            </a:r>
            <a:r>
              <a:rPr lang="en-001" b="1" dirty="0"/>
              <a:t>ratio</a:t>
            </a:r>
            <a:r>
              <a:rPr lang="en-001" dirty="0"/>
              <a:t> can be misleading when a player's listed value is very small.</a:t>
            </a:r>
            <a:endParaRPr lang="en-US" dirty="0"/>
          </a:p>
          <a:p>
            <a:endParaRPr lang="en-001" dirty="0"/>
          </a:p>
          <a:p>
            <a:r>
              <a:rPr lang="en-001" dirty="0"/>
              <a:t>As shown with </a:t>
            </a:r>
            <a:r>
              <a:rPr lang="en-001" b="1" dirty="0"/>
              <a:t>Nicolás Paz</a:t>
            </a:r>
            <a:r>
              <a:rPr lang="en-001" dirty="0"/>
              <a:t>, the ratio suggests a </a:t>
            </a:r>
            <a:r>
              <a:rPr lang="en-001" b="1" dirty="0"/>
              <a:t>151× bargain</a:t>
            </a:r>
            <a:r>
              <a:rPr lang="en-001" dirty="0"/>
              <a:t>, which isn't realistic. The </a:t>
            </a:r>
            <a:r>
              <a:rPr lang="en-001" b="1" dirty="0"/>
              <a:t>€60.1 million Euro gap</a:t>
            </a:r>
            <a:r>
              <a:rPr lang="en-001" dirty="0"/>
              <a:t> provides a much more meaningful measure of undervaluation.</a:t>
            </a:r>
            <a:endParaRPr lang="en-US" dirty="0"/>
          </a:p>
          <a:p>
            <a:endParaRPr lang="en-001" dirty="0"/>
          </a:p>
          <a:p>
            <a:r>
              <a:rPr lang="en-001" b="1" dirty="0"/>
              <a:t>That's why I used the Euro gap to rank potential bargains.</a:t>
            </a:r>
            <a:endParaRPr lang="en-001"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001" dirty="0"/>
              <a:t>"To validate the model, I compared its recommendations with </a:t>
            </a:r>
            <a:r>
              <a:rPr lang="en-001" b="1" dirty="0"/>
              <a:t>real completed transfers</a:t>
            </a:r>
            <a:r>
              <a:rPr lang="en-001" dirty="0"/>
              <a:t>.</a:t>
            </a:r>
            <a:endParaRPr lang="en-US" dirty="0"/>
          </a:p>
          <a:p>
            <a:endParaRPr lang="en-001" dirty="0"/>
          </a:p>
          <a:p>
            <a:r>
              <a:rPr lang="en-001" dirty="0"/>
              <a:t>Across all transfers, </a:t>
            </a:r>
            <a:r>
              <a:rPr lang="en-001" b="1" dirty="0"/>
              <a:t>42.6%</a:t>
            </a:r>
            <a:r>
              <a:rPr lang="en-001" dirty="0"/>
              <a:t> were sold above their market value.</a:t>
            </a:r>
            <a:endParaRPr lang="en-US" dirty="0"/>
          </a:p>
          <a:p>
            <a:endParaRPr lang="en-001" dirty="0"/>
          </a:p>
          <a:p>
            <a:r>
              <a:rPr lang="en-001" dirty="0"/>
              <a:t>However, among the </a:t>
            </a:r>
            <a:r>
              <a:rPr lang="en-001" b="1" dirty="0"/>
              <a:t>top 100 players flagged by my model</a:t>
            </a:r>
            <a:r>
              <a:rPr lang="en-001" dirty="0"/>
              <a:t>, </a:t>
            </a:r>
            <a:r>
              <a:rPr lang="en-001" b="1" dirty="0"/>
              <a:t>57.5%</a:t>
            </a:r>
            <a:r>
              <a:rPr lang="en-001" dirty="0"/>
              <a:t> were sold above their market value.</a:t>
            </a:r>
            <a:endParaRPr lang="en-US" dirty="0"/>
          </a:p>
          <a:p>
            <a:endParaRPr lang="en-001" dirty="0"/>
          </a:p>
          <a:p>
            <a:r>
              <a:rPr lang="en-001" dirty="0"/>
              <a:t>This shows that the model was better at identifying players who later commanded higher transfer fees, suggesting it can help clubs spot undervalued talent before the market catches 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001" b="1" dirty="0" err="1"/>
              <a:t>StandardScaler</a:t>
            </a:r>
            <a:r>
              <a:rPr lang="en-001" dirty="0"/>
              <a:t> — Rescales every stat to the same range so big-numbered stats (like passes) don't dominate small ones (like goals). Makes the comparison fair.</a:t>
            </a:r>
          </a:p>
          <a:p>
            <a:pPr rtl="0"/>
            <a:r>
              <a:rPr lang="en-001" b="1" dirty="0"/>
              <a:t>Cosine similarity</a:t>
            </a:r>
            <a:r>
              <a:rPr lang="en-001" dirty="0"/>
              <a:t> — Measures how alike two players' fingerprints are; a score near 100% means they play almost the same way.</a:t>
            </a:r>
            <a:br>
              <a:rPr lang="en-US" dirty="0"/>
            </a:br>
            <a:r>
              <a:rPr lang="en-US" dirty="0"/>
              <a:t>PCA - </a:t>
            </a:r>
            <a:endParaRPr lang="en-001"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solidFill>
                  <a:srgbClr val="5F6B72"/>
                </a:solidFill>
                <a:latin typeface="Calibri" pitchFamily="34" charset="0"/>
                <a:ea typeface="Calibri" pitchFamily="34" charset="-122"/>
                <a:cs typeface="Calibri" pitchFamily="34" charset="-120"/>
              </a:rPr>
              <a:t>The tool doesn't just give a score — it shows which stats make two players alike, so the match is explainable.</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001" dirty="0"/>
              <a:t>SHAP is a tool that </a:t>
            </a:r>
            <a:r>
              <a:rPr lang="en-001" b="1" dirty="0"/>
              <a:t>explains why a machine-learning model made a specific prediction</a:t>
            </a:r>
            <a:endParaRPr lang="en-US" b="1" dirty="0"/>
          </a:p>
          <a:p>
            <a:endParaRPr lang="en-US" b="1" dirty="0"/>
          </a:p>
          <a:p>
            <a:endParaRPr lang="en-US" dirty="0"/>
          </a:p>
          <a:p>
            <a:r>
              <a:rPr lang="en-US" dirty="0"/>
              <a:t>Waterfall diagram</a:t>
            </a:r>
          </a:p>
          <a:p>
            <a:endParaRPr lang="en-US" dirty="0"/>
          </a:p>
          <a:p>
            <a:r>
              <a:rPr lang="en-001" dirty="0"/>
              <a:t>On the left, we can see the </a:t>
            </a:r>
            <a:r>
              <a:rPr lang="en-001" b="1" dirty="0"/>
              <a:t>most important features overall</a:t>
            </a:r>
            <a:r>
              <a:rPr lang="en-001" dirty="0"/>
              <a:t>, such as age, team performance, league, and contract length.</a:t>
            </a:r>
            <a:endParaRPr lang="en-US" dirty="0"/>
          </a:p>
          <a:p>
            <a:endParaRPr lang="en-001" dirty="0"/>
          </a:p>
          <a:p>
            <a:r>
              <a:rPr lang="en-001" dirty="0"/>
              <a:t>On the right, SHAP explains an individual player's prediction. In this example, it shows why the model believes </a:t>
            </a:r>
            <a:r>
              <a:rPr lang="en-001" b="1" dirty="0"/>
              <a:t>Amad Diallo</a:t>
            </a:r>
            <a:r>
              <a:rPr lang="en-001" dirty="0"/>
              <a:t> is worth </a:t>
            </a:r>
            <a:r>
              <a:rPr lang="en-001" b="1" dirty="0"/>
              <a:t>€59.4 million</a:t>
            </a:r>
            <a:r>
              <a:rPr lang="en-001" dirty="0"/>
              <a:t> instead of his listed </a:t>
            </a:r>
            <a:r>
              <a:rPr lang="en-001" b="1" dirty="0"/>
              <a:t>€45 million</a:t>
            </a:r>
            <a:r>
              <a:rPr lang="en-001" dirty="0"/>
              <a:t>, making him </a:t>
            </a:r>
            <a:r>
              <a:rPr lang="en-001" b="1" dirty="0"/>
              <a:t>undervalued by €14.4 million</a:t>
            </a:r>
            <a:r>
              <a:rPr lang="en-001" dirty="0"/>
              <a:t>.</a:t>
            </a:r>
            <a:endParaRPr lang="en-US" dirty="0"/>
          </a:p>
          <a:p>
            <a:endParaRPr lang="en-US" dirty="0"/>
          </a:p>
          <a:p>
            <a:r>
              <a:rPr lang="en-001" dirty="0"/>
              <a:t>The numbers on the right are SHAP values. They show how much each feature influenced this player's predicted market value.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Keep this brief and forward-looking. It shows you understand the path to a production-grade tool. Multiple seasons and advanced metrics are the natural next steps and directly address the limitations you just listed.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Recap the four things the system does, land the tagline, and invite questions. Remind them of the validation number if you want a strong closing beat. 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10058400" y="-1097280"/>
            <a:ext cx="3200400" cy="3200400"/>
          </a:xfrm>
          <a:prstGeom prst="ellipse">
            <a:avLst/>
          </a:prstGeom>
          <a:solidFill>
            <a:srgbClr val="2D6A4F"/>
          </a:solidFill>
          <a:ln/>
        </p:spPr>
        <p:txBody>
          <a:bodyPr/>
          <a:lstStyle/>
          <a:p>
            <a:endParaRPr lang="en-001"/>
          </a:p>
        </p:txBody>
      </p:sp>
      <p:sp>
        <p:nvSpPr>
          <p:cNvPr id="3" name="Shape 1"/>
          <p:cNvSpPr/>
          <p:nvPr/>
        </p:nvSpPr>
        <p:spPr>
          <a:xfrm>
            <a:off x="11064240" y="5120640"/>
            <a:ext cx="2560320" cy="2560320"/>
          </a:xfrm>
          <a:prstGeom prst="ellipse">
            <a:avLst/>
          </a:prstGeom>
          <a:solidFill>
            <a:srgbClr val="2D6A4F"/>
          </a:solidFill>
          <a:ln/>
        </p:spPr>
        <p:txBody>
          <a:bodyPr/>
          <a:lstStyle/>
          <a:p>
            <a:endParaRPr lang="en-001"/>
          </a:p>
        </p:txBody>
      </p:sp>
      <p:sp>
        <p:nvSpPr>
          <p:cNvPr id="4" name="Text 2"/>
          <p:cNvSpPr/>
          <p:nvPr/>
        </p:nvSpPr>
        <p:spPr>
          <a:xfrm>
            <a:off x="731520" y="1920240"/>
            <a:ext cx="9601200" cy="137160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Soccer Recruitment System</a:t>
            </a:r>
            <a:endParaRPr lang="en-US" sz="4000" dirty="0"/>
          </a:p>
        </p:txBody>
      </p:sp>
      <p:sp>
        <p:nvSpPr>
          <p:cNvPr id="5" name="Text 3"/>
          <p:cNvSpPr/>
          <p:nvPr/>
        </p:nvSpPr>
        <p:spPr>
          <a:xfrm>
            <a:off x="731520" y="3200400"/>
            <a:ext cx="9601200" cy="640080"/>
          </a:xfrm>
          <a:prstGeom prst="rect">
            <a:avLst/>
          </a:prstGeom>
          <a:noFill/>
          <a:ln/>
        </p:spPr>
        <p:txBody>
          <a:bodyPr wrap="square" rtlCol="0" anchor="ctr"/>
          <a:lstStyle/>
          <a:p>
            <a:pPr marL="0" indent="0" algn="l">
              <a:buNone/>
            </a:pPr>
            <a:r>
              <a:rPr lang="en-US" sz="2000" dirty="0">
                <a:solidFill>
                  <a:srgbClr val="52B788"/>
                </a:solidFill>
                <a:latin typeface="Calibri" pitchFamily="34" charset="0"/>
                <a:ea typeface="Calibri" pitchFamily="34" charset="-122"/>
                <a:cs typeface="Calibri" pitchFamily="34" charset="-120"/>
              </a:rPr>
              <a:t>Identifying Undervalued Talent Through Machine Learning</a:t>
            </a:r>
            <a:endParaRPr lang="en-US" sz="2000" dirty="0"/>
          </a:p>
        </p:txBody>
      </p:sp>
      <p:sp>
        <p:nvSpPr>
          <p:cNvPr id="6" name="Text 4"/>
          <p:cNvSpPr/>
          <p:nvPr/>
        </p:nvSpPr>
        <p:spPr>
          <a:xfrm>
            <a:off x="731520" y="4657981"/>
            <a:ext cx="8229600" cy="1097280"/>
          </a:xfrm>
          <a:prstGeom prst="rect">
            <a:avLst/>
          </a:prstGeom>
          <a:noFill/>
          <a:ln/>
        </p:spPr>
        <p:txBody>
          <a:bodyPr wrap="square" rtlCol="0" anchor="ctr"/>
          <a:lstStyle/>
          <a:p>
            <a:pPr marL="0" indent="0" algn="l">
              <a:lnSpc>
                <a:spcPct val="120000"/>
              </a:lnSpc>
              <a:buNone/>
            </a:pPr>
            <a:r>
              <a:rPr lang="en-US" sz="1600" b="1" dirty="0">
                <a:solidFill>
                  <a:srgbClr val="FFFFFF"/>
                </a:solidFill>
                <a:latin typeface="Calibri" pitchFamily="34" charset="0"/>
                <a:ea typeface="Calibri" pitchFamily="34" charset="-122"/>
                <a:cs typeface="Calibri" pitchFamily="34" charset="-120"/>
              </a:rPr>
              <a:t>Md Rafiul Islam Rafi</a:t>
            </a:r>
            <a:endParaRPr lang="en-US" sz="1600" dirty="0"/>
          </a:p>
          <a:p>
            <a:pPr marL="0" indent="0" algn="l">
              <a:lnSpc>
                <a:spcPct val="120000"/>
              </a:lnSpc>
              <a:buNone/>
            </a:pPr>
            <a:r>
              <a:rPr lang="en-US" sz="1400" dirty="0">
                <a:solidFill>
                  <a:srgbClr val="D8F3DC"/>
                </a:solidFill>
                <a:latin typeface="Calibri" pitchFamily="34" charset="0"/>
                <a:ea typeface="Calibri" pitchFamily="34" charset="-122"/>
                <a:cs typeface="Calibri" pitchFamily="34" charset="-120"/>
              </a:rPr>
              <a:t>CISC 6080 - Capstone Project  |  Dr. Gary Weiss</a:t>
            </a:r>
            <a:endParaRPr lang="en-US" sz="1600" dirty="0"/>
          </a:p>
          <a:p>
            <a:pPr marL="0" indent="0" algn="l">
              <a:lnSpc>
                <a:spcPct val="120000"/>
              </a:lnSpc>
              <a:buNone/>
            </a:pPr>
            <a:r>
              <a:rPr lang="en-US" sz="1400" dirty="0">
                <a:solidFill>
                  <a:srgbClr val="D8F3DC"/>
                </a:solidFill>
                <a:latin typeface="Calibri" pitchFamily="34" charset="0"/>
                <a:ea typeface="Calibri" pitchFamily="34" charset="-122"/>
                <a:cs typeface="Calibri" pitchFamily="34" charset="-120"/>
              </a:rPr>
              <a:t>Fordham University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MY INSPIRATION</a:t>
            </a:r>
            <a:endParaRPr lang="en-US" sz="1200" dirty="0"/>
          </a:p>
        </p:txBody>
      </p:sp>
      <p:sp>
        <p:nvSpPr>
          <p:cNvPr id="3" name="Text 1"/>
          <p:cNvSpPr/>
          <p:nvPr/>
        </p:nvSpPr>
        <p:spPr>
          <a:xfrm>
            <a:off x="640080" y="65836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A Lifelong Soccer Fan and A Liverpool Supporter</a:t>
            </a:r>
            <a:endParaRPr lang="en-US" sz="3200" dirty="0"/>
          </a:p>
        </p:txBody>
      </p:sp>
      <p:sp>
        <p:nvSpPr>
          <p:cNvPr id="4" name="Text 2"/>
          <p:cNvSpPr/>
          <p:nvPr/>
        </p:nvSpPr>
        <p:spPr>
          <a:xfrm>
            <a:off x="640080" y="1554480"/>
            <a:ext cx="5120640" cy="1737360"/>
          </a:xfrm>
          <a:prstGeom prst="rect">
            <a:avLst/>
          </a:prstGeom>
          <a:noFill/>
          <a:ln/>
        </p:spPr>
        <p:txBody>
          <a:bodyPr wrap="square" rtlCol="0" anchor="t"/>
          <a:lstStyle/>
          <a:p>
            <a:pPr marL="0" indent="0">
              <a:lnSpc>
                <a:spcPct val="115000"/>
              </a:lnSpc>
              <a:buNone/>
            </a:pPr>
            <a:r>
              <a:rPr lang="en-US" sz="1600" dirty="0">
                <a:solidFill>
                  <a:srgbClr val="1B2A34"/>
                </a:solidFill>
                <a:latin typeface="Calibri" pitchFamily="34" charset="0"/>
                <a:ea typeface="Calibri" pitchFamily="34" charset="-122"/>
                <a:cs typeface="Calibri" pitchFamily="34" charset="-120"/>
              </a:rPr>
              <a:t>I have followed soccer for years and I'm a lifelong </a:t>
            </a:r>
            <a:r>
              <a:rPr lang="en-US" sz="1600" b="1" dirty="0">
                <a:solidFill>
                  <a:srgbClr val="2D6A4F"/>
                </a:solidFill>
                <a:latin typeface="Calibri" pitchFamily="34" charset="0"/>
                <a:ea typeface="Calibri" pitchFamily="34" charset="-122"/>
                <a:cs typeface="Calibri" pitchFamily="34" charset="-120"/>
              </a:rPr>
              <a:t>Liverpool</a:t>
            </a:r>
            <a:r>
              <a:rPr lang="en-US" sz="1600" dirty="0">
                <a:solidFill>
                  <a:srgbClr val="1B2A34"/>
                </a:solidFill>
                <a:latin typeface="Calibri" pitchFamily="34" charset="0"/>
                <a:ea typeface="Calibri" pitchFamily="34" charset="-122"/>
                <a:cs typeface="Calibri" pitchFamily="34" charset="-120"/>
              </a:rPr>
              <a:t> supporter. Over the past decade Liverpool has been one of the most successful clubs in the world and one of the most </a:t>
            </a:r>
            <a:r>
              <a:rPr lang="en-US" sz="1600" b="1" dirty="0">
                <a:solidFill>
                  <a:srgbClr val="2D6A4F"/>
                </a:solidFill>
                <a:latin typeface="Calibri" pitchFamily="34" charset="0"/>
                <a:ea typeface="Calibri" pitchFamily="34" charset="-122"/>
                <a:cs typeface="Calibri" pitchFamily="34" charset="-120"/>
              </a:rPr>
              <a:t>data-driven</a:t>
            </a:r>
            <a:r>
              <a:rPr lang="en-US" sz="1600" b="1" dirty="0">
                <a:solidFill>
                  <a:srgbClr val="1B2A34"/>
                </a:solidFill>
                <a:latin typeface="Calibri" pitchFamily="34" charset="0"/>
                <a:ea typeface="Calibri" pitchFamily="34" charset="-122"/>
                <a:cs typeface="Calibri" pitchFamily="34" charset="-120"/>
              </a:rPr>
              <a:t> </a:t>
            </a:r>
            <a:r>
              <a:rPr lang="en-001" sz="1600" dirty="0"/>
              <a:t>clubs in world football</a:t>
            </a:r>
            <a:endParaRPr lang="en-US" sz="1600" dirty="0"/>
          </a:p>
        </p:txBody>
      </p:sp>
      <p:sp>
        <p:nvSpPr>
          <p:cNvPr id="5" name="Shape 3"/>
          <p:cNvSpPr/>
          <p:nvPr/>
        </p:nvSpPr>
        <p:spPr>
          <a:xfrm>
            <a:off x="640080" y="3246120"/>
            <a:ext cx="5120640" cy="3098132"/>
          </a:xfrm>
          <a:prstGeom prst="roundRect">
            <a:avLst>
              <a:gd name="adj" fmla="val 4444"/>
            </a:avLst>
          </a:prstGeom>
          <a:solidFill>
            <a:srgbClr val="F3F7F4"/>
          </a:solidFill>
          <a:ln w="12700">
            <a:solidFill>
              <a:srgbClr val="DDE7E1"/>
            </a:solidFill>
            <a:prstDash val="solid"/>
          </a:ln>
        </p:spPr>
        <p:txBody>
          <a:bodyPr/>
          <a:lstStyle/>
          <a:p>
            <a:endParaRPr lang="en-001" dirty="0"/>
          </a:p>
        </p:txBody>
      </p:sp>
      <p:sp>
        <p:nvSpPr>
          <p:cNvPr id="6" name="Text 4"/>
          <p:cNvSpPr/>
          <p:nvPr/>
        </p:nvSpPr>
        <p:spPr>
          <a:xfrm>
            <a:off x="822960" y="3511113"/>
            <a:ext cx="475488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Analytics at the core</a:t>
            </a:r>
            <a:endParaRPr lang="en-US" sz="1500" dirty="0"/>
          </a:p>
        </p:txBody>
      </p:sp>
      <p:sp>
        <p:nvSpPr>
          <p:cNvPr id="7" name="Text 5"/>
          <p:cNvSpPr/>
          <p:nvPr/>
        </p:nvSpPr>
        <p:spPr>
          <a:xfrm>
            <a:off x="822960" y="3953726"/>
            <a:ext cx="4754880" cy="548640"/>
          </a:xfrm>
          <a:prstGeom prst="rect">
            <a:avLst/>
          </a:prstGeom>
          <a:noFill/>
          <a:ln/>
        </p:spPr>
        <p:txBody>
          <a:bodyPr wrap="square" rtlCol="0" anchor="t"/>
          <a:lstStyle/>
          <a:p>
            <a:pPr>
              <a:lnSpc>
                <a:spcPct val="105000"/>
              </a:lnSpc>
            </a:pPr>
            <a:r>
              <a:rPr lang="en-001" sz="1400" dirty="0"/>
              <a:t>Since Fenway Sports Group bought Liverpool in 2010, the club has relied on data to make smarter transfer decisions</a:t>
            </a:r>
            <a:r>
              <a:rPr lang="en-US" sz="1400" dirty="0"/>
              <a:t>. </a:t>
            </a:r>
            <a:endParaRPr lang="en-US" sz="1250" dirty="0"/>
          </a:p>
        </p:txBody>
      </p:sp>
      <p:sp>
        <p:nvSpPr>
          <p:cNvPr id="8" name="Text 6"/>
          <p:cNvSpPr/>
          <p:nvPr/>
        </p:nvSpPr>
        <p:spPr>
          <a:xfrm>
            <a:off x="640080" y="4892040"/>
            <a:ext cx="5120640" cy="1371600"/>
          </a:xfrm>
          <a:prstGeom prst="rect">
            <a:avLst/>
          </a:prstGeom>
          <a:noFill/>
          <a:ln/>
        </p:spPr>
        <p:txBody>
          <a:bodyPr wrap="square" rtlCol="0" anchor="t"/>
          <a:lstStyle/>
          <a:p>
            <a:pPr marL="0" indent="0">
              <a:lnSpc>
                <a:spcPct val="110000"/>
              </a:lnSpc>
              <a:buNone/>
            </a:pPr>
            <a:endParaRPr lang="en-US" sz="1500" dirty="0"/>
          </a:p>
        </p:txBody>
      </p:sp>
      <p:sp>
        <p:nvSpPr>
          <p:cNvPr id="18" name="TextBox 17">
            <a:extLst>
              <a:ext uri="{FF2B5EF4-FFF2-40B4-BE49-F238E27FC236}">
                <a16:creationId xmlns:a16="http://schemas.microsoft.com/office/drawing/2014/main" id="{BDF7C95E-F80C-AC86-84E4-11A239EA1002}"/>
              </a:ext>
            </a:extLst>
          </p:cNvPr>
          <p:cNvSpPr txBox="1"/>
          <p:nvPr/>
        </p:nvSpPr>
        <p:spPr>
          <a:xfrm>
            <a:off x="853440" y="4661332"/>
            <a:ext cx="4565985" cy="1243867"/>
          </a:xfrm>
          <a:prstGeom prst="rect">
            <a:avLst/>
          </a:prstGeom>
          <a:noFill/>
        </p:spPr>
        <p:txBody>
          <a:bodyPr wrap="square" rtlCol="0">
            <a:spAutoFit/>
          </a:bodyPr>
          <a:lstStyle/>
          <a:p>
            <a:r>
              <a:rPr lang="en-001" sz="1400" dirty="0"/>
              <a:t>How </a:t>
            </a:r>
            <a:r>
              <a:rPr lang="en-US" sz="1400" dirty="0"/>
              <a:t>they use d</a:t>
            </a:r>
            <a:r>
              <a:rPr lang="en-001" sz="1400" dirty="0"/>
              <a:t>ata</a:t>
            </a:r>
            <a:r>
              <a:rPr lang="en-US" sz="1400" dirty="0"/>
              <a:t> for</a:t>
            </a:r>
            <a:r>
              <a:rPr lang="en-001" sz="1400" dirty="0"/>
              <a:t> </a:t>
            </a:r>
            <a:r>
              <a:rPr lang="en-US" sz="1400" dirty="0"/>
              <a:t>p</a:t>
            </a:r>
            <a:r>
              <a:rPr lang="en-001" sz="1400" dirty="0"/>
              <a:t>layer </a:t>
            </a:r>
            <a:r>
              <a:rPr lang="en-US" sz="1400" dirty="0"/>
              <a:t>p</a:t>
            </a:r>
            <a:r>
              <a:rPr lang="en-001" sz="1400" dirty="0"/>
              <a:t>purchases</a:t>
            </a:r>
            <a:r>
              <a:rPr lang="en-US" sz="1400" dirty="0"/>
              <a:t>:</a:t>
            </a:r>
          </a:p>
          <a:p>
            <a:pPr marL="285750" indent="-285750">
              <a:lnSpc>
                <a:spcPct val="150000"/>
              </a:lnSpc>
              <a:buFont typeface="Arial" panose="020B0604020202020204" pitchFamily="34" charset="0"/>
              <a:buChar char="•"/>
            </a:pPr>
            <a:r>
              <a:rPr lang="en-US" sz="1400" dirty="0">
                <a:solidFill>
                  <a:srgbClr val="2D6A4F"/>
                </a:solidFill>
                <a:latin typeface="Calibri" pitchFamily="34" charset="0"/>
                <a:ea typeface="Calibri" pitchFamily="34" charset="-122"/>
                <a:cs typeface="Calibri" pitchFamily="34" charset="-120"/>
              </a:rPr>
              <a:t>Identify undervalued talent</a:t>
            </a:r>
            <a:endParaRPr lang="en-US" sz="1400" dirty="0"/>
          </a:p>
          <a:p>
            <a:pPr marL="285750" indent="-285750">
              <a:lnSpc>
                <a:spcPct val="150000"/>
              </a:lnSpc>
              <a:buFont typeface="Arial" panose="020B0604020202020204" pitchFamily="34" charset="0"/>
              <a:buChar char="•"/>
            </a:pPr>
            <a:r>
              <a:rPr lang="en-US" sz="1400" dirty="0">
                <a:solidFill>
                  <a:srgbClr val="2D6A4F"/>
                </a:solidFill>
                <a:latin typeface="Calibri" pitchFamily="34" charset="0"/>
                <a:ea typeface="Calibri" pitchFamily="34" charset="-122"/>
                <a:cs typeface="Calibri" pitchFamily="34" charset="-120"/>
              </a:rPr>
              <a:t>System compatibility</a:t>
            </a:r>
            <a:endParaRPr lang="en-US" sz="1400" dirty="0"/>
          </a:p>
          <a:p>
            <a:pPr marL="285750" indent="-285750">
              <a:lnSpc>
                <a:spcPct val="150000"/>
              </a:lnSpc>
              <a:buFont typeface="Arial" panose="020B0604020202020204" pitchFamily="34" charset="0"/>
              <a:buChar char="•"/>
            </a:pPr>
            <a:r>
              <a:rPr lang="en-US" sz="1400" dirty="0">
                <a:solidFill>
                  <a:srgbClr val="2D6A4F"/>
                </a:solidFill>
                <a:latin typeface="Calibri" pitchFamily="34" charset="0"/>
                <a:ea typeface="Calibri" pitchFamily="34" charset="-122"/>
                <a:cs typeface="Calibri" pitchFamily="34" charset="-120"/>
              </a:rPr>
              <a:t>The final filter</a:t>
            </a:r>
            <a:endParaRPr lang="en-US" sz="1400" dirty="0"/>
          </a:p>
        </p:txBody>
      </p:sp>
      <p:sp>
        <p:nvSpPr>
          <p:cNvPr id="20" name="Shape 5">
            <a:extLst>
              <a:ext uri="{FF2B5EF4-FFF2-40B4-BE49-F238E27FC236}">
                <a16:creationId xmlns:a16="http://schemas.microsoft.com/office/drawing/2014/main" id="{CB1B736B-0A99-2E77-8E19-93ED745814D0}"/>
              </a:ext>
            </a:extLst>
          </p:cNvPr>
          <p:cNvSpPr/>
          <p:nvPr/>
        </p:nvSpPr>
        <p:spPr>
          <a:xfrm>
            <a:off x="6858000" y="1645920"/>
            <a:ext cx="2331720" cy="1371600"/>
          </a:xfrm>
          <a:prstGeom prst="roundRect">
            <a:avLst>
              <a:gd name="adj" fmla="val 5333"/>
            </a:avLst>
          </a:prstGeom>
          <a:solidFill>
            <a:srgbClr val="1B4332"/>
          </a:solidFill>
          <a:ln/>
        </p:spPr>
        <p:txBody>
          <a:bodyPr/>
          <a:lstStyle/>
          <a:p>
            <a:endParaRPr lang="en-001"/>
          </a:p>
        </p:txBody>
      </p:sp>
      <p:sp>
        <p:nvSpPr>
          <p:cNvPr id="22" name="Text 6">
            <a:extLst>
              <a:ext uri="{FF2B5EF4-FFF2-40B4-BE49-F238E27FC236}">
                <a16:creationId xmlns:a16="http://schemas.microsoft.com/office/drawing/2014/main" id="{26179AE3-634B-B95B-A465-8F00ACC9AD82}"/>
              </a:ext>
            </a:extLst>
          </p:cNvPr>
          <p:cNvSpPr/>
          <p:nvPr/>
        </p:nvSpPr>
        <p:spPr>
          <a:xfrm>
            <a:off x="6858000" y="1810512"/>
            <a:ext cx="2331720" cy="777240"/>
          </a:xfrm>
          <a:prstGeom prst="rect">
            <a:avLst/>
          </a:prstGeom>
          <a:noFill/>
          <a:ln/>
        </p:spPr>
        <p:txBody>
          <a:bodyPr wrap="square" rtlCol="0" anchor="ctr"/>
          <a:lstStyle/>
          <a:p>
            <a:pPr marL="0" indent="0" algn="ctr">
              <a:buNone/>
            </a:pPr>
            <a:r>
              <a:rPr lang="en-US" sz="2400" b="1" dirty="0">
                <a:solidFill>
                  <a:srgbClr val="52B788"/>
                </a:solidFill>
                <a:latin typeface="Cambria" pitchFamily="34" charset="0"/>
                <a:ea typeface="Cambria" pitchFamily="34" charset="-122"/>
              </a:rPr>
              <a:t>$13.08 Billons</a:t>
            </a:r>
            <a:endParaRPr lang="en-US" sz="2400" dirty="0"/>
          </a:p>
        </p:txBody>
      </p:sp>
      <p:sp>
        <p:nvSpPr>
          <p:cNvPr id="24" name="Text 7">
            <a:extLst>
              <a:ext uri="{FF2B5EF4-FFF2-40B4-BE49-F238E27FC236}">
                <a16:creationId xmlns:a16="http://schemas.microsoft.com/office/drawing/2014/main" id="{A0E4F34C-880B-4554-EE2E-989D387A7EB9}"/>
              </a:ext>
            </a:extLst>
          </p:cNvPr>
          <p:cNvSpPr/>
          <p:nvPr/>
        </p:nvSpPr>
        <p:spPr>
          <a:xfrm>
            <a:off x="6949440" y="2362521"/>
            <a:ext cx="2148840" cy="411480"/>
          </a:xfrm>
          <a:prstGeom prst="rect">
            <a:avLst/>
          </a:prstGeom>
          <a:noFill/>
          <a:ln/>
        </p:spPr>
        <p:txBody>
          <a:bodyPr wrap="square" rtlCol="0" anchor="ctr"/>
          <a:lstStyle/>
          <a:p>
            <a:pPr algn="ctr"/>
            <a:r>
              <a:rPr lang="en-001" sz="1000" dirty="0">
                <a:solidFill>
                  <a:schemeClr val="bg1"/>
                </a:solidFill>
              </a:rPr>
              <a:t>international transfer fees in </a:t>
            </a:r>
            <a:r>
              <a:rPr lang="en-001" sz="1000" b="1" dirty="0">
                <a:solidFill>
                  <a:schemeClr val="bg1"/>
                </a:solidFill>
              </a:rPr>
              <a:t>2025</a:t>
            </a:r>
            <a:endParaRPr lang="en-US" sz="1000" dirty="0">
              <a:solidFill>
                <a:schemeClr val="bg1"/>
              </a:solidFill>
            </a:endParaRPr>
          </a:p>
        </p:txBody>
      </p:sp>
      <p:sp>
        <p:nvSpPr>
          <p:cNvPr id="26" name="Shape 8">
            <a:extLst>
              <a:ext uri="{FF2B5EF4-FFF2-40B4-BE49-F238E27FC236}">
                <a16:creationId xmlns:a16="http://schemas.microsoft.com/office/drawing/2014/main" id="{F760BAB5-6867-006F-D002-6EE9C8FB140A}"/>
              </a:ext>
            </a:extLst>
          </p:cNvPr>
          <p:cNvSpPr/>
          <p:nvPr/>
        </p:nvSpPr>
        <p:spPr>
          <a:xfrm>
            <a:off x="9372600" y="1645920"/>
            <a:ext cx="2331720" cy="1371600"/>
          </a:xfrm>
          <a:prstGeom prst="roundRect">
            <a:avLst>
              <a:gd name="adj" fmla="val 5333"/>
            </a:avLst>
          </a:prstGeom>
          <a:solidFill>
            <a:srgbClr val="1B4332"/>
          </a:solidFill>
          <a:ln/>
        </p:spPr>
        <p:txBody>
          <a:bodyPr/>
          <a:lstStyle/>
          <a:p>
            <a:endParaRPr lang="en-001"/>
          </a:p>
        </p:txBody>
      </p:sp>
      <p:sp>
        <p:nvSpPr>
          <p:cNvPr id="28" name="Text 9">
            <a:extLst>
              <a:ext uri="{FF2B5EF4-FFF2-40B4-BE49-F238E27FC236}">
                <a16:creationId xmlns:a16="http://schemas.microsoft.com/office/drawing/2014/main" id="{3C2E97DC-656F-F583-6A06-688EE8FCF980}"/>
              </a:ext>
            </a:extLst>
          </p:cNvPr>
          <p:cNvSpPr/>
          <p:nvPr/>
        </p:nvSpPr>
        <p:spPr>
          <a:xfrm>
            <a:off x="9372600" y="1755648"/>
            <a:ext cx="2331720" cy="777240"/>
          </a:xfrm>
          <a:prstGeom prst="rect">
            <a:avLst/>
          </a:prstGeom>
          <a:noFill/>
          <a:ln/>
        </p:spPr>
        <p:txBody>
          <a:bodyPr wrap="square" rtlCol="0" anchor="ctr"/>
          <a:lstStyle/>
          <a:p>
            <a:pPr marL="0" indent="0" algn="ctr">
              <a:buNone/>
            </a:pPr>
            <a:r>
              <a:rPr lang="en-US" sz="3400" b="1" dirty="0">
                <a:solidFill>
                  <a:srgbClr val="52B788"/>
                </a:solidFill>
                <a:latin typeface="Cambria" pitchFamily="34" charset="0"/>
                <a:ea typeface="Cambria" pitchFamily="34" charset="-122"/>
              </a:rPr>
              <a:t>24,558</a:t>
            </a:r>
            <a:endParaRPr lang="en-US" sz="3400" dirty="0"/>
          </a:p>
        </p:txBody>
      </p:sp>
      <p:sp>
        <p:nvSpPr>
          <p:cNvPr id="30" name="Text 10">
            <a:extLst>
              <a:ext uri="{FF2B5EF4-FFF2-40B4-BE49-F238E27FC236}">
                <a16:creationId xmlns:a16="http://schemas.microsoft.com/office/drawing/2014/main" id="{D89769BE-439E-25C2-7FF3-2D191D8FCF70}"/>
              </a:ext>
            </a:extLst>
          </p:cNvPr>
          <p:cNvSpPr/>
          <p:nvPr/>
        </p:nvSpPr>
        <p:spPr>
          <a:xfrm>
            <a:off x="9464040" y="2514600"/>
            <a:ext cx="2148840" cy="411480"/>
          </a:xfrm>
          <a:prstGeom prst="rect">
            <a:avLst/>
          </a:prstGeom>
          <a:noFill/>
          <a:ln/>
        </p:spPr>
        <p:txBody>
          <a:bodyPr wrap="square" rtlCol="0" anchor="ctr"/>
          <a:lstStyle/>
          <a:p>
            <a:pPr algn="ctr"/>
            <a:r>
              <a:rPr lang="en-001" sz="1200" dirty="0">
                <a:solidFill>
                  <a:schemeClr val="bg1"/>
                </a:solidFill>
              </a:rPr>
              <a:t>International player transfers</a:t>
            </a:r>
            <a:r>
              <a:rPr lang="en-US" sz="1200" dirty="0">
                <a:solidFill>
                  <a:schemeClr val="bg1"/>
                </a:solidFill>
                <a:latin typeface="Calibri" pitchFamily="34" charset="0"/>
                <a:ea typeface="Calibri" pitchFamily="34" charset="-122"/>
                <a:cs typeface="Calibri" pitchFamily="34" charset="-120"/>
              </a:rPr>
              <a:t> 2025</a:t>
            </a:r>
            <a:endParaRPr lang="en-US" sz="1200" dirty="0">
              <a:solidFill>
                <a:schemeClr val="bg1"/>
              </a:solidFill>
            </a:endParaRPr>
          </a:p>
        </p:txBody>
      </p:sp>
      <p:sp>
        <p:nvSpPr>
          <p:cNvPr id="32" name="Shape 11">
            <a:extLst>
              <a:ext uri="{FF2B5EF4-FFF2-40B4-BE49-F238E27FC236}">
                <a16:creationId xmlns:a16="http://schemas.microsoft.com/office/drawing/2014/main" id="{8F589838-4631-1DDD-3610-4337040B5C68}"/>
              </a:ext>
            </a:extLst>
          </p:cNvPr>
          <p:cNvSpPr/>
          <p:nvPr/>
        </p:nvSpPr>
        <p:spPr>
          <a:xfrm>
            <a:off x="6858000" y="3246120"/>
            <a:ext cx="4846320" cy="1143000"/>
          </a:xfrm>
          <a:prstGeom prst="roundRect">
            <a:avLst>
              <a:gd name="adj" fmla="val 5333"/>
            </a:avLst>
          </a:prstGeom>
          <a:solidFill>
            <a:srgbClr val="1B4332"/>
          </a:solidFill>
          <a:ln/>
        </p:spPr>
        <p:txBody>
          <a:bodyPr/>
          <a:lstStyle/>
          <a:p>
            <a:endParaRPr lang="en-001"/>
          </a:p>
        </p:txBody>
      </p:sp>
      <p:sp>
        <p:nvSpPr>
          <p:cNvPr id="34" name="Text 12">
            <a:extLst>
              <a:ext uri="{FF2B5EF4-FFF2-40B4-BE49-F238E27FC236}">
                <a16:creationId xmlns:a16="http://schemas.microsoft.com/office/drawing/2014/main" id="{FE2F128A-03CA-C9B8-A060-A459723D58C4}"/>
              </a:ext>
            </a:extLst>
          </p:cNvPr>
          <p:cNvSpPr/>
          <p:nvPr/>
        </p:nvSpPr>
        <p:spPr>
          <a:xfrm>
            <a:off x="6858000" y="3313016"/>
            <a:ext cx="4846320" cy="777240"/>
          </a:xfrm>
          <a:prstGeom prst="rect">
            <a:avLst/>
          </a:prstGeom>
          <a:noFill/>
          <a:ln/>
        </p:spPr>
        <p:txBody>
          <a:bodyPr wrap="square" rtlCol="0" anchor="ctr"/>
          <a:lstStyle/>
          <a:p>
            <a:pPr marL="0" indent="0" algn="ctr">
              <a:buNone/>
            </a:pPr>
            <a:r>
              <a:rPr lang="en-US" sz="3400" b="1" dirty="0">
                <a:solidFill>
                  <a:srgbClr val="52B788"/>
                </a:solidFill>
                <a:latin typeface="Cambria" pitchFamily="34" charset="0"/>
                <a:ea typeface="Cambria" pitchFamily="34" charset="-122"/>
              </a:rPr>
              <a:t>52 %</a:t>
            </a:r>
            <a:endParaRPr lang="en-US" sz="3400" dirty="0"/>
          </a:p>
        </p:txBody>
      </p:sp>
      <p:sp>
        <p:nvSpPr>
          <p:cNvPr id="36" name="Text 13">
            <a:extLst>
              <a:ext uri="{FF2B5EF4-FFF2-40B4-BE49-F238E27FC236}">
                <a16:creationId xmlns:a16="http://schemas.microsoft.com/office/drawing/2014/main" id="{F4CF0929-D3F8-0615-4D3E-9A81986AFB8B}"/>
              </a:ext>
            </a:extLst>
          </p:cNvPr>
          <p:cNvSpPr/>
          <p:nvPr/>
        </p:nvSpPr>
        <p:spPr>
          <a:xfrm>
            <a:off x="6949440" y="3907376"/>
            <a:ext cx="4663440" cy="411480"/>
          </a:xfrm>
          <a:prstGeom prst="rect">
            <a:avLst/>
          </a:prstGeom>
          <a:noFill/>
          <a:ln/>
        </p:spPr>
        <p:txBody>
          <a:bodyPr wrap="square" rtlCol="0" anchor="ctr"/>
          <a:lstStyle/>
          <a:p>
            <a:pPr algn="ctr"/>
            <a:r>
              <a:rPr lang="en-001" sz="1200" dirty="0">
                <a:solidFill>
                  <a:schemeClr val="bg1"/>
                </a:solidFill>
              </a:rPr>
              <a:t>Increase in transfer spending compared to 2024</a:t>
            </a:r>
            <a:endParaRPr lang="en-US" sz="1200" dirty="0">
              <a:solidFill>
                <a:schemeClr val="bg1"/>
              </a:solidFill>
            </a:endParaRPr>
          </a:p>
        </p:txBody>
      </p:sp>
      <p:sp>
        <p:nvSpPr>
          <p:cNvPr id="40" name="Shape 8">
            <a:extLst>
              <a:ext uri="{FF2B5EF4-FFF2-40B4-BE49-F238E27FC236}">
                <a16:creationId xmlns:a16="http://schemas.microsoft.com/office/drawing/2014/main" id="{5056DEE3-FFA7-500F-6336-E358C7C76F2A}"/>
              </a:ext>
            </a:extLst>
          </p:cNvPr>
          <p:cNvSpPr/>
          <p:nvPr/>
        </p:nvSpPr>
        <p:spPr>
          <a:xfrm>
            <a:off x="6857999" y="4597465"/>
            <a:ext cx="4890837" cy="1371600"/>
          </a:xfrm>
          <a:prstGeom prst="roundRect">
            <a:avLst>
              <a:gd name="adj" fmla="val 5333"/>
            </a:avLst>
          </a:prstGeom>
          <a:solidFill>
            <a:srgbClr val="1B4332"/>
          </a:solidFill>
          <a:ln/>
        </p:spPr>
        <p:txBody>
          <a:bodyPr/>
          <a:lstStyle/>
          <a:p>
            <a:pPr algn="ctr"/>
            <a:endParaRPr lang="en-US" sz="1400" dirty="0">
              <a:solidFill>
                <a:schemeClr val="bg1"/>
              </a:solidFill>
            </a:endParaRPr>
          </a:p>
          <a:p>
            <a:pPr algn="ctr"/>
            <a:r>
              <a:rPr lang="en-001" sz="1400" dirty="0">
                <a:solidFill>
                  <a:schemeClr val="bg1"/>
                </a:solidFill>
              </a:rPr>
              <a:t>Liverpool's 2025 summer transfer window, they spent:</a:t>
            </a:r>
          </a:p>
          <a:p>
            <a:pPr lvl="0" algn="ctr"/>
            <a:r>
              <a:rPr lang="en-001" sz="1400" b="1" dirty="0">
                <a:solidFill>
                  <a:srgbClr val="00B050"/>
                </a:solidFill>
              </a:rPr>
              <a:t>£446 million </a:t>
            </a:r>
            <a:r>
              <a:rPr lang="en-001" sz="1400" dirty="0">
                <a:solidFill>
                  <a:schemeClr val="bg1"/>
                </a:solidFill>
              </a:rPr>
              <a:t>($600 million USD) on new signings</a:t>
            </a:r>
            <a:endParaRPr lang="en-US" sz="1400" dirty="0">
              <a:solidFill>
                <a:schemeClr val="bg1"/>
              </a:solidFill>
            </a:endParaRPr>
          </a:p>
          <a:p>
            <a:pPr lvl="0" algn="ctr"/>
            <a:r>
              <a:rPr lang="en-001" sz="1400" dirty="0">
                <a:solidFill>
                  <a:schemeClr val="bg1"/>
                </a:solidFill>
              </a:rPr>
              <a:t>making it the largest transfer spend in Liverpool's history</a:t>
            </a:r>
          </a:p>
        </p:txBody>
      </p:sp>
      <p:sp>
        <p:nvSpPr>
          <p:cNvPr id="45" name="TextBox 44">
            <a:extLst>
              <a:ext uri="{FF2B5EF4-FFF2-40B4-BE49-F238E27FC236}">
                <a16:creationId xmlns:a16="http://schemas.microsoft.com/office/drawing/2014/main" id="{ACADCC8E-84FA-6C35-6B0F-87E1DB48BA1D}"/>
              </a:ext>
            </a:extLst>
          </p:cNvPr>
          <p:cNvSpPr txBox="1"/>
          <p:nvPr/>
        </p:nvSpPr>
        <p:spPr>
          <a:xfrm>
            <a:off x="8116418" y="6264515"/>
            <a:ext cx="2329484" cy="246221"/>
          </a:xfrm>
          <a:prstGeom prst="rect">
            <a:avLst/>
          </a:prstGeom>
          <a:noFill/>
        </p:spPr>
        <p:txBody>
          <a:bodyPr wrap="none" rtlCol="0">
            <a:spAutoFit/>
          </a:bodyPr>
          <a:lstStyle/>
          <a:p>
            <a:r>
              <a:rPr lang="en-001" sz="1000" dirty="0">
                <a:solidFill>
                  <a:schemeClr val="bg2">
                    <a:lumMod val="50000"/>
                  </a:schemeClr>
                </a:solidFill>
              </a:rPr>
              <a:t>Source:</a:t>
            </a:r>
            <a:r>
              <a:rPr lang="en-US" sz="1000" dirty="0">
                <a:solidFill>
                  <a:schemeClr val="bg2">
                    <a:lumMod val="50000"/>
                  </a:schemeClr>
                </a:solidFill>
              </a:rPr>
              <a:t> </a:t>
            </a:r>
            <a:r>
              <a:rPr lang="en-001" sz="1000" dirty="0">
                <a:solidFill>
                  <a:schemeClr val="bg2">
                    <a:lumMod val="50000"/>
                  </a:schemeClr>
                </a:solidFill>
              </a:rPr>
              <a:t>FIFA Global Transfer Report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5836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Why Soccer Recruitment Needs Data</a:t>
            </a:r>
            <a:endParaRPr lang="en-US" sz="3200" dirty="0"/>
          </a:p>
        </p:txBody>
      </p:sp>
      <p:sp>
        <p:nvSpPr>
          <p:cNvPr id="4" name="Text 2"/>
          <p:cNvSpPr/>
          <p:nvPr/>
        </p:nvSpPr>
        <p:spPr>
          <a:xfrm>
            <a:off x="640080" y="1600200"/>
            <a:ext cx="5212080" cy="1188720"/>
          </a:xfrm>
          <a:prstGeom prst="rect">
            <a:avLst/>
          </a:prstGeom>
          <a:noFill/>
          <a:ln/>
        </p:spPr>
        <p:txBody>
          <a:bodyPr wrap="square" rtlCol="0" anchor="t"/>
          <a:lstStyle/>
          <a:p>
            <a:pPr>
              <a:lnSpc>
                <a:spcPct val="115000"/>
              </a:lnSpc>
            </a:pPr>
            <a:r>
              <a:rPr lang="en-001" sz="1600" dirty="0"/>
              <a:t>Clubs spend billions of dollars on player transfers each year, yet recruitment is still largely subjective, often driven by scouting opinions, player reputation, and media hype.</a:t>
            </a:r>
            <a:endParaRPr lang="en-US" sz="1600" dirty="0"/>
          </a:p>
        </p:txBody>
      </p:sp>
      <p:sp>
        <p:nvSpPr>
          <p:cNvPr id="5" name="Text 3"/>
          <p:cNvSpPr/>
          <p:nvPr/>
        </p:nvSpPr>
        <p:spPr>
          <a:xfrm>
            <a:off x="640080" y="2880360"/>
            <a:ext cx="5212080" cy="2377440"/>
          </a:xfrm>
          <a:prstGeom prst="rect">
            <a:avLst/>
          </a:prstGeom>
          <a:noFill/>
          <a:ln/>
        </p:spPr>
        <p:txBody>
          <a:bodyPr wrap="square" rtlCol="0" anchor="t"/>
          <a:lstStyle/>
          <a:p>
            <a:pPr marL="342900" indent="-342900">
              <a:spcAft>
                <a:spcPts val="1000"/>
              </a:spcAft>
              <a:buSzPct val="100000"/>
              <a:buChar char="•"/>
            </a:pPr>
            <a:r>
              <a:rPr lang="en-US" sz="1400" dirty="0">
                <a:solidFill>
                  <a:srgbClr val="1B2A34"/>
                </a:solidFill>
                <a:latin typeface="Calibri" pitchFamily="34" charset="0"/>
                <a:ea typeface="Calibri" pitchFamily="34" charset="-122"/>
                <a:cs typeface="Calibri" pitchFamily="34" charset="-120"/>
              </a:rPr>
              <a:t>Overpaying for hyped players is common and costly</a:t>
            </a:r>
            <a:endParaRPr lang="en-US" sz="1400" dirty="0"/>
          </a:p>
          <a:p>
            <a:pPr marL="342900" indent="-342900">
              <a:spcAft>
                <a:spcPts val="1000"/>
              </a:spcAft>
              <a:buSzPct val="100000"/>
              <a:buChar char="•"/>
            </a:pPr>
            <a:r>
              <a:rPr lang="en-001" sz="1400" dirty="0"/>
              <a:t>Promising undervalued players can be overlooked</a:t>
            </a:r>
            <a:endParaRPr lang="en-US" sz="1400" dirty="0"/>
          </a:p>
          <a:p>
            <a:pPr marL="342900" indent="-342900">
              <a:spcAft>
                <a:spcPts val="1000"/>
              </a:spcAft>
              <a:buSzPct val="100000"/>
              <a:buChar char="•"/>
            </a:pPr>
            <a:r>
              <a:rPr lang="en-001" sz="1400" dirty="0"/>
              <a:t>Recruitment decisions are often influenced by subjective judgment</a:t>
            </a:r>
            <a:endParaRPr lang="en-US" sz="1400" dirty="0"/>
          </a:p>
          <a:p>
            <a:pPr marL="342900" indent="-342900">
              <a:spcAft>
                <a:spcPts val="1000"/>
              </a:spcAft>
              <a:buSzPct val="100000"/>
              <a:buChar char="•"/>
            </a:pPr>
            <a:r>
              <a:rPr lang="en-001" sz="1400" dirty="0"/>
              <a:t>Smaller clubs must rely on smart recruitment rather than large transfer budgets</a:t>
            </a:r>
            <a:endParaRPr lang="en-US" sz="1400" dirty="0"/>
          </a:p>
        </p:txBody>
      </p:sp>
      <p:sp>
        <p:nvSpPr>
          <p:cNvPr id="6" name="Text 4"/>
          <p:cNvSpPr/>
          <p:nvPr/>
        </p:nvSpPr>
        <p:spPr>
          <a:xfrm>
            <a:off x="640080" y="5234940"/>
            <a:ext cx="5394960" cy="822960"/>
          </a:xfrm>
          <a:prstGeom prst="rect">
            <a:avLst/>
          </a:prstGeom>
          <a:noFill/>
          <a:ln/>
        </p:spPr>
        <p:txBody>
          <a:bodyPr wrap="square" rtlCol="0" anchor="t"/>
          <a:lstStyle/>
          <a:p>
            <a:pPr marL="0" indent="0">
              <a:buNone/>
            </a:pPr>
            <a:r>
              <a:rPr lang="en-US" sz="1500" b="1" i="1" dirty="0">
                <a:solidFill>
                  <a:srgbClr val="2D6A4F"/>
                </a:solidFill>
                <a:latin typeface="Cambria" pitchFamily="34" charset="0"/>
                <a:ea typeface="Cambria" pitchFamily="34" charset="-122"/>
                <a:cs typeface="Cambria" pitchFamily="34" charset="-120"/>
              </a:rPr>
              <a:t>Can data find undervalued players before the market does?</a:t>
            </a:r>
            <a:endParaRPr lang="en-US" sz="1500" dirty="0"/>
          </a:p>
        </p:txBody>
      </p:sp>
      <p:sp>
        <p:nvSpPr>
          <p:cNvPr id="7" name="Shape 5"/>
          <p:cNvSpPr/>
          <p:nvPr/>
        </p:nvSpPr>
        <p:spPr>
          <a:xfrm>
            <a:off x="6583680" y="1600200"/>
            <a:ext cx="4937760" cy="2057400"/>
          </a:xfrm>
          <a:prstGeom prst="roundRect">
            <a:avLst>
              <a:gd name="adj" fmla="val 3111"/>
            </a:avLst>
          </a:prstGeom>
          <a:solidFill>
            <a:srgbClr val="F2EFEE"/>
          </a:solidFill>
          <a:ln w="12700">
            <a:solidFill>
              <a:srgbClr val="E3D9D6"/>
            </a:solidFill>
            <a:prstDash val="solid"/>
          </a:ln>
        </p:spPr>
        <p:txBody>
          <a:bodyPr/>
          <a:lstStyle/>
          <a:p>
            <a:endParaRPr lang="en-001"/>
          </a:p>
        </p:txBody>
      </p:sp>
      <p:sp>
        <p:nvSpPr>
          <p:cNvPr id="8" name="Text 6"/>
          <p:cNvSpPr/>
          <p:nvPr/>
        </p:nvSpPr>
        <p:spPr>
          <a:xfrm>
            <a:off x="6858000" y="1856232"/>
            <a:ext cx="4389120" cy="457200"/>
          </a:xfrm>
          <a:prstGeom prst="rect">
            <a:avLst/>
          </a:prstGeom>
          <a:noFill/>
          <a:ln/>
        </p:spPr>
        <p:txBody>
          <a:bodyPr wrap="square" rtlCol="0" anchor="ctr"/>
          <a:lstStyle/>
          <a:p>
            <a:pPr marL="0" indent="0">
              <a:buNone/>
            </a:pPr>
            <a:r>
              <a:rPr lang="en-US" sz="1700" b="1" dirty="0">
                <a:solidFill>
                  <a:srgbClr val="B85042"/>
                </a:solidFill>
                <a:latin typeface="Calibri" pitchFamily="34" charset="0"/>
                <a:ea typeface="Calibri" pitchFamily="34" charset="-122"/>
                <a:cs typeface="Calibri" pitchFamily="34" charset="-120"/>
              </a:rPr>
              <a:t>The old way - gut feeling</a:t>
            </a:r>
            <a:endParaRPr lang="en-US" sz="1700" dirty="0"/>
          </a:p>
        </p:txBody>
      </p:sp>
      <p:sp>
        <p:nvSpPr>
          <p:cNvPr id="9" name="Text 7"/>
          <p:cNvSpPr/>
          <p:nvPr/>
        </p:nvSpPr>
        <p:spPr>
          <a:xfrm>
            <a:off x="6858000" y="2377440"/>
            <a:ext cx="4389120" cy="1097280"/>
          </a:xfrm>
          <a:prstGeom prst="rect">
            <a:avLst/>
          </a:prstGeom>
          <a:noFill/>
          <a:ln/>
        </p:spPr>
        <p:txBody>
          <a:bodyPr wrap="square" rtlCol="0" anchor="t"/>
          <a:lstStyle/>
          <a:p>
            <a:pPr>
              <a:lnSpc>
                <a:spcPct val="110000"/>
              </a:lnSpc>
            </a:pPr>
            <a:r>
              <a:rPr lang="en-US" sz="1400" dirty="0">
                <a:solidFill>
                  <a:srgbClr val="1B2A34"/>
                </a:solidFill>
                <a:latin typeface="Calibri" pitchFamily="34" charset="0"/>
                <a:ea typeface="Calibri" pitchFamily="34" charset="-122"/>
                <a:cs typeface="Calibri" pitchFamily="34" charset="-120"/>
              </a:rPr>
              <a:t>Recruitment based </a:t>
            </a:r>
            <a:r>
              <a:rPr lang="en-001" sz="1400" dirty="0"/>
              <a:t>primarily</a:t>
            </a:r>
            <a:r>
              <a:rPr lang="en-US" sz="1400" dirty="0">
                <a:solidFill>
                  <a:srgbClr val="1B2A34"/>
                </a:solidFill>
                <a:latin typeface="Calibri" pitchFamily="34" charset="0"/>
                <a:ea typeface="Calibri" pitchFamily="34" charset="-122"/>
                <a:cs typeface="Calibri" pitchFamily="34" charset="-120"/>
              </a:rPr>
              <a:t> by opinion, reputation, and hype. The result: overpaying for hyped names and missing undervalued players.</a:t>
            </a:r>
            <a:endParaRPr lang="en-US" sz="1400" dirty="0"/>
          </a:p>
        </p:txBody>
      </p:sp>
      <p:sp>
        <p:nvSpPr>
          <p:cNvPr id="10" name="Text 8"/>
          <p:cNvSpPr/>
          <p:nvPr/>
        </p:nvSpPr>
        <p:spPr>
          <a:xfrm>
            <a:off x="6583680" y="3639312"/>
            <a:ext cx="4937760" cy="457200"/>
          </a:xfrm>
          <a:prstGeom prst="rect">
            <a:avLst/>
          </a:prstGeom>
          <a:noFill/>
          <a:ln/>
        </p:spPr>
        <p:txBody>
          <a:bodyPr wrap="square" rtlCol="0" anchor="ctr"/>
          <a:lstStyle/>
          <a:p>
            <a:pPr marL="0" indent="0" algn="ctr">
              <a:buNone/>
            </a:pPr>
            <a:r>
              <a:rPr lang="en-US" sz="2000" dirty="0">
                <a:solidFill>
                  <a:srgbClr val="52B788"/>
                </a:solidFill>
              </a:rPr>
              <a:t>▼</a:t>
            </a:r>
            <a:endParaRPr lang="en-US" sz="2000" dirty="0"/>
          </a:p>
        </p:txBody>
      </p:sp>
      <p:sp>
        <p:nvSpPr>
          <p:cNvPr id="11" name="Shape 9"/>
          <p:cNvSpPr/>
          <p:nvPr/>
        </p:nvSpPr>
        <p:spPr>
          <a:xfrm>
            <a:off x="6583680" y="4114800"/>
            <a:ext cx="4937760" cy="2240280"/>
          </a:xfrm>
          <a:prstGeom prst="roundRect">
            <a:avLst>
              <a:gd name="adj" fmla="val 2857"/>
            </a:avLst>
          </a:prstGeom>
          <a:solidFill>
            <a:srgbClr val="1B4332"/>
          </a:solidFill>
          <a:ln/>
        </p:spPr>
        <p:txBody>
          <a:bodyPr/>
          <a:lstStyle/>
          <a:p>
            <a:endParaRPr lang="en-001"/>
          </a:p>
        </p:txBody>
      </p:sp>
      <p:sp>
        <p:nvSpPr>
          <p:cNvPr id="12" name="Text 10"/>
          <p:cNvSpPr/>
          <p:nvPr/>
        </p:nvSpPr>
        <p:spPr>
          <a:xfrm>
            <a:off x="6858000" y="4370832"/>
            <a:ext cx="4389120" cy="457200"/>
          </a:xfrm>
          <a:prstGeom prst="rect">
            <a:avLst/>
          </a:prstGeom>
          <a:noFill/>
          <a:ln/>
        </p:spPr>
        <p:txBody>
          <a:bodyPr wrap="square" rtlCol="0" anchor="ctr"/>
          <a:lstStyle/>
          <a:p>
            <a:r>
              <a:rPr lang="en-US" sz="1700" b="1" dirty="0">
                <a:solidFill>
                  <a:srgbClr val="00B050"/>
                </a:solidFill>
                <a:latin typeface="Calibri" pitchFamily="34" charset="0"/>
                <a:ea typeface="Calibri" pitchFamily="34" charset="-122"/>
                <a:cs typeface="Calibri" pitchFamily="34" charset="-120"/>
              </a:rPr>
              <a:t>The Modern way - </a:t>
            </a:r>
            <a:r>
              <a:rPr lang="en-001" sz="1600" b="1" dirty="0">
                <a:solidFill>
                  <a:srgbClr val="00B050"/>
                </a:solidFill>
              </a:rPr>
              <a:t>Data-Driven Recruitment</a:t>
            </a:r>
            <a:endParaRPr lang="en-US" sz="1700" b="1" dirty="0">
              <a:solidFill>
                <a:srgbClr val="00B050"/>
              </a:solidFill>
            </a:endParaRPr>
          </a:p>
        </p:txBody>
      </p:sp>
      <p:sp>
        <p:nvSpPr>
          <p:cNvPr id="13" name="Text 11"/>
          <p:cNvSpPr/>
          <p:nvPr/>
        </p:nvSpPr>
        <p:spPr>
          <a:xfrm>
            <a:off x="6858000" y="4892040"/>
            <a:ext cx="4389120" cy="1280160"/>
          </a:xfrm>
          <a:prstGeom prst="rect">
            <a:avLst/>
          </a:prstGeom>
          <a:noFill/>
          <a:ln/>
        </p:spPr>
        <p:txBody>
          <a:bodyPr wrap="square" rtlCol="0" anchor="t"/>
          <a:lstStyle/>
          <a:p>
            <a:pPr>
              <a:lnSpc>
                <a:spcPct val="110000"/>
              </a:lnSpc>
            </a:pPr>
            <a:r>
              <a:rPr lang="en-001" sz="1400" dirty="0">
                <a:solidFill>
                  <a:schemeClr val="bg2"/>
                </a:solidFill>
              </a:rPr>
              <a:t>Combines traditional scouting with data analytics and machine learning</a:t>
            </a:r>
            <a:r>
              <a:rPr lang="en-US" sz="1400" dirty="0">
                <a:solidFill>
                  <a:schemeClr val="bg2"/>
                </a:solidFill>
              </a:rPr>
              <a:t>. </a:t>
            </a:r>
            <a:r>
              <a:rPr lang="en-US" sz="1400" dirty="0">
                <a:solidFill>
                  <a:schemeClr val="bg2"/>
                </a:solidFill>
                <a:latin typeface="Calibri" pitchFamily="34" charset="0"/>
                <a:ea typeface="Calibri" pitchFamily="34" charset="-122"/>
                <a:cs typeface="Calibri" pitchFamily="34" charset="-120"/>
              </a:rPr>
              <a:t>Removing bias and spotting bargains before rivals do.  This is the goal of this project.</a:t>
            </a:r>
            <a:endParaRPr lang="en-US" sz="1400"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PROJECT GOAL</a:t>
            </a:r>
            <a:endParaRPr lang="en-US" sz="1200" dirty="0"/>
          </a:p>
        </p:txBody>
      </p:sp>
      <p:sp>
        <p:nvSpPr>
          <p:cNvPr id="3" name="Text 1"/>
          <p:cNvSpPr/>
          <p:nvPr/>
        </p:nvSpPr>
        <p:spPr>
          <a:xfrm>
            <a:off x="579120" y="1343519"/>
            <a:ext cx="10387718" cy="731520"/>
          </a:xfrm>
          <a:prstGeom prst="rect">
            <a:avLst/>
          </a:prstGeom>
          <a:noFill/>
          <a:ln/>
        </p:spPr>
        <p:txBody>
          <a:bodyPr wrap="square" rtlCol="0" anchor="ctr"/>
          <a:lstStyle/>
          <a:p>
            <a:r>
              <a:rPr lang="en-US" sz="1600" dirty="0"/>
              <a:t>The Goal is to </a:t>
            </a:r>
            <a:r>
              <a:rPr lang="en-001" sz="1600" dirty="0"/>
              <a:t>build a data-driven soccer recruitment system that uses machine learning to identify </a:t>
            </a:r>
            <a:r>
              <a:rPr lang="en-001" sz="1600" b="1" dirty="0"/>
              <a:t>undervalued players</a:t>
            </a:r>
            <a:r>
              <a:rPr lang="en-001" sz="1600" dirty="0"/>
              <a:t> </a:t>
            </a:r>
            <a:endParaRPr lang="en-US" sz="1600" dirty="0"/>
          </a:p>
          <a:p>
            <a:r>
              <a:rPr lang="en-001" sz="1600" dirty="0"/>
              <a:t>whose on-field performance suggests they are worth more than their current market value.</a:t>
            </a:r>
          </a:p>
        </p:txBody>
      </p:sp>
      <p:sp>
        <p:nvSpPr>
          <p:cNvPr id="4" name="Shape 2"/>
          <p:cNvSpPr/>
          <p:nvPr/>
        </p:nvSpPr>
        <p:spPr>
          <a:xfrm>
            <a:off x="664601" y="2691982"/>
            <a:ext cx="3128554" cy="1597793"/>
          </a:xfrm>
          <a:prstGeom prst="roundRect">
            <a:avLst>
              <a:gd name="adj" fmla="val 2553"/>
            </a:avLst>
          </a:prstGeom>
          <a:solidFill>
            <a:srgbClr val="F3F7F4"/>
          </a:solidFill>
          <a:ln w="12700">
            <a:solidFill>
              <a:srgbClr val="DDE7E1"/>
            </a:solidFill>
            <a:prstDash val="solid"/>
          </a:ln>
        </p:spPr>
        <p:txBody>
          <a:bodyPr/>
          <a:lstStyle/>
          <a:p>
            <a:endParaRPr lang="en-001"/>
          </a:p>
        </p:txBody>
      </p:sp>
      <p:sp>
        <p:nvSpPr>
          <p:cNvPr id="5" name="Text 3"/>
          <p:cNvSpPr/>
          <p:nvPr/>
        </p:nvSpPr>
        <p:spPr>
          <a:xfrm>
            <a:off x="697946" y="2810235"/>
            <a:ext cx="3061864" cy="276898"/>
          </a:xfrm>
          <a:prstGeom prst="rect">
            <a:avLst/>
          </a:prstGeom>
          <a:noFill/>
          <a:ln/>
        </p:spPr>
        <p:txBody>
          <a:bodyPr wrap="square" rtlCol="0" anchor="ctr"/>
          <a:lstStyle/>
          <a:p>
            <a:pPr marL="0" indent="0" algn="ctr">
              <a:buNone/>
            </a:pPr>
            <a:r>
              <a:rPr lang="en-US" sz="1500" b="1" dirty="0">
                <a:solidFill>
                  <a:srgbClr val="3E5F27"/>
                </a:solidFill>
                <a:latin typeface="Calibri" pitchFamily="34" charset="0"/>
                <a:ea typeface="Calibri" pitchFamily="34" charset="-122"/>
                <a:cs typeface="Calibri" pitchFamily="34" charset="-120"/>
              </a:rPr>
              <a:t>Player Market Value Prediction</a:t>
            </a:r>
            <a:endParaRPr lang="en-US" sz="1500" dirty="0">
              <a:solidFill>
                <a:srgbClr val="3E5F27"/>
              </a:solidFill>
            </a:endParaRPr>
          </a:p>
        </p:txBody>
      </p:sp>
      <p:sp>
        <p:nvSpPr>
          <p:cNvPr id="6" name="Text 4"/>
          <p:cNvSpPr/>
          <p:nvPr/>
        </p:nvSpPr>
        <p:spPr>
          <a:xfrm>
            <a:off x="731291" y="3045882"/>
            <a:ext cx="2958737" cy="998793"/>
          </a:xfrm>
          <a:prstGeom prst="rect">
            <a:avLst/>
          </a:prstGeom>
          <a:noFill/>
          <a:ln/>
        </p:spPr>
        <p:txBody>
          <a:bodyPr wrap="square" rtlCol="0" anchor="t"/>
          <a:lstStyle/>
          <a:p>
            <a:pPr algn="ctr">
              <a:lnSpc>
                <a:spcPct val="105000"/>
              </a:lnSpc>
            </a:pPr>
            <a:endParaRPr lang="en-US" sz="1200" dirty="0"/>
          </a:p>
          <a:p>
            <a:pPr algn="ctr">
              <a:lnSpc>
                <a:spcPct val="105000"/>
              </a:lnSpc>
            </a:pPr>
            <a:r>
              <a:rPr lang="en-001" sz="1200" dirty="0"/>
              <a:t>predict a player's market value from performance statistics, age, position, league, and playing time using regression</a:t>
            </a:r>
            <a:endParaRPr lang="en-US" sz="1200" dirty="0"/>
          </a:p>
        </p:txBody>
      </p:sp>
      <p:sp>
        <p:nvSpPr>
          <p:cNvPr id="18" name="TextBox 17">
            <a:extLst>
              <a:ext uri="{FF2B5EF4-FFF2-40B4-BE49-F238E27FC236}">
                <a16:creationId xmlns:a16="http://schemas.microsoft.com/office/drawing/2014/main" id="{AF4FDC6F-E7ED-6DF6-8869-ED786F0BF4D0}"/>
              </a:ext>
            </a:extLst>
          </p:cNvPr>
          <p:cNvSpPr txBox="1"/>
          <p:nvPr/>
        </p:nvSpPr>
        <p:spPr>
          <a:xfrm>
            <a:off x="606735" y="2230746"/>
            <a:ext cx="3186420" cy="307777"/>
          </a:xfrm>
          <a:prstGeom prst="rect">
            <a:avLst/>
          </a:prstGeom>
          <a:noFill/>
        </p:spPr>
        <p:txBody>
          <a:bodyPr wrap="square">
            <a:spAutoFit/>
          </a:bodyPr>
          <a:lstStyle/>
          <a:p>
            <a:r>
              <a:rPr lang="en-001" sz="1400" b="0" i="0" dirty="0">
                <a:effectLst/>
              </a:rPr>
              <a:t>The system performs </a:t>
            </a:r>
            <a:r>
              <a:rPr lang="en-US" sz="1400" b="1" i="0" dirty="0">
                <a:effectLst/>
              </a:rPr>
              <a:t>Four</a:t>
            </a:r>
            <a:r>
              <a:rPr lang="en-001" sz="1400" b="0" i="0" dirty="0">
                <a:effectLst/>
              </a:rPr>
              <a:t> main tasks</a:t>
            </a:r>
            <a:r>
              <a:rPr lang="en-US" sz="1400" b="0" i="0" dirty="0">
                <a:effectLst/>
              </a:rPr>
              <a:t>:</a:t>
            </a:r>
            <a:endParaRPr lang="en-001" sz="1400" dirty="0"/>
          </a:p>
        </p:txBody>
      </p:sp>
      <p:sp>
        <p:nvSpPr>
          <p:cNvPr id="20" name="Shape 2">
            <a:extLst>
              <a:ext uri="{FF2B5EF4-FFF2-40B4-BE49-F238E27FC236}">
                <a16:creationId xmlns:a16="http://schemas.microsoft.com/office/drawing/2014/main" id="{47DB37B1-5625-0DDA-DDF4-DA4415517280}"/>
              </a:ext>
            </a:extLst>
          </p:cNvPr>
          <p:cNvSpPr/>
          <p:nvPr/>
        </p:nvSpPr>
        <p:spPr>
          <a:xfrm>
            <a:off x="3949737" y="2691981"/>
            <a:ext cx="3430259" cy="1598309"/>
          </a:xfrm>
          <a:prstGeom prst="roundRect">
            <a:avLst>
              <a:gd name="adj" fmla="val 2553"/>
            </a:avLst>
          </a:prstGeom>
          <a:solidFill>
            <a:srgbClr val="F3F7F4"/>
          </a:solidFill>
          <a:ln w="12700">
            <a:solidFill>
              <a:srgbClr val="DDE7E1"/>
            </a:solidFill>
            <a:prstDash val="solid"/>
          </a:ln>
        </p:spPr>
        <p:txBody>
          <a:bodyPr/>
          <a:lstStyle/>
          <a:p>
            <a:endParaRPr lang="en-001" dirty="0"/>
          </a:p>
        </p:txBody>
      </p:sp>
      <p:sp>
        <p:nvSpPr>
          <p:cNvPr id="22" name="Text 3">
            <a:extLst>
              <a:ext uri="{FF2B5EF4-FFF2-40B4-BE49-F238E27FC236}">
                <a16:creationId xmlns:a16="http://schemas.microsoft.com/office/drawing/2014/main" id="{9EB2D913-722D-A4BB-3BA3-B466B790500A}"/>
              </a:ext>
            </a:extLst>
          </p:cNvPr>
          <p:cNvSpPr/>
          <p:nvPr/>
        </p:nvSpPr>
        <p:spPr>
          <a:xfrm>
            <a:off x="4116465" y="2803647"/>
            <a:ext cx="3031383" cy="276898"/>
          </a:xfrm>
          <a:prstGeom prst="rect">
            <a:avLst/>
          </a:prstGeom>
          <a:noFill/>
          <a:ln/>
        </p:spPr>
        <p:txBody>
          <a:bodyPr wrap="square" rtlCol="0" anchor="ctr"/>
          <a:lstStyle/>
          <a:p>
            <a:pPr algn="ctr"/>
            <a:r>
              <a:rPr lang="en-001" sz="1500" b="1" dirty="0">
                <a:solidFill>
                  <a:srgbClr val="3E5F27"/>
                </a:solidFill>
              </a:rPr>
              <a:t>Undervalued Talent Identification</a:t>
            </a:r>
            <a:endParaRPr lang="en-US" sz="1500" dirty="0">
              <a:solidFill>
                <a:srgbClr val="3E5F27"/>
              </a:solidFill>
            </a:endParaRPr>
          </a:p>
        </p:txBody>
      </p:sp>
      <p:sp>
        <p:nvSpPr>
          <p:cNvPr id="24" name="Shape 2">
            <a:extLst>
              <a:ext uri="{FF2B5EF4-FFF2-40B4-BE49-F238E27FC236}">
                <a16:creationId xmlns:a16="http://schemas.microsoft.com/office/drawing/2014/main" id="{78918BB0-28E4-114B-5B75-16122B888E83}"/>
              </a:ext>
            </a:extLst>
          </p:cNvPr>
          <p:cNvSpPr/>
          <p:nvPr/>
        </p:nvSpPr>
        <p:spPr>
          <a:xfrm>
            <a:off x="7536578" y="2691981"/>
            <a:ext cx="3430260" cy="1597792"/>
          </a:xfrm>
          <a:prstGeom prst="roundRect">
            <a:avLst>
              <a:gd name="adj" fmla="val 2553"/>
            </a:avLst>
          </a:prstGeom>
          <a:solidFill>
            <a:srgbClr val="F3F7F4"/>
          </a:solidFill>
          <a:ln w="12700">
            <a:solidFill>
              <a:srgbClr val="DDE7E1"/>
            </a:solidFill>
            <a:prstDash val="solid"/>
          </a:ln>
        </p:spPr>
        <p:txBody>
          <a:bodyPr/>
          <a:lstStyle/>
          <a:p>
            <a:endParaRPr lang="en-001"/>
          </a:p>
        </p:txBody>
      </p:sp>
      <p:sp>
        <p:nvSpPr>
          <p:cNvPr id="26" name="Text 4">
            <a:extLst>
              <a:ext uri="{FF2B5EF4-FFF2-40B4-BE49-F238E27FC236}">
                <a16:creationId xmlns:a16="http://schemas.microsoft.com/office/drawing/2014/main" id="{25B018A4-E5E8-B158-7D5F-6BFA845BE1DD}"/>
              </a:ext>
            </a:extLst>
          </p:cNvPr>
          <p:cNvSpPr/>
          <p:nvPr/>
        </p:nvSpPr>
        <p:spPr>
          <a:xfrm>
            <a:off x="4149174" y="3045882"/>
            <a:ext cx="3031383" cy="1077399"/>
          </a:xfrm>
          <a:prstGeom prst="rect">
            <a:avLst/>
          </a:prstGeom>
          <a:noFill/>
          <a:ln/>
        </p:spPr>
        <p:txBody>
          <a:bodyPr wrap="square" rtlCol="0" anchor="t"/>
          <a:lstStyle/>
          <a:p>
            <a:pPr algn="ctr">
              <a:lnSpc>
                <a:spcPct val="105000"/>
              </a:lnSpc>
            </a:pPr>
            <a:endParaRPr lang="en-US" sz="1200" dirty="0"/>
          </a:p>
          <a:p>
            <a:pPr algn="ctr">
              <a:lnSpc>
                <a:spcPct val="105000"/>
              </a:lnSpc>
            </a:pPr>
            <a:r>
              <a:rPr lang="en-001" sz="1200" dirty="0"/>
              <a:t>compare each player's predicted market value with their actual market value to identify and rank potentially undervalued players</a:t>
            </a:r>
            <a:endParaRPr lang="en-US" sz="1200" dirty="0"/>
          </a:p>
        </p:txBody>
      </p:sp>
      <p:sp>
        <p:nvSpPr>
          <p:cNvPr id="28" name="Text 3">
            <a:extLst>
              <a:ext uri="{FF2B5EF4-FFF2-40B4-BE49-F238E27FC236}">
                <a16:creationId xmlns:a16="http://schemas.microsoft.com/office/drawing/2014/main" id="{31ED9122-4EFB-F9D2-7242-7E91242A9093}"/>
              </a:ext>
            </a:extLst>
          </p:cNvPr>
          <p:cNvSpPr/>
          <p:nvPr/>
        </p:nvSpPr>
        <p:spPr>
          <a:xfrm>
            <a:off x="7621547" y="2803647"/>
            <a:ext cx="3031383" cy="276898"/>
          </a:xfrm>
          <a:prstGeom prst="rect">
            <a:avLst/>
          </a:prstGeom>
          <a:noFill/>
          <a:ln/>
        </p:spPr>
        <p:txBody>
          <a:bodyPr wrap="square" rtlCol="0" anchor="ctr"/>
          <a:lstStyle/>
          <a:p>
            <a:pPr algn="ctr"/>
            <a:r>
              <a:rPr lang="en-US" sz="1500" b="1" dirty="0">
                <a:solidFill>
                  <a:srgbClr val="3E5F27"/>
                </a:solidFill>
              </a:rPr>
              <a:t>Player Similarity Analysis</a:t>
            </a:r>
            <a:endParaRPr lang="en-US" sz="1500" dirty="0">
              <a:solidFill>
                <a:srgbClr val="3E5F27"/>
              </a:solidFill>
            </a:endParaRPr>
          </a:p>
        </p:txBody>
      </p:sp>
      <p:sp>
        <p:nvSpPr>
          <p:cNvPr id="30" name="Text 4">
            <a:extLst>
              <a:ext uri="{FF2B5EF4-FFF2-40B4-BE49-F238E27FC236}">
                <a16:creationId xmlns:a16="http://schemas.microsoft.com/office/drawing/2014/main" id="{6FD3FA3D-3F67-65CE-C00E-933DEE85AB55}"/>
              </a:ext>
            </a:extLst>
          </p:cNvPr>
          <p:cNvSpPr/>
          <p:nvPr/>
        </p:nvSpPr>
        <p:spPr>
          <a:xfrm>
            <a:off x="7461756" y="3006578"/>
            <a:ext cx="3350966" cy="1118249"/>
          </a:xfrm>
          <a:prstGeom prst="rect">
            <a:avLst/>
          </a:prstGeom>
          <a:noFill/>
          <a:ln/>
        </p:spPr>
        <p:txBody>
          <a:bodyPr wrap="square" rtlCol="0" anchor="t"/>
          <a:lstStyle/>
          <a:p>
            <a:pPr algn="ctr">
              <a:lnSpc>
                <a:spcPct val="105000"/>
              </a:lnSpc>
            </a:pPr>
            <a:endParaRPr lang="en-US" sz="1200" dirty="0"/>
          </a:p>
          <a:p>
            <a:pPr algn="ctr">
              <a:lnSpc>
                <a:spcPct val="105000"/>
              </a:lnSpc>
            </a:pPr>
            <a:r>
              <a:rPr lang="en-001" sz="1200" dirty="0"/>
              <a:t> identify similar players using Cosine Similarity, with K-Means clustering and PCA visualization to identify potential lower-cost alternatives</a:t>
            </a:r>
            <a:endParaRPr lang="en-US" sz="1200" dirty="0"/>
          </a:p>
        </p:txBody>
      </p:sp>
      <p:sp>
        <p:nvSpPr>
          <p:cNvPr id="32" name="Shape 2">
            <a:extLst>
              <a:ext uri="{FF2B5EF4-FFF2-40B4-BE49-F238E27FC236}">
                <a16:creationId xmlns:a16="http://schemas.microsoft.com/office/drawing/2014/main" id="{AFB5881E-F5B0-C9B5-8C3D-422CFBD3B633}"/>
              </a:ext>
            </a:extLst>
          </p:cNvPr>
          <p:cNvSpPr/>
          <p:nvPr/>
        </p:nvSpPr>
        <p:spPr>
          <a:xfrm>
            <a:off x="3949735" y="4477182"/>
            <a:ext cx="3430260" cy="1597792"/>
          </a:xfrm>
          <a:prstGeom prst="roundRect">
            <a:avLst>
              <a:gd name="adj" fmla="val 2553"/>
            </a:avLst>
          </a:prstGeom>
          <a:solidFill>
            <a:srgbClr val="F3F7F4"/>
          </a:solidFill>
          <a:ln w="12700">
            <a:solidFill>
              <a:srgbClr val="DDE7E1"/>
            </a:solidFill>
            <a:prstDash val="solid"/>
          </a:ln>
        </p:spPr>
        <p:txBody>
          <a:bodyPr/>
          <a:lstStyle/>
          <a:p>
            <a:endParaRPr lang="en-001" dirty="0"/>
          </a:p>
        </p:txBody>
      </p:sp>
      <p:sp>
        <p:nvSpPr>
          <p:cNvPr id="34" name="Text 3">
            <a:extLst>
              <a:ext uri="{FF2B5EF4-FFF2-40B4-BE49-F238E27FC236}">
                <a16:creationId xmlns:a16="http://schemas.microsoft.com/office/drawing/2014/main" id="{F05A0230-8B03-92AC-40EB-992DFD562D8A}"/>
              </a:ext>
            </a:extLst>
          </p:cNvPr>
          <p:cNvSpPr/>
          <p:nvPr/>
        </p:nvSpPr>
        <p:spPr>
          <a:xfrm>
            <a:off x="4116462" y="4567861"/>
            <a:ext cx="3031383" cy="276898"/>
          </a:xfrm>
          <a:prstGeom prst="rect">
            <a:avLst/>
          </a:prstGeom>
          <a:noFill/>
          <a:ln/>
        </p:spPr>
        <p:txBody>
          <a:bodyPr wrap="square" rtlCol="0" anchor="ctr"/>
          <a:lstStyle/>
          <a:p>
            <a:pPr algn="ctr"/>
            <a:r>
              <a:rPr lang="en-US" sz="1500" b="1" dirty="0">
                <a:solidFill>
                  <a:srgbClr val="3E5F27"/>
                </a:solidFill>
              </a:rPr>
              <a:t>Model Explainability</a:t>
            </a:r>
            <a:endParaRPr lang="en-US" sz="1500" dirty="0">
              <a:solidFill>
                <a:srgbClr val="3E5F27"/>
              </a:solidFill>
            </a:endParaRPr>
          </a:p>
        </p:txBody>
      </p:sp>
      <p:sp>
        <p:nvSpPr>
          <p:cNvPr id="38" name="Text 4">
            <a:extLst>
              <a:ext uri="{FF2B5EF4-FFF2-40B4-BE49-F238E27FC236}">
                <a16:creationId xmlns:a16="http://schemas.microsoft.com/office/drawing/2014/main" id="{D4C1933C-9295-3D93-DFCF-98B00FFAA53B}"/>
              </a:ext>
            </a:extLst>
          </p:cNvPr>
          <p:cNvSpPr/>
          <p:nvPr/>
        </p:nvSpPr>
        <p:spPr>
          <a:xfrm>
            <a:off x="4116465" y="4960977"/>
            <a:ext cx="3031383" cy="771655"/>
          </a:xfrm>
          <a:prstGeom prst="rect">
            <a:avLst/>
          </a:prstGeom>
          <a:noFill/>
          <a:ln/>
        </p:spPr>
        <p:txBody>
          <a:bodyPr wrap="square" rtlCol="0" anchor="t"/>
          <a:lstStyle/>
          <a:p>
            <a:pPr algn="ctr">
              <a:lnSpc>
                <a:spcPct val="105000"/>
              </a:lnSpc>
            </a:pPr>
            <a:r>
              <a:rPr lang="en-001" sz="1200" dirty="0"/>
              <a:t>explain</a:t>
            </a:r>
            <a:r>
              <a:rPr lang="en-US" sz="1200" dirty="0"/>
              <a:t>s</a:t>
            </a:r>
            <a:r>
              <a:rPr lang="en-001" sz="1200" dirty="0"/>
              <a:t> why the model values each player using SHAP, revealing the key factors behind every prediction</a:t>
            </a:r>
            <a:endParaRPr lang="en-US" sz="1200" dirty="0"/>
          </a:p>
        </p:txBody>
      </p:sp>
      <p:sp>
        <p:nvSpPr>
          <p:cNvPr id="40" name="Text 1">
            <a:extLst>
              <a:ext uri="{FF2B5EF4-FFF2-40B4-BE49-F238E27FC236}">
                <a16:creationId xmlns:a16="http://schemas.microsoft.com/office/drawing/2014/main" id="{4F0009B3-3998-3616-DE6A-E060E7F3310A}"/>
              </a:ext>
            </a:extLst>
          </p:cNvPr>
          <p:cNvSpPr/>
          <p:nvPr/>
        </p:nvSpPr>
        <p:spPr>
          <a:xfrm>
            <a:off x="606735" y="631093"/>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Key Features of the System</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PROJECT PIPELINE</a:t>
            </a:r>
            <a:endParaRPr lang="en-US" sz="1200" dirty="0"/>
          </a:p>
        </p:txBody>
      </p:sp>
      <p:sp>
        <p:nvSpPr>
          <p:cNvPr id="3" name="Text 1"/>
          <p:cNvSpPr/>
          <p:nvPr/>
        </p:nvSpPr>
        <p:spPr>
          <a:xfrm>
            <a:off x="640080" y="731520"/>
            <a:ext cx="1097280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Raw Data to Recruitment Insights</a:t>
            </a:r>
            <a:endParaRPr lang="en-US" sz="3000" dirty="0"/>
          </a:p>
        </p:txBody>
      </p:sp>
      <p:sp>
        <p:nvSpPr>
          <p:cNvPr id="4" name="Shape 2"/>
          <p:cNvSpPr/>
          <p:nvPr/>
        </p:nvSpPr>
        <p:spPr>
          <a:xfrm>
            <a:off x="502920" y="2743200"/>
            <a:ext cx="1481328" cy="1371600"/>
          </a:xfrm>
          <a:prstGeom prst="roundRect">
            <a:avLst>
              <a:gd name="adj" fmla="val 5333"/>
            </a:avLst>
          </a:prstGeom>
          <a:solidFill>
            <a:srgbClr val="52B788"/>
          </a:solidFill>
          <a:ln/>
        </p:spPr>
        <p:txBody>
          <a:bodyPr/>
          <a:lstStyle/>
          <a:p>
            <a:endParaRPr lang="en-001"/>
          </a:p>
        </p:txBody>
      </p:sp>
      <p:sp>
        <p:nvSpPr>
          <p:cNvPr id="5" name="Text 3"/>
          <p:cNvSpPr/>
          <p:nvPr/>
        </p:nvSpPr>
        <p:spPr>
          <a:xfrm>
            <a:off x="502920" y="2743200"/>
            <a:ext cx="1481328" cy="1371600"/>
          </a:xfrm>
          <a:prstGeom prst="rect">
            <a:avLst/>
          </a:prstGeom>
          <a:noFill/>
          <a:ln/>
        </p:spPr>
        <p:txBody>
          <a:bodyPr wrap="square" rtlCol="0" anchor="ctr"/>
          <a:lstStyle/>
          <a:p>
            <a:pPr marL="0" indent="0" algn="ctr">
              <a:buNone/>
            </a:pPr>
            <a:r>
              <a:rPr lang="en-US" sz="1250" b="1" dirty="0">
                <a:solidFill>
                  <a:srgbClr val="1B4332"/>
                </a:solidFill>
                <a:latin typeface="Calibri" pitchFamily="34" charset="0"/>
                <a:ea typeface="Calibri" pitchFamily="34" charset="-122"/>
                <a:cs typeface="Calibri" pitchFamily="34" charset="-120"/>
              </a:rPr>
              <a:t>Data Sources</a:t>
            </a:r>
            <a:endParaRPr lang="en-US" sz="1250" dirty="0"/>
          </a:p>
        </p:txBody>
      </p:sp>
      <p:sp>
        <p:nvSpPr>
          <p:cNvPr id="6" name="Text 4"/>
          <p:cNvSpPr/>
          <p:nvPr/>
        </p:nvSpPr>
        <p:spPr>
          <a:xfrm>
            <a:off x="1965960" y="2743200"/>
            <a:ext cx="201168" cy="1371600"/>
          </a:xfrm>
          <a:prstGeom prst="rect">
            <a:avLst/>
          </a:prstGeom>
          <a:noFill/>
          <a:ln/>
        </p:spPr>
        <p:txBody>
          <a:bodyPr wrap="square" rtlCol="0" anchor="ctr"/>
          <a:lstStyle/>
          <a:p>
            <a:pPr marL="0" indent="0" algn="ctr">
              <a:buNone/>
            </a:pPr>
            <a:r>
              <a:rPr lang="en-US" sz="1200" dirty="0">
                <a:solidFill>
                  <a:srgbClr val="D8F3DC"/>
                </a:solidFill>
              </a:rPr>
              <a:t>▶</a:t>
            </a:r>
            <a:endParaRPr lang="en-US" sz="1200" dirty="0"/>
          </a:p>
        </p:txBody>
      </p:sp>
      <p:sp>
        <p:nvSpPr>
          <p:cNvPr id="7" name="Shape 5"/>
          <p:cNvSpPr/>
          <p:nvPr/>
        </p:nvSpPr>
        <p:spPr>
          <a:xfrm>
            <a:off x="2148840" y="2743200"/>
            <a:ext cx="1481328" cy="1371600"/>
          </a:xfrm>
          <a:prstGeom prst="roundRect">
            <a:avLst>
              <a:gd name="adj" fmla="val 5333"/>
            </a:avLst>
          </a:prstGeom>
          <a:solidFill>
            <a:srgbClr val="2D6A4F"/>
          </a:solidFill>
          <a:ln/>
        </p:spPr>
        <p:txBody>
          <a:bodyPr/>
          <a:lstStyle/>
          <a:p>
            <a:endParaRPr lang="en-001"/>
          </a:p>
        </p:txBody>
      </p:sp>
      <p:sp>
        <p:nvSpPr>
          <p:cNvPr id="8" name="Text 6"/>
          <p:cNvSpPr/>
          <p:nvPr/>
        </p:nvSpPr>
        <p:spPr>
          <a:xfrm>
            <a:off x="2148840" y="2743200"/>
            <a:ext cx="1481328" cy="13716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Cleaning and</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Feature Eng</a:t>
            </a:r>
            <a:endParaRPr lang="en-US" sz="1250" dirty="0"/>
          </a:p>
        </p:txBody>
      </p:sp>
      <p:sp>
        <p:nvSpPr>
          <p:cNvPr id="9" name="Text 7"/>
          <p:cNvSpPr/>
          <p:nvPr/>
        </p:nvSpPr>
        <p:spPr>
          <a:xfrm>
            <a:off x="3611880" y="2743200"/>
            <a:ext cx="201168" cy="1371600"/>
          </a:xfrm>
          <a:prstGeom prst="rect">
            <a:avLst/>
          </a:prstGeom>
          <a:noFill/>
          <a:ln/>
        </p:spPr>
        <p:txBody>
          <a:bodyPr wrap="square" rtlCol="0" anchor="ctr"/>
          <a:lstStyle/>
          <a:p>
            <a:pPr marL="0" indent="0" algn="ctr">
              <a:buNone/>
            </a:pPr>
            <a:r>
              <a:rPr lang="en-US" sz="1200" dirty="0">
                <a:solidFill>
                  <a:srgbClr val="D8F3DC"/>
                </a:solidFill>
              </a:rPr>
              <a:t>▶</a:t>
            </a:r>
            <a:endParaRPr lang="en-US" sz="1200" dirty="0"/>
          </a:p>
        </p:txBody>
      </p:sp>
      <p:sp>
        <p:nvSpPr>
          <p:cNvPr id="10" name="Shape 8"/>
          <p:cNvSpPr/>
          <p:nvPr/>
        </p:nvSpPr>
        <p:spPr>
          <a:xfrm>
            <a:off x="3794760" y="2743200"/>
            <a:ext cx="1481328" cy="1371600"/>
          </a:xfrm>
          <a:prstGeom prst="roundRect">
            <a:avLst>
              <a:gd name="adj" fmla="val 5333"/>
            </a:avLst>
          </a:prstGeom>
          <a:solidFill>
            <a:srgbClr val="52B788"/>
          </a:solidFill>
          <a:ln/>
        </p:spPr>
        <p:txBody>
          <a:bodyPr/>
          <a:lstStyle/>
          <a:p>
            <a:endParaRPr lang="en-001"/>
          </a:p>
        </p:txBody>
      </p:sp>
      <p:sp>
        <p:nvSpPr>
          <p:cNvPr id="11" name="Text 9"/>
          <p:cNvSpPr/>
          <p:nvPr/>
        </p:nvSpPr>
        <p:spPr>
          <a:xfrm>
            <a:off x="3794760" y="2743200"/>
            <a:ext cx="1481328" cy="1371600"/>
          </a:xfrm>
          <a:prstGeom prst="rect">
            <a:avLst/>
          </a:prstGeom>
          <a:noFill/>
          <a:ln/>
        </p:spPr>
        <p:txBody>
          <a:bodyPr wrap="square" rtlCol="0" anchor="ctr"/>
          <a:lstStyle/>
          <a:p>
            <a:pPr marL="0" indent="0" algn="ctr">
              <a:buNone/>
            </a:pPr>
            <a:r>
              <a:rPr lang="en-US" sz="1250" b="1" dirty="0">
                <a:solidFill>
                  <a:srgbClr val="1B4332"/>
                </a:solidFill>
                <a:latin typeface="Calibri" pitchFamily="34" charset="0"/>
                <a:ea typeface="Calibri" pitchFamily="34" charset="-122"/>
                <a:cs typeface="Calibri" pitchFamily="34" charset="-120"/>
              </a:rPr>
              <a:t>Exploratory</a:t>
            </a:r>
            <a:endParaRPr lang="en-US" sz="1250" dirty="0"/>
          </a:p>
          <a:p>
            <a:pPr marL="0" indent="0" algn="ctr">
              <a:buNone/>
            </a:pPr>
            <a:r>
              <a:rPr lang="en-US" sz="1250" b="1" dirty="0">
                <a:solidFill>
                  <a:srgbClr val="1B4332"/>
                </a:solidFill>
                <a:latin typeface="Calibri" pitchFamily="34" charset="0"/>
                <a:ea typeface="Calibri" pitchFamily="34" charset="-122"/>
                <a:cs typeface="Calibri" pitchFamily="34" charset="-120"/>
              </a:rPr>
              <a:t>Analysis</a:t>
            </a:r>
            <a:endParaRPr lang="en-US" sz="1250" dirty="0"/>
          </a:p>
        </p:txBody>
      </p:sp>
      <p:sp>
        <p:nvSpPr>
          <p:cNvPr id="12" name="Text 10"/>
          <p:cNvSpPr/>
          <p:nvPr/>
        </p:nvSpPr>
        <p:spPr>
          <a:xfrm>
            <a:off x="5257800" y="2743200"/>
            <a:ext cx="201168" cy="1371600"/>
          </a:xfrm>
          <a:prstGeom prst="rect">
            <a:avLst/>
          </a:prstGeom>
          <a:noFill/>
          <a:ln/>
        </p:spPr>
        <p:txBody>
          <a:bodyPr wrap="square" rtlCol="0" anchor="ctr"/>
          <a:lstStyle/>
          <a:p>
            <a:pPr marL="0" indent="0" algn="ctr">
              <a:buNone/>
            </a:pPr>
            <a:r>
              <a:rPr lang="en-US" sz="1200" dirty="0">
                <a:solidFill>
                  <a:srgbClr val="D8F3DC"/>
                </a:solidFill>
              </a:rPr>
              <a:t>▶</a:t>
            </a:r>
            <a:endParaRPr lang="en-US" sz="1200" dirty="0"/>
          </a:p>
        </p:txBody>
      </p:sp>
      <p:sp>
        <p:nvSpPr>
          <p:cNvPr id="13" name="Shape 11"/>
          <p:cNvSpPr/>
          <p:nvPr/>
        </p:nvSpPr>
        <p:spPr>
          <a:xfrm>
            <a:off x="5440680" y="2743200"/>
            <a:ext cx="1481328" cy="1371600"/>
          </a:xfrm>
          <a:prstGeom prst="roundRect">
            <a:avLst>
              <a:gd name="adj" fmla="val 5333"/>
            </a:avLst>
          </a:prstGeom>
          <a:solidFill>
            <a:srgbClr val="2D6A4F"/>
          </a:solidFill>
          <a:ln/>
        </p:spPr>
        <p:txBody>
          <a:bodyPr/>
          <a:lstStyle/>
          <a:p>
            <a:endParaRPr lang="en-001"/>
          </a:p>
        </p:txBody>
      </p:sp>
      <p:sp>
        <p:nvSpPr>
          <p:cNvPr id="14" name="Text 12"/>
          <p:cNvSpPr/>
          <p:nvPr/>
        </p:nvSpPr>
        <p:spPr>
          <a:xfrm>
            <a:off x="5440680" y="2743200"/>
            <a:ext cx="1481328" cy="13716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Machine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Learning</a:t>
            </a:r>
            <a:endParaRPr lang="en-US" sz="1250" dirty="0"/>
          </a:p>
        </p:txBody>
      </p:sp>
      <p:sp>
        <p:nvSpPr>
          <p:cNvPr id="15" name="Text 13"/>
          <p:cNvSpPr/>
          <p:nvPr/>
        </p:nvSpPr>
        <p:spPr>
          <a:xfrm>
            <a:off x="6903720" y="2743200"/>
            <a:ext cx="201168" cy="1371600"/>
          </a:xfrm>
          <a:prstGeom prst="rect">
            <a:avLst/>
          </a:prstGeom>
          <a:noFill/>
          <a:ln/>
        </p:spPr>
        <p:txBody>
          <a:bodyPr wrap="square" rtlCol="0" anchor="ctr"/>
          <a:lstStyle/>
          <a:p>
            <a:pPr marL="0" indent="0" algn="ctr">
              <a:buNone/>
            </a:pPr>
            <a:r>
              <a:rPr lang="en-US" sz="1200" dirty="0">
                <a:solidFill>
                  <a:srgbClr val="D8F3DC"/>
                </a:solidFill>
              </a:rPr>
              <a:t>▶</a:t>
            </a:r>
            <a:endParaRPr lang="en-US" sz="1200" dirty="0"/>
          </a:p>
        </p:txBody>
      </p:sp>
      <p:sp>
        <p:nvSpPr>
          <p:cNvPr id="16" name="Shape 14"/>
          <p:cNvSpPr/>
          <p:nvPr/>
        </p:nvSpPr>
        <p:spPr>
          <a:xfrm>
            <a:off x="7086600" y="2743200"/>
            <a:ext cx="1481328" cy="1371600"/>
          </a:xfrm>
          <a:prstGeom prst="roundRect">
            <a:avLst>
              <a:gd name="adj" fmla="val 5333"/>
            </a:avLst>
          </a:prstGeom>
          <a:solidFill>
            <a:srgbClr val="52B788"/>
          </a:solidFill>
          <a:ln/>
        </p:spPr>
        <p:txBody>
          <a:bodyPr/>
          <a:lstStyle/>
          <a:p>
            <a:endParaRPr lang="en-001"/>
          </a:p>
        </p:txBody>
      </p:sp>
      <p:sp>
        <p:nvSpPr>
          <p:cNvPr id="17" name="Text 15"/>
          <p:cNvSpPr/>
          <p:nvPr/>
        </p:nvSpPr>
        <p:spPr>
          <a:xfrm>
            <a:off x="7086600" y="2743200"/>
            <a:ext cx="1481328" cy="1371600"/>
          </a:xfrm>
          <a:prstGeom prst="rect">
            <a:avLst/>
          </a:prstGeom>
          <a:noFill/>
          <a:ln/>
        </p:spPr>
        <p:txBody>
          <a:bodyPr wrap="square" rtlCol="0" anchor="ctr"/>
          <a:lstStyle/>
          <a:p>
            <a:pPr marL="0" indent="0" algn="ctr">
              <a:buNone/>
            </a:pPr>
            <a:r>
              <a:rPr lang="en-US" sz="1250" b="1" dirty="0">
                <a:solidFill>
                  <a:srgbClr val="1B4332"/>
                </a:solidFill>
                <a:latin typeface="Calibri" pitchFamily="34" charset="0"/>
                <a:ea typeface="Calibri" pitchFamily="34" charset="-122"/>
                <a:cs typeface="Calibri" pitchFamily="34" charset="-120"/>
              </a:rPr>
              <a:t>Undervalued</a:t>
            </a:r>
            <a:endParaRPr lang="en-US" sz="1250" dirty="0"/>
          </a:p>
          <a:p>
            <a:pPr marL="0" indent="0" algn="ctr">
              <a:buNone/>
            </a:pPr>
            <a:r>
              <a:rPr lang="en-US" sz="1250" b="1" dirty="0">
                <a:solidFill>
                  <a:srgbClr val="1B4332"/>
                </a:solidFill>
                <a:latin typeface="Calibri" pitchFamily="34" charset="0"/>
                <a:ea typeface="Calibri" pitchFamily="34" charset="-122"/>
                <a:cs typeface="Calibri" pitchFamily="34" charset="-120"/>
              </a:rPr>
              <a:t>Talent Identification</a:t>
            </a:r>
            <a:endParaRPr lang="en-US" sz="1250" dirty="0"/>
          </a:p>
        </p:txBody>
      </p:sp>
      <p:sp>
        <p:nvSpPr>
          <p:cNvPr id="18" name="Text 16"/>
          <p:cNvSpPr/>
          <p:nvPr/>
        </p:nvSpPr>
        <p:spPr>
          <a:xfrm>
            <a:off x="8549640" y="2743200"/>
            <a:ext cx="201168" cy="1371600"/>
          </a:xfrm>
          <a:prstGeom prst="rect">
            <a:avLst/>
          </a:prstGeom>
          <a:noFill/>
          <a:ln/>
        </p:spPr>
        <p:txBody>
          <a:bodyPr wrap="square" rtlCol="0" anchor="ctr"/>
          <a:lstStyle/>
          <a:p>
            <a:pPr marL="0" indent="0" algn="ctr">
              <a:buNone/>
            </a:pPr>
            <a:r>
              <a:rPr lang="en-US" sz="1200" dirty="0">
                <a:solidFill>
                  <a:srgbClr val="D8F3DC"/>
                </a:solidFill>
              </a:rPr>
              <a:t>▶</a:t>
            </a:r>
            <a:endParaRPr lang="en-US" sz="1200" dirty="0"/>
          </a:p>
        </p:txBody>
      </p:sp>
      <p:sp>
        <p:nvSpPr>
          <p:cNvPr id="19" name="Shape 17"/>
          <p:cNvSpPr/>
          <p:nvPr/>
        </p:nvSpPr>
        <p:spPr>
          <a:xfrm>
            <a:off x="8732520" y="2743200"/>
            <a:ext cx="1481328" cy="1371600"/>
          </a:xfrm>
          <a:prstGeom prst="roundRect">
            <a:avLst>
              <a:gd name="adj" fmla="val 5333"/>
            </a:avLst>
          </a:prstGeom>
          <a:solidFill>
            <a:srgbClr val="2D6A4F"/>
          </a:solidFill>
          <a:ln/>
        </p:spPr>
        <p:txBody>
          <a:bodyPr/>
          <a:lstStyle/>
          <a:p>
            <a:endParaRPr lang="en-001"/>
          </a:p>
        </p:txBody>
      </p:sp>
      <p:sp>
        <p:nvSpPr>
          <p:cNvPr id="20" name="Text 18"/>
          <p:cNvSpPr/>
          <p:nvPr/>
        </p:nvSpPr>
        <p:spPr>
          <a:xfrm>
            <a:off x="8732520" y="2743200"/>
            <a:ext cx="1481328" cy="13716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Player</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Similarity</a:t>
            </a:r>
            <a:endParaRPr lang="en-US" sz="1250" dirty="0"/>
          </a:p>
        </p:txBody>
      </p:sp>
      <p:sp>
        <p:nvSpPr>
          <p:cNvPr id="21" name="Text 19"/>
          <p:cNvSpPr/>
          <p:nvPr/>
        </p:nvSpPr>
        <p:spPr>
          <a:xfrm>
            <a:off x="10195560" y="2743200"/>
            <a:ext cx="201168" cy="1371600"/>
          </a:xfrm>
          <a:prstGeom prst="rect">
            <a:avLst/>
          </a:prstGeom>
          <a:noFill/>
          <a:ln/>
        </p:spPr>
        <p:txBody>
          <a:bodyPr wrap="square" rtlCol="0" anchor="ctr"/>
          <a:lstStyle/>
          <a:p>
            <a:pPr marL="0" indent="0" algn="ctr">
              <a:buNone/>
            </a:pPr>
            <a:r>
              <a:rPr lang="en-US" sz="1200" dirty="0">
                <a:solidFill>
                  <a:srgbClr val="D8F3DC"/>
                </a:solidFill>
              </a:rPr>
              <a:t>▶</a:t>
            </a:r>
            <a:endParaRPr lang="en-US" sz="1200" dirty="0"/>
          </a:p>
        </p:txBody>
      </p:sp>
      <p:sp>
        <p:nvSpPr>
          <p:cNvPr id="22" name="Shape 20"/>
          <p:cNvSpPr/>
          <p:nvPr/>
        </p:nvSpPr>
        <p:spPr>
          <a:xfrm>
            <a:off x="10378440" y="2743200"/>
            <a:ext cx="1481328" cy="1371600"/>
          </a:xfrm>
          <a:prstGeom prst="roundRect">
            <a:avLst>
              <a:gd name="adj" fmla="val 5333"/>
            </a:avLst>
          </a:prstGeom>
          <a:solidFill>
            <a:srgbClr val="52B788"/>
          </a:solidFill>
          <a:ln/>
        </p:spPr>
        <p:txBody>
          <a:bodyPr/>
          <a:lstStyle/>
          <a:p>
            <a:endParaRPr lang="en-001"/>
          </a:p>
        </p:txBody>
      </p:sp>
      <p:sp>
        <p:nvSpPr>
          <p:cNvPr id="23" name="Text 21"/>
          <p:cNvSpPr/>
          <p:nvPr/>
        </p:nvSpPr>
        <p:spPr>
          <a:xfrm>
            <a:off x="10378440" y="2743200"/>
            <a:ext cx="1481328" cy="1371600"/>
          </a:xfrm>
          <a:prstGeom prst="rect">
            <a:avLst/>
          </a:prstGeom>
          <a:noFill/>
          <a:ln/>
        </p:spPr>
        <p:txBody>
          <a:bodyPr wrap="square" rtlCol="0" anchor="ctr"/>
          <a:lstStyle/>
          <a:p>
            <a:pPr marL="0" indent="0" algn="ctr">
              <a:buNone/>
            </a:pPr>
            <a:r>
              <a:rPr lang="en-US" sz="1250" b="1" dirty="0">
                <a:solidFill>
                  <a:srgbClr val="1B4332"/>
                </a:solidFill>
                <a:latin typeface="Calibri" pitchFamily="34" charset="0"/>
                <a:ea typeface="Calibri" pitchFamily="34" charset="-122"/>
                <a:cs typeface="Calibri" pitchFamily="34" charset="-120"/>
              </a:rPr>
              <a:t>Model</a:t>
            </a:r>
            <a:endParaRPr lang="en-US" sz="1250" dirty="0"/>
          </a:p>
          <a:p>
            <a:pPr marL="0" indent="0" algn="ctr">
              <a:buNone/>
            </a:pPr>
            <a:r>
              <a:rPr lang="en-US" sz="1250" b="1" dirty="0">
                <a:solidFill>
                  <a:srgbClr val="1B4332"/>
                </a:solidFill>
                <a:latin typeface="Calibri" pitchFamily="34" charset="0"/>
                <a:ea typeface="Calibri" pitchFamily="34" charset="-122"/>
                <a:cs typeface="Calibri" pitchFamily="34" charset="-120"/>
              </a:rPr>
              <a:t>Explainability</a:t>
            </a:r>
            <a:endParaRPr lang="en-US" sz="1250" dirty="0"/>
          </a:p>
        </p:txBody>
      </p:sp>
      <p:sp>
        <p:nvSpPr>
          <p:cNvPr id="24" name="Text 22"/>
          <p:cNvSpPr/>
          <p:nvPr/>
        </p:nvSpPr>
        <p:spPr>
          <a:xfrm>
            <a:off x="502920" y="4572000"/>
            <a:ext cx="10972800" cy="457200"/>
          </a:xfrm>
          <a:prstGeom prst="rect">
            <a:avLst/>
          </a:prstGeom>
          <a:noFill/>
          <a:ln/>
        </p:spPr>
        <p:txBody>
          <a:bodyPr wrap="square" rtlCol="0" anchor="ctr"/>
          <a:lstStyle/>
          <a:p>
            <a:pPr marL="0" indent="0" algn="ctr">
              <a:buNone/>
            </a:pP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640080" y="65836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Where the Data Comes From</a:t>
            </a:r>
            <a:endParaRPr lang="en-US" sz="3200" dirty="0"/>
          </a:p>
        </p:txBody>
      </p:sp>
      <p:sp>
        <p:nvSpPr>
          <p:cNvPr id="4" name="Shape 2"/>
          <p:cNvSpPr/>
          <p:nvPr/>
        </p:nvSpPr>
        <p:spPr>
          <a:xfrm>
            <a:off x="640080" y="1600200"/>
            <a:ext cx="5303520" cy="2468880"/>
          </a:xfrm>
          <a:prstGeom prst="roundRect">
            <a:avLst>
              <a:gd name="adj" fmla="val 2222"/>
            </a:avLst>
          </a:prstGeom>
          <a:solidFill>
            <a:srgbClr val="F3F7F4"/>
          </a:solidFill>
          <a:ln w="12700">
            <a:solidFill>
              <a:srgbClr val="DDE7E1"/>
            </a:solidFill>
            <a:prstDash val="solid"/>
          </a:ln>
        </p:spPr>
        <p:txBody>
          <a:bodyPr/>
          <a:lstStyle/>
          <a:p>
            <a:endParaRPr lang="en-001"/>
          </a:p>
        </p:txBody>
      </p:sp>
      <p:sp>
        <p:nvSpPr>
          <p:cNvPr id="5" name="Text 3"/>
          <p:cNvSpPr/>
          <p:nvPr/>
        </p:nvSpPr>
        <p:spPr>
          <a:xfrm>
            <a:off x="822960" y="1737360"/>
            <a:ext cx="493776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FBref Dataset 24-25</a:t>
            </a:r>
            <a:endParaRPr lang="en-US" sz="1500" dirty="0"/>
          </a:p>
        </p:txBody>
      </p:sp>
      <p:sp>
        <p:nvSpPr>
          <p:cNvPr id="6" name="Text 4"/>
          <p:cNvSpPr/>
          <p:nvPr/>
        </p:nvSpPr>
        <p:spPr>
          <a:xfrm>
            <a:off x="822960" y="2192154"/>
            <a:ext cx="4937760" cy="1783080"/>
          </a:xfrm>
          <a:prstGeom prst="rect">
            <a:avLst/>
          </a:prstGeom>
          <a:noFill/>
          <a:ln/>
        </p:spPr>
        <p:txBody>
          <a:bodyPr wrap="square" rtlCol="0" anchor="t"/>
          <a:lstStyle/>
          <a:p>
            <a:pPr>
              <a:lnSpc>
                <a:spcPct val="105000"/>
              </a:lnSpc>
            </a:pPr>
            <a:r>
              <a:rPr lang="en-US" sz="1400" dirty="0">
                <a:solidFill>
                  <a:srgbClr val="1B2A34"/>
                </a:solidFill>
                <a:latin typeface="Calibri" pitchFamily="34" charset="0"/>
                <a:ea typeface="Calibri" pitchFamily="34" charset="-122"/>
                <a:cs typeface="Calibri" pitchFamily="34" charset="-120"/>
              </a:rPr>
              <a:t>goals, assists, shots, tackles, interceptions, crosses, minutes, team goals on pitch and more</a:t>
            </a:r>
          </a:p>
          <a:p>
            <a:pPr>
              <a:lnSpc>
                <a:spcPct val="105000"/>
              </a:lnSpc>
            </a:pPr>
            <a:endParaRPr lang="en-US" sz="1400" dirty="0"/>
          </a:p>
          <a:p>
            <a:pPr>
              <a:lnSpc>
                <a:spcPct val="105000"/>
              </a:lnSpc>
            </a:pPr>
            <a:r>
              <a:rPr lang="en-001" sz="1400" dirty="0"/>
              <a:t>per-90 statistics for 2,839 players</a:t>
            </a:r>
            <a:endParaRPr lang="en-US" sz="1400" dirty="0">
              <a:solidFill>
                <a:srgbClr val="1B2A34"/>
              </a:solidFill>
              <a:latin typeface="Calibri" pitchFamily="34" charset="0"/>
              <a:ea typeface="Calibri" pitchFamily="34" charset="-122"/>
              <a:cs typeface="Calibri" pitchFamily="34" charset="-120"/>
            </a:endParaRPr>
          </a:p>
          <a:p>
            <a:pPr>
              <a:lnSpc>
                <a:spcPct val="105000"/>
              </a:lnSpc>
            </a:pPr>
            <a:r>
              <a:rPr lang="en-001" sz="1400" dirty="0"/>
              <a:t>53 performance features per player</a:t>
            </a:r>
            <a:endParaRPr lang="en-US" sz="1400" dirty="0"/>
          </a:p>
          <a:p>
            <a:pPr>
              <a:lnSpc>
                <a:spcPct val="105000"/>
              </a:lnSpc>
            </a:pPr>
            <a:endParaRPr lang="en-US" sz="1400" b="1" dirty="0"/>
          </a:p>
        </p:txBody>
      </p:sp>
      <p:sp>
        <p:nvSpPr>
          <p:cNvPr id="7" name="Shape 5"/>
          <p:cNvSpPr/>
          <p:nvPr/>
        </p:nvSpPr>
        <p:spPr>
          <a:xfrm>
            <a:off x="6217920" y="1581912"/>
            <a:ext cx="5303520" cy="2468880"/>
          </a:xfrm>
          <a:prstGeom prst="roundRect">
            <a:avLst>
              <a:gd name="adj" fmla="val 2222"/>
            </a:avLst>
          </a:prstGeom>
          <a:solidFill>
            <a:srgbClr val="F3F7F4"/>
          </a:solidFill>
          <a:ln w="12700">
            <a:solidFill>
              <a:srgbClr val="DDE7E1"/>
            </a:solidFill>
            <a:prstDash val="solid"/>
          </a:ln>
        </p:spPr>
        <p:txBody>
          <a:bodyPr/>
          <a:lstStyle/>
          <a:p>
            <a:endParaRPr lang="en-001"/>
          </a:p>
        </p:txBody>
      </p:sp>
      <p:sp>
        <p:nvSpPr>
          <p:cNvPr id="8" name="Text 6"/>
          <p:cNvSpPr/>
          <p:nvPr/>
        </p:nvSpPr>
        <p:spPr>
          <a:xfrm>
            <a:off x="6400800" y="1737360"/>
            <a:ext cx="493776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Transfermarkt Dataset</a:t>
            </a:r>
            <a:endParaRPr lang="en-US" sz="1500" dirty="0"/>
          </a:p>
        </p:txBody>
      </p:sp>
      <p:sp>
        <p:nvSpPr>
          <p:cNvPr id="9" name="Text 7"/>
          <p:cNvSpPr/>
          <p:nvPr/>
        </p:nvSpPr>
        <p:spPr>
          <a:xfrm>
            <a:off x="6400800" y="2148840"/>
            <a:ext cx="4937760" cy="1783080"/>
          </a:xfrm>
          <a:prstGeom prst="rect">
            <a:avLst/>
          </a:prstGeom>
          <a:noFill/>
          <a:ln/>
        </p:spPr>
        <p:txBody>
          <a:bodyPr wrap="square" rtlCol="0" anchor="t"/>
          <a:lstStyle/>
          <a:p>
            <a:pPr marL="0" indent="0">
              <a:lnSpc>
                <a:spcPct val="105000"/>
              </a:lnSpc>
              <a:buNone/>
            </a:pPr>
            <a:r>
              <a:rPr lang="en-US" sz="1250" dirty="0">
                <a:solidFill>
                  <a:srgbClr val="1B2A34"/>
                </a:solidFill>
                <a:latin typeface="Calibri" pitchFamily="34" charset="0"/>
                <a:ea typeface="Calibri" pitchFamily="34" charset="-122"/>
                <a:cs typeface="Calibri" pitchFamily="34" charset="-120"/>
              </a:rPr>
              <a:t>Market value, highest-ever value, contract expiry, position, club, citizenship, preferred foot, and height.</a:t>
            </a:r>
          </a:p>
          <a:p>
            <a:pPr marL="0" indent="0">
              <a:lnSpc>
                <a:spcPct val="105000"/>
              </a:lnSpc>
              <a:buNone/>
            </a:pPr>
            <a:endParaRPr lang="en-US" sz="1250" dirty="0">
              <a:solidFill>
                <a:srgbClr val="1B2A34"/>
              </a:solidFill>
              <a:latin typeface="Calibri" pitchFamily="34" charset="0"/>
              <a:ea typeface="Calibri" pitchFamily="34" charset="-122"/>
              <a:cs typeface="Calibri" pitchFamily="34" charset="-120"/>
            </a:endParaRPr>
          </a:p>
          <a:p>
            <a:pPr>
              <a:lnSpc>
                <a:spcPct val="105000"/>
              </a:lnSpc>
            </a:pPr>
            <a:r>
              <a:rPr lang="en-001" sz="1400" b="1" dirty="0"/>
              <a:t>48,380</a:t>
            </a:r>
            <a:r>
              <a:rPr lang="en-001" sz="1400" dirty="0"/>
              <a:t> players</a:t>
            </a:r>
            <a:endParaRPr lang="en-US" sz="1400" dirty="0"/>
          </a:p>
          <a:p>
            <a:pPr>
              <a:lnSpc>
                <a:spcPct val="105000"/>
              </a:lnSpc>
            </a:pPr>
            <a:r>
              <a:rPr lang="en-001" sz="1400" b="1" dirty="0"/>
              <a:t>796</a:t>
            </a:r>
            <a:r>
              <a:rPr lang="en-001" sz="1400" dirty="0"/>
              <a:t> clubs</a:t>
            </a:r>
            <a:r>
              <a:rPr lang="en-US" sz="1400" dirty="0"/>
              <a:t> (</a:t>
            </a:r>
            <a:r>
              <a:rPr lang="en-001" sz="1400" b="1" dirty="0"/>
              <a:t>32</a:t>
            </a:r>
            <a:r>
              <a:rPr lang="en-001" sz="1400" dirty="0"/>
              <a:t> </a:t>
            </a:r>
            <a:r>
              <a:rPr lang="en-US" sz="1400" dirty="0"/>
              <a:t> </a:t>
            </a:r>
            <a:r>
              <a:rPr lang="en-001" sz="1400" dirty="0"/>
              <a:t>leagues covered</a:t>
            </a:r>
            <a:r>
              <a:rPr lang="en-US" sz="1400" dirty="0"/>
              <a:t>)</a:t>
            </a:r>
          </a:p>
          <a:p>
            <a:pPr>
              <a:lnSpc>
                <a:spcPct val="105000"/>
              </a:lnSpc>
            </a:pPr>
            <a:r>
              <a:rPr lang="en-001" sz="1400" b="1" dirty="0"/>
              <a:t>17,551</a:t>
            </a:r>
            <a:r>
              <a:rPr lang="en-001" sz="1400" dirty="0"/>
              <a:t> transfers with a real fee attached</a:t>
            </a:r>
            <a:endParaRPr lang="en-US" sz="1250" dirty="0">
              <a:solidFill>
                <a:srgbClr val="1B2A34"/>
              </a:solidFill>
              <a:latin typeface="Calibri" pitchFamily="34" charset="0"/>
              <a:ea typeface="Calibri" pitchFamily="34" charset="-122"/>
              <a:cs typeface="Calibri" pitchFamily="34" charset="-120"/>
            </a:endParaRPr>
          </a:p>
        </p:txBody>
      </p:sp>
      <p:sp>
        <p:nvSpPr>
          <p:cNvPr id="10" name="Text 8"/>
          <p:cNvSpPr/>
          <p:nvPr/>
        </p:nvSpPr>
        <p:spPr>
          <a:xfrm>
            <a:off x="640080" y="4297680"/>
            <a:ext cx="5486400" cy="36576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Merging the two sources</a:t>
            </a:r>
            <a:endParaRPr lang="en-US" sz="1500" dirty="0"/>
          </a:p>
        </p:txBody>
      </p:sp>
      <p:sp>
        <p:nvSpPr>
          <p:cNvPr id="11" name="Text 9"/>
          <p:cNvSpPr/>
          <p:nvPr/>
        </p:nvSpPr>
        <p:spPr>
          <a:xfrm>
            <a:off x="640080" y="4709160"/>
            <a:ext cx="5943600" cy="1645920"/>
          </a:xfrm>
          <a:prstGeom prst="rect">
            <a:avLst/>
          </a:prstGeom>
          <a:noFill/>
          <a:ln/>
        </p:spPr>
        <p:txBody>
          <a:bodyPr wrap="square" rtlCol="0" anchor="t"/>
          <a:lstStyle/>
          <a:p>
            <a:pPr marL="342900" indent="-342900">
              <a:spcAft>
                <a:spcPts val="800"/>
              </a:spcAft>
              <a:buSzPct val="100000"/>
              <a:buChar char="•"/>
            </a:pPr>
            <a:r>
              <a:rPr lang="en-US" sz="1200" dirty="0">
                <a:solidFill>
                  <a:srgbClr val="1B2A34"/>
                </a:solidFill>
                <a:ea typeface="Calibri" pitchFamily="34" charset="-122"/>
                <a:cs typeface="Calibri" pitchFamily="34" charset="-120"/>
              </a:rPr>
              <a:t>Matched on name + birth year </a:t>
            </a:r>
            <a:r>
              <a:rPr lang="en-001" sz="1200" dirty="0"/>
              <a:t>to ensure accurate record linkage between datasets</a:t>
            </a:r>
            <a:endParaRPr lang="en-US" sz="1200" dirty="0">
              <a:solidFill>
                <a:srgbClr val="1B2A34"/>
              </a:solidFill>
              <a:ea typeface="Calibri" pitchFamily="34" charset="-122"/>
              <a:cs typeface="Calibri" pitchFamily="34" charset="-120"/>
            </a:endParaRPr>
          </a:p>
          <a:p>
            <a:pPr marL="342900" indent="-342900">
              <a:spcAft>
                <a:spcPts val="800"/>
              </a:spcAft>
              <a:buSzPct val="100000"/>
              <a:buChar char="•"/>
            </a:pPr>
            <a:r>
              <a:rPr lang="en-001" sz="1200" dirty="0"/>
              <a:t>Validated matched records manually to minimize duplicate or incorrect player mappings</a:t>
            </a:r>
            <a:endParaRPr lang="en-US" sz="1200" dirty="0"/>
          </a:p>
          <a:p>
            <a:pPr marL="342900" indent="-342900">
              <a:spcAft>
                <a:spcPts val="800"/>
              </a:spcAft>
              <a:buSzPct val="100000"/>
              <a:buChar char="•"/>
            </a:pPr>
            <a:r>
              <a:rPr lang="en-001" sz="1200" dirty="0"/>
              <a:t>Selected a single season of data to maintain consistency and fair comparisons across all players</a:t>
            </a:r>
            <a:endParaRPr lang="en-US" sz="1200" dirty="0"/>
          </a:p>
          <a:p>
            <a:pPr marL="342900" indent="-342900">
              <a:spcAft>
                <a:spcPts val="800"/>
              </a:spcAft>
              <a:buSzPct val="100000"/>
              <a:buChar char="•"/>
            </a:pPr>
            <a:r>
              <a:rPr lang="en-001" sz="1200" dirty="0"/>
              <a:t>Created one unified dataset by combining player performance statistics with market valuation data</a:t>
            </a:r>
            <a:endParaRPr lang="en-US" sz="1200" dirty="0"/>
          </a:p>
        </p:txBody>
      </p:sp>
      <p:sp>
        <p:nvSpPr>
          <p:cNvPr id="12" name="Shape 10"/>
          <p:cNvSpPr/>
          <p:nvPr/>
        </p:nvSpPr>
        <p:spPr>
          <a:xfrm>
            <a:off x="6766560" y="4480560"/>
            <a:ext cx="2331720" cy="1371600"/>
          </a:xfrm>
          <a:prstGeom prst="roundRect">
            <a:avLst>
              <a:gd name="adj" fmla="val 5333"/>
            </a:avLst>
          </a:prstGeom>
          <a:solidFill>
            <a:srgbClr val="1B4332"/>
          </a:solidFill>
          <a:ln/>
        </p:spPr>
        <p:txBody>
          <a:bodyPr/>
          <a:lstStyle/>
          <a:p>
            <a:endParaRPr lang="en-001"/>
          </a:p>
        </p:txBody>
      </p:sp>
      <p:sp>
        <p:nvSpPr>
          <p:cNvPr id="13" name="Text 11"/>
          <p:cNvSpPr/>
          <p:nvPr/>
        </p:nvSpPr>
        <p:spPr>
          <a:xfrm>
            <a:off x="6766560" y="4590288"/>
            <a:ext cx="2331720" cy="777240"/>
          </a:xfrm>
          <a:prstGeom prst="rect">
            <a:avLst/>
          </a:prstGeom>
          <a:noFill/>
          <a:ln/>
        </p:spPr>
        <p:txBody>
          <a:bodyPr wrap="square" rtlCol="0" anchor="ctr"/>
          <a:lstStyle/>
          <a:p>
            <a:pPr marL="0" indent="0" algn="ctr">
              <a:buNone/>
            </a:pPr>
            <a:r>
              <a:rPr lang="en-US" sz="3400" b="1" dirty="0">
                <a:solidFill>
                  <a:srgbClr val="52B788"/>
                </a:solidFill>
                <a:latin typeface="Cambria" pitchFamily="34" charset="0"/>
                <a:ea typeface="Cambria" pitchFamily="34" charset="-122"/>
                <a:cs typeface="Cambria" pitchFamily="34" charset="-120"/>
              </a:rPr>
              <a:t>~88%</a:t>
            </a:r>
            <a:endParaRPr lang="en-US" sz="3400" dirty="0"/>
          </a:p>
        </p:txBody>
      </p:sp>
      <p:sp>
        <p:nvSpPr>
          <p:cNvPr id="14" name="Text 12"/>
          <p:cNvSpPr/>
          <p:nvPr/>
        </p:nvSpPr>
        <p:spPr>
          <a:xfrm>
            <a:off x="6858000" y="5349240"/>
            <a:ext cx="214884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match rate</a:t>
            </a:r>
            <a:endParaRPr lang="en-US" sz="1200" dirty="0"/>
          </a:p>
        </p:txBody>
      </p:sp>
      <p:sp>
        <p:nvSpPr>
          <p:cNvPr id="15" name="Shape 13"/>
          <p:cNvSpPr/>
          <p:nvPr/>
        </p:nvSpPr>
        <p:spPr>
          <a:xfrm>
            <a:off x="9281160" y="4480560"/>
            <a:ext cx="2331720" cy="1371600"/>
          </a:xfrm>
          <a:prstGeom prst="roundRect">
            <a:avLst>
              <a:gd name="adj" fmla="val 5333"/>
            </a:avLst>
          </a:prstGeom>
          <a:solidFill>
            <a:srgbClr val="1B4332"/>
          </a:solidFill>
          <a:ln/>
        </p:spPr>
        <p:txBody>
          <a:bodyPr/>
          <a:lstStyle/>
          <a:p>
            <a:endParaRPr lang="en-001"/>
          </a:p>
        </p:txBody>
      </p:sp>
      <p:sp>
        <p:nvSpPr>
          <p:cNvPr id="16" name="Text 14"/>
          <p:cNvSpPr/>
          <p:nvPr/>
        </p:nvSpPr>
        <p:spPr>
          <a:xfrm>
            <a:off x="9281160" y="4590288"/>
            <a:ext cx="2331720" cy="777240"/>
          </a:xfrm>
          <a:prstGeom prst="rect">
            <a:avLst/>
          </a:prstGeom>
          <a:noFill/>
          <a:ln/>
        </p:spPr>
        <p:txBody>
          <a:bodyPr wrap="square" rtlCol="0" anchor="ctr"/>
          <a:lstStyle/>
          <a:p>
            <a:pPr marL="0" indent="0" algn="ctr">
              <a:buNone/>
            </a:pPr>
            <a:r>
              <a:rPr lang="en-US" sz="3400" b="1" dirty="0">
                <a:solidFill>
                  <a:srgbClr val="52B788"/>
                </a:solidFill>
                <a:latin typeface="Cambria" pitchFamily="34" charset="0"/>
                <a:ea typeface="Cambria" pitchFamily="34" charset="-122"/>
                <a:cs typeface="Cambria" pitchFamily="34" charset="-120"/>
              </a:rPr>
              <a:t>2,514</a:t>
            </a:r>
            <a:endParaRPr lang="en-US" sz="3400" dirty="0"/>
          </a:p>
        </p:txBody>
      </p:sp>
      <p:sp>
        <p:nvSpPr>
          <p:cNvPr id="17" name="Text 15"/>
          <p:cNvSpPr/>
          <p:nvPr/>
        </p:nvSpPr>
        <p:spPr>
          <a:xfrm>
            <a:off x="9372600" y="5349240"/>
            <a:ext cx="214884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players with market value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640080" y="65836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Making the Data Ready</a:t>
            </a:r>
            <a:endParaRPr lang="en-US" sz="3200" dirty="0"/>
          </a:p>
        </p:txBody>
      </p:sp>
      <p:sp>
        <p:nvSpPr>
          <p:cNvPr id="4" name="Text 2"/>
          <p:cNvSpPr/>
          <p:nvPr/>
        </p:nvSpPr>
        <p:spPr>
          <a:xfrm>
            <a:off x="640080" y="1417320"/>
            <a:ext cx="10972800" cy="457200"/>
          </a:xfrm>
          <a:prstGeom prst="rect">
            <a:avLst/>
          </a:prstGeom>
          <a:noFill/>
          <a:ln/>
        </p:spPr>
        <p:txBody>
          <a:bodyPr wrap="square" rtlCol="0" anchor="ctr"/>
          <a:lstStyle/>
          <a:p>
            <a:pPr marL="0" indent="0">
              <a:buNone/>
            </a:pPr>
            <a:r>
              <a:rPr lang="en-US" sz="1500" dirty="0">
                <a:solidFill>
                  <a:srgbClr val="5F6B72"/>
                </a:solidFill>
                <a:ea typeface="Calibri" pitchFamily="34" charset="-122"/>
                <a:cs typeface="Calibri" pitchFamily="34" charset="-120"/>
              </a:rPr>
              <a:t>Three scripts turn two raw sources into one clean dataset</a:t>
            </a:r>
            <a:endParaRPr lang="en-US" sz="1500" dirty="0"/>
          </a:p>
        </p:txBody>
      </p:sp>
      <p:sp>
        <p:nvSpPr>
          <p:cNvPr id="5" name="Shape 3"/>
          <p:cNvSpPr/>
          <p:nvPr/>
        </p:nvSpPr>
        <p:spPr>
          <a:xfrm>
            <a:off x="640080" y="2057400"/>
            <a:ext cx="3291840" cy="2697480"/>
          </a:xfrm>
          <a:prstGeom prst="roundRect">
            <a:avLst>
              <a:gd name="adj" fmla="val 2373"/>
            </a:avLst>
          </a:prstGeom>
          <a:solidFill>
            <a:srgbClr val="F3F7F4"/>
          </a:solidFill>
          <a:ln w="12700">
            <a:solidFill>
              <a:srgbClr val="DDE7E1"/>
            </a:solidFill>
            <a:prstDash val="solid"/>
          </a:ln>
        </p:spPr>
        <p:txBody>
          <a:bodyPr/>
          <a:lstStyle/>
          <a:p>
            <a:endParaRPr lang="en-001"/>
          </a:p>
        </p:txBody>
      </p:sp>
      <p:sp>
        <p:nvSpPr>
          <p:cNvPr id="6" name="Shape 4"/>
          <p:cNvSpPr/>
          <p:nvPr/>
        </p:nvSpPr>
        <p:spPr>
          <a:xfrm>
            <a:off x="868680" y="2286000"/>
            <a:ext cx="548640" cy="548640"/>
          </a:xfrm>
          <a:prstGeom prst="ellipse">
            <a:avLst/>
          </a:prstGeom>
          <a:solidFill>
            <a:srgbClr val="2D6A4F"/>
          </a:solidFill>
          <a:ln/>
        </p:spPr>
        <p:txBody>
          <a:bodyPr/>
          <a:lstStyle/>
          <a:p>
            <a:endParaRPr lang="en-001"/>
          </a:p>
        </p:txBody>
      </p:sp>
      <p:sp>
        <p:nvSpPr>
          <p:cNvPr id="7" name="Text 5"/>
          <p:cNvSpPr/>
          <p:nvPr/>
        </p:nvSpPr>
        <p:spPr>
          <a:xfrm>
            <a:off x="868680" y="2286000"/>
            <a:ext cx="548640" cy="548640"/>
          </a:xfrm>
          <a:prstGeom prst="rect">
            <a:avLst/>
          </a:prstGeom>
          <a:noFill/>
          <a:ln/>
        </p:spPr>
        <p:txBody>
          <a:bodyPr wrap="square" rtlCol="0" anchor="ctr"/>
          <a:lstStyle/>
          <a:p>
            <a:pPr marL="0" indent="0" algn="ctr">
              <a:buNone/>
            </a:pPr>
            <a:r>
              <a:rPr lang="en-US" sz="2000" b="1" dirty="0">
                <a:solidFill>
                  <a:srgbClr val="FFFFFF"/>
                </a:solidFill>
                <a:ea typeface="Cambria" pitchFamily="34" charset="-122"/>
                <a:cs typeface="Cambria" pitchFamily="34" charset="-120"/>
              </a:rPr>
              <a:t>1</a:t>
            </a:r>
            <a:endParaRPr lang="en-US" sz="2000" dirty="0"/>
          </a:p>
        </p:txBody>
      </p:sp>
      <p:sp>
        <p:nvSpPr>
          <p:cNvPr id="8" name="Text 6"/>
          <p:cNvSpPr/>
          <p:nvPr/>
        </p:nvSpPr>
        <p:spPr>
          <a:xfrm>
            <a:off x="1554480" y="2331720"/>
            <a:ext cx="2194560" cy="457200"/>
          </a:xfrm>
          <a:prstGeom prst="rect">
            <a:avLst/>
          </a:prstGeom>
          <a:noFill/>
          <a:ln/>
        </p:spPr>
        <p:txBody>
          <a:bodyPr wrap="square" rtlCol="0" anchor="ctr"/>
          <a:lstStyle/>
          <a:p>
            <a:pPr marL="0" indent="0">
              <a:buNone/>
            </a:pPr>
            <a:r>
              <a:rPr lang="en-US" sz="1600" b="1" dirty="0">
                <a:solidFill>
                  <a:srgbClr val="1B2A34"/>
                </a:solidFill>
                <a:ea typeface="Calibri" pitchFamily="34" charset="-122"/>
                <a:cs typeface="Calibri" pitchFamily="34" charset="-120"/>
              </a:rPr>
              <a:t>Merge</a:t>
            </a:r>
            <a:endParaRPr lang="en-US" sz="1600" dirty="0"/>
          </a:p>
        </p:txBody>
      </p:sp>
      <p:sp>
        <p:nvSpPr>
          <p:cNvPr id="9" name="Text 7"/>
          <p:cNvSpPr/>
          <p:nvPr/>
        </p:nvSpPr>
        <p:spPr>
          <a:xfrm>
            <a:off x="914400" y="3017520"/>
            <a:ext cx="2743200" cy="365760"/>
          </a:xfrm>
          <a:prstGeom prst="rect">
            <a:avLst/>
          </a:prstGeom>
          <a:noFill/>
          <a:ln/>
        </p:spPr>
        <p:txBody>
          <a:bodyPr wrap="square" rtlCol="0" anchor="ctr"/>
          <a:lstStyle/>
          <a:p>
            <a:pPr marL="0" indent="0">
              <a:buNone/>
            </a:pPr>
            <a:r>
              <a:rPr lang="en-US" sz="1400" b="1" dirty="0">
                <a:solidFill>
                  <a:srgbClr val="2D6A4F"/>
                </a:solidFill>
                <a:ea typeface="Courier New" pitchFamily="34" charset="-122"/>
                <a:cs typeface="Courier New" pitchFamily="34" charset="-120"/>
              </a:rPr>
              <a:t>join_data.py</a:t>
            </a:r>
            <a:endParaRPr lang="en-US" sz="1400" dirty="0"/>
          </a:p>
        </p:txBody>
      </p:sp>
      <p:sp>
        <p:nvSpPr>
          <p:cNvPr id="10" name="Text 8"/>
          <p:cNvSpPr/>
          <p:nvPr/>
        </p:nvSpPr>
        <p:spPr>
          <a:xfrm>
            <a:off x="914400" y="3429000"/>
            <a:ext cx="2743200" cy="1143000"/>
          </a:xfrm>
          <a:prstGeom prst="rect">
            <a:avLst/>
          </a:prstGeom>
          <a:noFill/>
          <a:ln/>
        </p:spPr>
        <p:txBody>
          <a:bodyPr wrap="square" rtlCol="0" anchor="t"/>
          <a:lstStyle/>
          <a:p>
            <a:pPr marL="0" indent="0">
              <a:lnSpc>
                <a:spcPct val="108000"/>
              </a:lnSpc>
              <a:buNone/>
            </a:pPr>
            <a:r>
              <a:rPr lang="en-US" sz="1250" dirty="0">
                <a:solidFill>
                  <a:srgbClr val="1B2A34"/>
                </a:solidFill>
                <a:ea typeface="Calibri" pitchFamily="34" charset="-122"/>
                <a:cs typeface="Calibri" pitchFamily="34" charset="-120"/>
              </a:rPr>
              <a:t>Matched FBref performance stats to Transfermarkt market values </a:t>
            </a:r>
          </a:p>
          <a:p>
            <a:pPr marL="0" indent="0">
              <a:lnSpc>
                <a:spcPct val="108000"/>
              </a:lnSpc>
              <a:buNone/>
            </a:pPr>
            <a:r>
              <a:rPr lang="en-US" sz="1250" dirty="0">
                <a:solidFill>
                  <a:srgbClr val="1B2A34"/>
                </a:solidFill>
                <a:ea typeface="Calibri" pitchFamily="34" charset="-122"/>
                <a:cs typeface="Calibri" pitchFamily="34" charset="-120"/>
              </a:rPr>
              <a:t>(~88% matched)</a:t>
            </a:r>
            <a:endParaRPr lang="en-US" sz="1250" dirty="0"/>
          </a:p>
        </p:txBody>
      </p:sp>
      <p:sp>
        <p:nvSpPr>
          <p:cNvPr id="11" name="Text 9"/>
          <p:cNvSpPr/>
          <p:nvPr/>
        </p:nvSpPr>
        <p:spPr>
          <a:xfrm>
            <a:off x="3931920" y="2057400"/>
            <a:ext cx="502920" cy="2697480"/>
          </a:xfrm>
          <a:prstGeom prst="rect">
            <a:avLst/>
          </a:prstGeom>
          <a:noFill/>
          <a:ln/>
        </p:spPr>
        <p:txBody>
          <a:bodyPr wrap="square" rtlCol="0" anchor="ctr"/>
          <a:lstStyle/>
          <a:p>
            <a:pPr marL="0" indent="0" algn="ctr">
              <a:buNone/>
            </a:pPr>
            <a:r>
              <a:rPr lang="en-US" sz="1800" dirty="0">
                <a:solidFill>
                  <a:srgbClr val="52B788"/>
                </a:solidFill>
              </a:rPr>
              <a:t>▶</a:t>
            </a:r>
            <a:endParaRPr lang="en-US" sz="1800" dirty="0"/>
          </a:p>
        </p:txBody>
      </p:sp>
      <p:sp>
        <p:nvSpPr>
          <p:cNvPr id="12" name="Shape 10"/>
          <p:cNvSpPr/>
          <p:nvPr/>
        </p:nvSpPr>
        <p:spPr>
          <a:xfrm>
            <a:off x="4434840" y="2057400"/>
            <a:ext cx="3291840" cy="2697480"/>
          </a:xfrm>
          <a:prstGeom prst="roundRect">
            <a:avLst>
              <a:gd name="adj" fmla="val 2373"/>
            </a:avLst>
          </a:prstGeom>
          <a:solidFill>
            <a:srgbClr val="F3F7F4"/>
          </a:solidFill>
          <a:ln w="12700">
            <a:solidFill>
              <a:srgbClr val="DDE7E1"/>
            </a:solidFill>
            <a:prstDash val="solid"/>
          </a:ln>
        </p:spPr>
        <p:txBody>
          <a:bodyPr/>
          <a:lstStyle/>
          <a:p>
            <a:endParaRPr lang="en-001"/>
          </a:p>
        </p:txBody>
      </p:sp>
      <p:sp>
        <p:nvSpPr>
          <p:cNvPr id="13" name="Shape 11"/>
          <p:cNvSpPr/>
          <p:nvPr/>
        </p:nvSpPr>
        <p:spPr>
          <a:xfrm>
            <a:off x="4663440" y="2286000"/>
            <a:ext cx="548640" cy="548640"/>
          </a:xfrm>
          <a:prstGeom prst="ellipse">
            <a:avLst/>
          </a:prstGeom>
          <a:solidFill>
            <a:srgbClr val="2D6A4F"/>
          </a:solidFill>
          <a:ln/>
        </p:spPr>
        <p:txBody>
          <a:bodyPr/>
          <a:lstStyle/>
          <a:p>
            <a:endParaRPr lang="en-001"/>
          </a:p>
        </p:txBody>
      </p:sp>
      <p:sp>
        <p:nvSpPr>
          <p:cNvPr id="14" name="Text 12"/>
          <p:cNvSpPr/>
          <p:nvPr/>
        </p:nvSpPr>
        <p:spPr>
          <a:xfrm>
            <a:off x="4663440" y="2286000"/>
            <a:ext cx="548640" cy="548640"/>
          </a:xfrm>
          <a:prstGeom prst="rect">
            <a:avLst/>
          </a:prstGeom>
          <a:noFill/>
          <a:ln/>
        </p:spPr>
        <p:txBody>
          <a:bodyPr wrap="square" rtlCol="0" anchor="ctr"/>
          <a:lstStyle/>
          <a:p>
            <a:pPr marL="0" indent="0" algn="ctr">
              <a:buNone/>
            </a:pPr>
            <a:r>
              <a:rPr lang="en-US" sz="2000" b="1" dirty="0">
                <a:solidFill>
                  <a:srgbClr val="FFFFFF"/>
                </a:solidFill>
                <a:ea typeface="Cambria" pitchFamily="34" charset="-122"/>
                <a:cs typeface="Cambria" pitchFamily="34" charset="-120"/>
              </a:rPr>
              <a:t>2</a:t>
            </a:r>
            <a:endParaRPr lang="en-US" sz="2000" dirty="0"/>
          </a:p>
        </p:txBody>
      </p:sp>
      <p:sp>
        <p:nvSpPr>
          <p:cNvPr id="15" name="Text 13"/>
          <p:cNvSpPr/>
          <p:nvPr/>
        </p:nvSpPr>
        <p:spPr>
          <a:xfrm>
            <a:off x="5349240" y="2331720"/>
            <a:ext cx="2194560" cy="457200"/>
          </a:xfrm>
          <a:prstGeom prst="rect">
            <a:avLst/>
          </a:prstGeom>
          <a:noFill/>
          <a:ln/>
        </p:spPr>
        <p:txBody>
          <a:bodyPr wrap="square" rtlCol="0" anchor="ctr"/>
          <a:lstStyle/>
          <a:p>
            <a:pPr marL="0" indent="0">
              <a:buNone/>
            </a:pPr>
            <a:r>
              <a:rPr lang="en-US" sz="1600" b="1" dirty="0">
                <a:solidFill>
                  <a:srgbClr val="1B2A34"/>
                </a:solidFill>
                <a:ea typeface="Calibri" pitchFamily="34" charset="-122"/>
                <a:cs typeface="Calibri" pitchFamily="34" charset="-120"/>
              </a:rPr>
              <a:t>Clean</a:t>
            </a:r>
            <a:endParaRPr lang="en-US" sz="1600" dirty="0"/>
          </a:p>
        </p:txBody>
      </p:sp>
      <p:sp>
        <p:nvSpPr>
          <p:cNvPr id="16" name="Text 14"/>
          <p:cNvSpPr/>
          <p:nvPr/>
        </p:nvSpPr>
        <p:spPr>
          <a:xfrm>
            <a:off x="4709160" y="3017520"/>
            <a:ext cx="2743200" cy="365760"/>
          </a:xfrm>
          <a:prstGeom prst="rect">
            <a:avLst/>
          </a:prstGeom>
          <a:noFill/>
          <a:ln/>
        </p:spPr>
        <p:txBody>
          <a:bodyPr wrap="square" rtlCol="0" anchor="ctr"/>
          <a:lstStyle/>
          <a:p>
            <a:pPr marL="0" indent="0">
              <a:buNone/>
            </a:pPr>
            <a:r>
              <a:rPr lang="en-US" sz="1400" b="1" dirty="0">
                <a:solidFill>
                  <a:srgbClr val="2D6A4F"/>
                </a:solidFill>
                <a:ea typeface="Courier New" pitchFamily="34" charset="-122"/>
                <a:cs typeface="Courier New" pitchFamily="34" charset="-120"/>
              </a:rPr>
              <a:t>clean_data.py</a:t>
            </a:r>
            <a:endParaRPr lang="en-US" sz="1400" dirty="0"/>
          </a:p>
        </p:txBody>
      </p:sp>
      <p:sp>
        <p:nvSpPr>
          <p:cNvPr id="17" name="Text 15"/>
          <p:cNvSpPr/>
          <p:nvPr/>
        </p:nvSpPr>
        <p:spPr>
          <a:xfrm>
            <a:off x="4709160" y="3429000"/>
            <a:ext cx="2743200" cy="1143000"/>
          </a:xfrm>
          <a:prstGeom prst="rect">
            <a:avLst/>
          </a:prstGeom>
          <a:noFill/>
          <a:ln/>
        </p:spPr>
        <p:txBody>
          <a:bodyPr wrap="square" rtlCol="0" anchor="t"/>
          <a:lstStyle/>
          <a:p>
            <a:pPr marL="0" indent="0">
              <a:lnSpc>
                <a:spcPct val="108000"/>
              </a:lnSpc>
              <a:buNone/>
            </a:pPr>
            <a:r>
              <a:rPr lang="en-US" sz="1250" dirty="0">
                <a:solidFill>
                  <a:srgbClr val="1B2A34"/>
                </a:solidFill>
                <a:ea typeface="Calibri" pitchFamily="34" charset="-122"/>
                <a:cs typeface="Calibri" pitchFamily="34" charset="-120"/>
              </a:rPr>
              <a:t>Dropped duplicate and unused columns, unnecessary columns then ordered them logically</a:t>
            </a:r>
          </a:p>
          <a:p>
            <a:pPr marL="0" indent="0">
              <a:lnSpc>
                <a:spcPct val="108000"/>
              </a:lnSpc>
              <a:buNone/>
            </a:pPr>
            <a:r>
              <a:rPr lang="en-US" sz="1250" dirty="0">
                <a:solidFill>
                  <a:srgbClr val="1B2A34"/>
                </a:solidFill>
                <a:ea typeface="Calibri" pitchFamily="34" charset="-122"/>
                <a:cs typeface="Calibri" pitchFamily="34" charset="-120"/>
              </a:rPr>
              <a:t>identity → stats → market value</a:t>
            </a:r>
            <a:endParaRPr lang="en-US" sz="1250" dirty="0"/>
          </a:p>
        </p:txBody>
      </p:sp>
      <p:sp>
        <p:nvSpPr>
          <p:cNvPr id="18" name="Text 16"/>
          <p:cNvSpPr/>
          <p:nvPr/>
        </p:nvSpPr>
        <p:spPr>
          <a:xfrm>
            <a:off x="7726680" y="2057400"/>
            <a:ext cx="502920" cy="2697480"/>
          </a:xfrm>
          <a:prstGeom prst="rect">
            <a:avLst/>
          </a:prstGeom>
          <a:noFill/>
          <a:ln/>
        </p:spPr>
        <p:txBody>
          <a:bodyPr wrap="square" rtlCol="0" anchor="ctr"/>
          <a:lstStyle/>
          <a:p>
            <a:pPr marL="0" indent="0" algn="ctr">
              <a:buNone/>
            </a:pPr>
            <a:r>
              <a:rPr lang="en-US" sz="1800" dirty="0">
                <a:solidFill>
                  <a:srgbClr val="52B788"/>
                </a:solidFill>
              </a:rPr>
              <a:t>▶</a:t>
            </a:r>
            <a:endParaRPr lang="en-US" sz="1800" dirty="0"/>
          </a:p>
        </p:txBody>
      </p:sp>
      <p:sp>
        <p:nvSpPr>
          <p:cNvPr id="19" name="Shape 17"/>
          <p:cNvSpPr/>
          <p:nvPr/>
        </p:nvSpPr>
        <p:spPr>
          <a:xfrm>
            <a:off x="8229600" y="2057400"/>
            <a:ext cx="3291840" cy="2697480"/>
          </a:xfrm>
          <a:prstGeom prst="roundRect">
            <a:avLst>
              <a:gd name="adj" fmla="val 2373"/>
            </a:avLst>
          </a:prstGeom>
          <a:solidFill>
            <a:srgbClr val="F3F7F4"/>
          </a:solidFill>
          <a:ln w="12700">
            <a:solidFill>
              <a:srgbClr val="DDE7E1"/>
            </a:solidFill>
            <a:prstDash val="solid"/>
          </a:ln>
        </p:spPr>
        <p:txBody>
          <a:bodyPr/>
          <a:lstStyle/>
          <a:p>
            <a:endParaRPr lang="en-001"/>
          </a:p>
        </p:txBody>
      </p:sp>
      <p:sp>
        <p:nvSpPr>
          <p:cNvPr id="20" name="Shape 18"/>
          <p:cNvSpPr/>
          <p:nvPr/>
        </p:nvSpPr>
        <p:spPr>
          <a:xfrm>
            <a:off x="8458200" y="2286000"/>
            <a:ext cx="548640" cy="548640"/>
          </a:xfrm>
          <a:prstGeom prst="ellipse">
            <a:avLst/>
          </a:prstGeom>
          <a:solidFill>
            <a:srgbClr val="2D6A4F"/>
          </a:solidFill>
          <a:ln/>
        </p:spPr>
        <p:txBody>
          <a:bodyPr/>
          <a:lstStyle/>
          <a:p>
            <a:endParaRPr lang="en-001"/>
          </a:p>
        </p:txBody>
      </p:sp>
      <p:sp>
        <p:nvSpPr>
          <p:cNvPr id="21" name="Text 19"/>
          <p:cNvSpPr/>
          <p:nvPr/>
        </p:nvSpPr>
        <p:spPr>
          <a:xfrm>
            <a:off x="8458200" y="2286000"/>
            <a:ext cx="548640" cy="548640"/>
          </a:xfrm>
          <a:prstGeom prst="rect">
            <a:avLst/>
          </a:prstGeom>
          <a:noFill/>
          <a:ln/>
        </p:spPr>
        <p:txBody>
          <a:bodyPr wrap="square" rtlCol="0" anchor="ctr"/>
          <a:lstStyle/>
          <a:p>
            <a:pPr marL="0" indent="0" algn="ctr">
              <a:buNone/>
            </a:pPr>
            <a:r>
              <a:rPr lang="en-US" sz="2000" b="1" dirty="0">
                <a:solidFill>
                  <a:srgbClr val="FFFFFF"/>
                </a:solidFill>
                <a:ea typeface="Cambria" pitchFamily="34" charset="-122"/>
                <a:cs typeface="Cambria" pitchFamily="34" charset="-120"/>
              </a:rPr>
              <a:t>3</a:t>
            </a:r>
            <a:endParaRPr lang="en-US" sz="2000" dirty="0"/>
          </a:p>
        </p:txBody>
      </p:sp>
      <p:sp>
        <p:nvSpPr>
          <p:cNvPr id="22" name="Text 20"/>
          <p:cNvSpPr/>
          <p:nvPr/>
        </p:nvSpPr>
        <p:spPr>
          <a:xfrm>
            <a:off x="9144000" y="2331720"/>
            <a:ext cx="2194560" cy="457200"/>
          </a:xfrm>
          <a:prstGeom prst="rect">
            <a:avLst/>
          </a:prstGeom>
          <a:noFill/>
          <a:ln/>
        </p:spPr>
        <p:txBody>
          <a:bodyPr wrap="square" rtlCol="0" anchor="ctr"/>
          <a:lstStyle/>
          <a:p>
            <a:pPr marL="0" indent="0">
              <a:buNone/>
            </a:pPr>
            <a:r>
              <a:rPr lang="en-US" sz="1600" b="1" dirty="0">
                <a:solidFill>
                  <a:srgbClr val="1B2A34"/>
                </a:solidFill>
                <a:ea typeface="Calibri" pitchFamily="34" charset="-122"/>
                <a:cs typeface="Calibri" pitchFamily="34" charset="-120"/>
              </a:rPr>
              <a:t>Rename</a:t>
            </a:r>
            <a:endParaRPr lang="en-US" sz="1600" dirty="0"/>
          </a:p>
        </p:txBody>
      </p:sp>
      <p:sp>
        <p:nvSpPr>
          <p:cNvPr id="23" name="Text 21"/>
          <p:cNvSpPr/>
          <p:nvPr/>
        </p:nvSpPr>
        <p:spPr>
          <a:xfrm>
            <a:off x="8503920" y="3017520"/>
            <a:ext cx="2743200" cy="365760"/>
          </a:xfrm>
          <a:prstGeom prst="rect">
            <a:avLst/>
          </a:prstGeom>
          <a:noFill/>
          <a:ln/>
        </p:spPr>
        <p:txBody>
          <a:bodyPr wrap="square" rtlCol="0" anchor="ctr"/>
          <a:lstStyle/>
          <a:p>
            <a:pPr marL="0" indent="0">
              <a:buNone/>
            </a:pPr>
            <a:r>
              <a:rPr lang="en-US" sz="1400" b="1" dirty="0">
                <a:solidFill>
                  <a:srgbClr val="2D6A4F"/>
                </a:solidFill>
                <a:ea typeface="Courier New" pitchFamily="34" charset="-122"/>
                <a:cs typeface="Courier New" pitchFamily="34" charset="-120"/>
              </a:rPr>
              <a:t>rename_cols.py</a:t>
            </a:r>
            <a:endParaRPr lang="en-US" sz="1400" dirty="0"/>
          </a:p>
        </p:txBody>
      </p:sp>
      <p:sp>
        <p:nvSpPr>
          <p:cNvPr id="24" name="Text 22"/>
          <p:cNvSpPr/>
          <p:nvPr/>
        </p:nvSpPr>
        <p:spPr>
          <a:xfrm>
            <a:off x="8503920" y="3429000"/>
            <a:ext cx="2743200" cy="1143000"/>
          </a:xfrm>
          <a:prstGeom prst="rect">
            <a:avLst/>
          </a:prstGeom>
          <a:noFill/>
          <a:ln/>
        </p:spPr>
        <p:txBody>
          <a:bodyPr wrap="square" rtlCol="0" anchor="t"/>
          <a:lstStyle/>
          <a:p>
            <a:pPr marL="0" indent="0">
              <a:lnSpc>
                <a:spcPct val="108000"/>
              </a:lnSpc>
              <a:buNone/>
            </a:pPr>
            <a:r>
              <a:rPr lang="en-US" sz="1250" dirty="0">
                <a:solidFill>
                  <a:srgbClr val="1B2A34"/>
                </a:solidFill>
                <a:ea typeface="Calibri" pitchFamily="34" charset="-122"/>
                <a:cs typeface="Calibri" pitchFamily="34" charset="-120"/>
              </a:rPr>
              <a:t>Converted cryptic FBref codes into readable labels (Gls → Goals, PPM → Points per Match)</a:t>
            </a:r>
            <a:endParaRPr lang="en-US" sz="1250" dirty="0"/>
          </a:p>
        </p:txBody>
      </p:sp>
      <p:sp>
        <p:nvSpPr>
          <p:cNvPr id="25" name="Shape 23"/>
          <p:cNvSpPr/>
          <p:nvPr/>
        </p:nvSpPr>
        <p:spPr>
          <a:xfrm>
            <a:off x="640080" y="5074920"/>
            <a:ext cx="10881360" cy="1188720"/>
          </a:xfrm>
          <a:prstGeom prst="roundRect">
            <a:avLst>
              <a:gd name="adj" fmla="val 6154"/>
            </a:avLst>
          </a:prstGeom>
          <a:solidFill>
            <a:srgbClr val="1B4332"/>
          </a:solidFill>
          <a:ln/>
        </p:spPr>
        <p:txBody>
          <a:bodyPr/>
          <a:lstStyle/>
          <a:p>
            <a:endParaRPr lang="en-001"/>
          </a:p>
        </p:txBody>
      </p:sp>
      <p:sp>
        <p:nvSpPr>
          <p:cNvPr id="26" name="Text 24"/>
          <p:cNvSpPr/>
          <p:nvPr/>
        </p:nvSpPr>
        <p:spPr>
          <a:xfrm>
            <a:off x="1005840" y="5257800"/>
            <a:ext cx="10058400" cy="457200"/>
          </a:xfrm>
          <a:prstGeom prst="rect">
            <a:avLst/>
          </a:prstGeom>
          <a:noFill/>
          <a:ln/>
        </p:spPr>
        <p:txBody>
          <a:bodyPr wrap="square" rtlCol="0" anchor="ctr"/>
          <a:lstStyle/>
          <a:p>
            <a:pPr marL="0" indent="0">
              <a:buNone/>
            </a:pPr>
            <a:r>
              <a:rPr lang="en-US" sz="1500" dirty="0">
                <a:solidFill>
                  <a:srgbClr val="D8F3DC"/>
                </a:solidFill>
                <a:ea typeface="Calibri" pitchFamily="34" charset="-122"/>
                <a:cs typeface="Calibri" pitchFamily="34" charset="-120"/>
              </a:rPr>
              <a:t>Result:  </a:t>
            </a:r>
            <a:r>
              <a:rPr lang="en-US" sz="1800" b="1" dirty="0">
                <a:solidFill>
                  <a:srgbClr val="52B788"/>
                </a:solidFill>
                <a:ea typeface="Courier New" pitchFamily="34" charset="-122"/>
                <a:cs typeface="Courier New" pitchFamily="34" charset="-120"/>
              </a:rPr>
              <a:t>player_valuation_dataset.csv</a:t>
            </a:r>
            <a:endParaRPr lang="en-US" sz="1500" dirty="0"/>
          </a:p>
        </p:txBody>
      </p:sp>
      <p:sp>
        <p:nvSpPr>
          <p:cNvPr id="27" name="Text 25"/>
          <p:cNvSpPr/>
          <p:nvPr/>
        </p:nvSpPr>
        <p:spPr>
          <a:xfrm>
            <a:off x="1005840" y="5715000"/>
            <a:ext cx="10241280" cy="411480"/>
          </a:xfrm>
          <a:prstGeom prst="rect">
            <a:avLst/>
          </a:prstGeom>
          <a:noFill/>
          <a:ln/>
        </p:spPr>
        <p:txBody>
          <a:bodyPr wrap="square" rtlCol="0" anchor="ctr"/>
          <a:lstStyle/>
          <a:p>
            <a:pPr marL="0" indent="0">
              <a:buNone/>
            </a:pPr>
            <a:r>
              <a:rPr lang="en-US" sz="1350" dirty="0">
                <a:solidFill>
                  <a:srgbClr val="FFFFFF"/>
                </a:solidFill>
                <a:ea typeface="Calibri" pitchFamily="34" charset="-122"/>
                <a:cs typeface="Calibri" pitchFamily="34" charset="-120"/>
              </a:rPr>
              <a:t>2,839 players  ·  71 columns  ·  performance + market value in one place  ·  clean dataset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EXPLORATORY DATA ANALYSIS (EDA)</a:t>
            </a:r>
            <a:endParaRPr lang="en-US" sz="1200" dirty="0"/>
          </a:p>
        </p:txBody>
      </p:sp>
      <p:sp>
        <p:nvSpPr>
          <p:cNvPr id="3" name="Text 1"/>
          <p:cNvSpPr/>
          <p:nvPr/>
        </p:nvSpPr>
        <p:spPr>
          <a:xfrm>
            <a:off x="640080" y="658368"/>
            <a:ext cx="10972800" cy="731520"/>
          </a:xfrm>
          <a:prstGeom prst="rect">
            <a:avLst/>
          </a:prstGeom>
          <a:noFill/>
          <a:ln/>
        </p:spPr>
        <p:txBody>
          <a:bodyPr wrap="square" rtlCol="0" anchor="ctr"/>
          <a:lstStyle/>
          <a:p>
            <a:r>
              <a:rPr lang="en-US" sz="3200" b="1" dirty="0">
                <a:solidFill>
                  <a:srgbClr val="1B2A34"/>
                </a:solidFill>
                <a:latin typeface="Cambria" pitchFamily="34" charset="0"/>
                <a:ea typeface="Cambria" pitchFamily="34" charset="-122"/>
                <a:cs typeface="Cambria" pitchFamily="34" charset="-120"/>
              </a:rPr>
              <a:t>What the Data tells Us</a:t>
            </a:r>
            <a:endParaRPr lang="en-US" sz="3200" dirty="0"/>
          </a:p>
        </p:txBody>
      </p:sp>
      <p:sp>
        <p:nvSpPr>
          <p:cNvPr id="4" name="Text 2"/>
          <p:cNvSpPr/>
          <p:nvPr/>
        </p:nvSpPr>
        <p:spPr>
          <a:xfrm>
            <a:off x="640080" y="1417320"/>
            <a:ext cx="10972800" cy="457200"/>
          </a:xfrm>
          <a:prstGeom prst="rect">
            <a:avLst/>
          </a:prstGeom>
          <a:noFill/>
          <a:ln/>
        </p:spPr>
        <p:txBody>
          <a:bodyPr wrap="square" rtlCol="0" anchor="ctr"/>
          <a:lstStyle/>
          <a:p>
            <a:r>
              <a:rPr lang="en-US" sz="1600" dirty="0"/>
              <a:t>U</a:t>
            </a:r>
            <a:r>
              <a:rPr lang="en-001" sz="1600" dirty="0" err="1"/>
              <a:t>nderstand</a:t>
            </a:r>
            <a:r>
              <a:rPr lang="en-001" sz="1600" dirty="0"/>
              <a:t> the data first</a:t>
            </a:r>
            <a:r>
              <a:rPr lang="en-US" sz="1600" dirty="0"/>
              <a:t> and how they corelates each other. </a:t>
            </a:r>
            <a:r>
              <a:rPr lang="en-US" sz="1500" dirty="0">
                <a:solidFill>
                  <a:srgbClr val="5F6B72"/>
                </a:solidFill>
                <a:latin typeface="Calibri" pitchFamily="34" charset="0"/>
                <a:ea typeface="Calibri" pitchFamily="34" charset="-122"/>
                <a:cs typeface="Calibri" pitchFamily="34" charset="-120"/>
              </a:rPr>
              <a:t>  </a:t>
            </a:r>
            <a:endParaRPr lang="en-US" sz="1500" dirty="0"/>
          </a:p>
        </p:txBody>
      </p:sp>
      <p:sp>
        <p:nvSpPr>
          <p:cNvPr id="5" name="Text 3"/>
          <p:cNvSpPr/>
          <p:nvPr/>
        </p:nvSpPr>
        <p:spPr>
          <a:xfrm>
            <a:off x="640080" y="1943100"/>
            <a:ext cx="5120640" cy="365760"/>
          </a:xfrm>
          <a:prstGeom prst="rect">
            <a:avLst/>
          </a:prstGeom>
          <a:noFill/>
          <a:ln/>
        </p:spPr>
        <p:txBody>
          <a:bodyPr wrap="square" rtlCol="0" anchor="ctr"/>
          <a:lstStyle/>
          <a:p>
            <a:pPr marL="0" indent="0">
              <a:buNone/>
            </a:pPr>
            <a:r>
              <a:rPr lang="en-US" sz="1600" b="1" dirty="0">
                <a:solidFill>
                  <a:srgbClr val="2D6A4F"/>
                </a:solidFill>
                <a:latin typeface="Calibri" pitchFamily="34" charset="0"/>
                <a:ea typeface="Calibri" pitchFamily="34" charset="-122"/>
                <a:cs typeface="Calibri" pitchFamily="34" charset="-120"/>
              </a:rPr>
              <a:t>What the script does</a:t>
            </a:r>
            <a:endParaRPr lang="en-US" sz="1600" dirty="0"/>
          </a:p>
        </p:txBody>
      </p:sp>
      <p:sp>
        <p:nvSpPr>
          <p:cNvPr id="6" name="Text 4"/>
          <p:cNvSpPr/>
          <p:nvPr/>
        </p:nvSpPr>
        <p:spPr>
          <a:xfrm>
            <a:off x="640080" y="2331720"/>
            <a:ext cx="5120640" cy="1371600"/>
          </a:xfrm>
          <a:prstGeom prst="rect">
            <a:avLst/>
          </a:prstGeom>
          <a:noFill/>
          <a:ln/>
        </p:spPr>
        <p:txBody>
          <a:bodyPr wrap="square" rtlCol="0" anchor="t"/>
          <a:lstStyle/>
          <a:p>
            <a:pPr marL="342900" indent="-342900">
              <a:spcAft>
                <a:spcPts val="800"/>
              </a:spcAft>
              <a:buSzPct val="100000"/>
              <a:buChar char="•"/>
            </a:pPr>
            <a:r>
              <a:rPr lang="en-US" sz="1400" dirty="0">
                <a:solidFill>
                  <a:srgbClr val="1B2A34"/>
                </a:solidFill>
                <a:latin typeface="Calibri" pitchFamily="34" charset="0"/>
                <a:ea typeface="Calibri" pitchFamily="34" charset="-122"/>
                <a:cs typeface="Calibri" pitchFamily="34" charset="-120"/>
              </a:rPr>
              <a:t>Loads the merged dataset</a:t>
            </a:r>
          </a:p>
          <a:p>
            <a:pPr marL="342900" indent="-342900">
              <a:spcAft>
                <a:spcPts val="800"/>
              </a:spcAft>
              <a:buSzPct val="100000"/>
              <a:buChar char="•"/>
            </a:pPr>
            <a:r>
              <a:rPr lang="en-001" sz="1400" dirty="0"/>
              <a:t>converts the market value into proper numbers, and it creates a log-transformed version of market value</a:t>
            </a:r>
            <a:endParaRPr lang="en-US" sz="1400" dirty="0"/>
          </a:p>
          <a:p>
            <a:pPr marL="342900" indent="-342900">
              <a:spcAft>
                <a:spcPts val="800"/>
              </a:spcAft>
              <a:buSzPct val="100000"/>
              <a:buChar char="•"/>
            </a:pPr>
            <a:r>
              <a:rPr lang="en-US" sz="1400" dirty="0">
                <a:solidFill>
                  <a:srgbClr val="1B2A34"/>
                </a:solidFill>
                <a:latin typeface="Calibri" pitchFamily="34" charset="0"/>
                <a:ea typeface="Calibri" pitchFamily="34" charset="-122"/>
                <a:cs typeface="Calibri" pitchFamily="34" charset="-120"/>
              </a:rPr>
              <a:t>Log-transforms market value (it's heavily skewed).</a:t>
            </a:r>
            <a:endParaRPr lang="en-US" sz="1400" dirty="0"/>
          </a:p>
          <a:p>
            <a:pPr marL="342900" indent="-342900">
              <a:spcAft>
                <a:spcPts val="800"/>
              </a:spcAft>
              <a:buSzPct val="100000"/>
              <a:buChar char="•"/>
            </a:pPr>
            <a:r>
              <a:rPr lang="en-US" sz="1400" dirty="0">
                <a:solidFill>
                  <a:srgbClr val="1B2A34"/>
                </a:solidFill>
                <a:latin typeface="Calibri" pitchFamily="34" charset="0"/>
                <a:ea typeface="Calibri" pitchFamily="34" charset="-122"/>
                <a:cs typeface="Calibri" pitchFamily="34" charset="-120"/>
              </a:rPr>
              <a:t>Generates 12 charts across three themes:</a:t>
            </a:r>
            <a:endParaRPr lang="en-US" sz="1400" dirty="0"/>
          </a:p>
        </p:txBody>
      </p:sp>
      <p:sp>
        <p:nvSpPr>
          <p:cNvPr id="7" name="Shape 5"/>
          <p:cNvSpPr/>
          <p:nvPr/>
        </p:nvSpPr>
        <p:spPr>
          <a:xfrm>
            <a:off x="640080" y="3886200"/>
            <a:ext cx="5120640" cy="777240"/>
          </a:xfrm>
          <a:prstGeom prst="roundRect">
            <a:avLst>
              <a:gd name="adj" fmla="val 5882"/>
            </a:avLst>
          </a:prstGeom>
          <a:solidFill>
            <a:srgbClr val="F3F7F4"/>
          </a:solidFill>
          <a:ln w="12700">
            <a:solidFill>
              <a:srgbClr val="DDE7E1"/>
            </a:solidFill>
            <a:prstDash val="solid"/>
          </a:ln>
        </p:spPr>
        <p:txBody>
          <a:bodyPr/>
          <a:lstStyle/>
          <a:p>
            <a:endParaRPr lang="en-001"/>
          </a:p>
        </p:txBody>
      </p:sp>
      <p:sp>
        <p:nvSpPr>
          <p:cNvPr id="8" name="Text 6"/>
          <p:cNvSpPr/>
          <p:nvPr/>
        </p:nvSpPr>
        <p:spPr>
          <a:xfrm>
            <a:off x="822960" y="3977640"/>
            <a:ext cx="1737360" cy="594360"/>
          </a:xfrm>
          <a:prstGeom prst="rect">
            <a:avLst/>
          </a:prstGeom>
          <a:noFill/>
          <a:ln/>
        </p:spPr>
        <p:txBody>
          <a:bodyPr wrap="square" rtlCol="0" anchor="ctr"/>
          <a:lstStyle/>
          <a:p>
            <a:pPr marL="0" indent="0">
              <a:buNone/>
            </a:pPr>
            <a:r>
              <a:rPr lang="en-US" sz="1350" b="1" dirty="0">
                <a:solidFill>
                  <a:srgbClr val="2D6A4F"/>
                </a:solidFill>
                <a:latin typeface="Calibri" pitchFamily="34" charset="0"/>
                <a:ea typeface="Calibri" pitchFamily="34" charset="-122"/>
                <a:cs typeface="Calibri" pitchFamily="34" charset="-120"/>
              </a:rPr>
              <a:t>Distribution</a:t>
            </a:r>
            <a:endParaRPr lang="en-US" sz="1350" dirty="0"/>
          </a:p>
        </p:txBody>
      </p:sp>
      <p:sp>
        <p:nvSpPr>
          <p:cNvPr id="9" name="Text 7"/>
          <p:cNvSpPr/>
          <p:nvPr/>
        </p:nvSpPr>
        <p:spPr>
          <a:xfrm>
            <a:off x="2514600" y="3977640"/>
            <a:ext cx="3108960" cy="594360"/>
          </a:xfrm>
          <a:prstGeom prst="rect">
            <a:avLst/>
          </a:prstGeom>
          <a:noFill/>
          <a:ln/>
        </p:spPr>
        <p:txBody>
          <a:bodyPr wrap="square" rtlCol="0" anchor="ctr"/>
          <a:lstStyle/>
          <a:p>
            <a:pPr marL="0" indent="0">
              <a:buNone/>
            </a:pPr>
            <a:r>
              <a:rPr lang="en-US" sz="1150" dirty="0">
                <a:solidFill>
                  <a:srgbClr val="1B2A34"/>
                </a:solidFill>
                <a:latin typeface="Calibri" pitchFamily="34" charset="0"/>
                <a:ea typeface="Calibri" pitchFamily="34" charset="-122"/>
                <a:cs typeface="Calibri" pitchFamily="34" charset="-120"/>
              </a:rPr>
              <a:t>How player values are spread</a:t>
            </a:r>
            <a:endParaRPr lang="en-US" sz="1150" dirty="0"/>
          </a:p>
        </p:txBody>
      </p:sp>
      <p:sp>
        <p:nvSpPr>
          <p:cNvPr id="10" name="Shape 8"/>
          <p:cNvSpPr/>
          <p:nvPr/>
        </p:nvSpPr>
        <p:spPr>
          <a:xfrm>
            <a:off x="640080" y="4782312"/>
            <a:ext cx="5120640" cy="777240"/>
          </a:xfrm>
          <a:prstGeom prst="roundRect">
            <a:avLst>
              <a:gd name="adj" fmla="val 5882"/>
            </a:avLst>
          </a:prstGeom>
          <a:solidFill>
            <a:srgbClr val="F3F7F4"/>
          </a:solidFill>
          <a:ln w="12700">
            <a:solidFill>
              <a:srgbClr val="DDE7E1"/>
            </a:solidFill>
            <a:prstDash val="solid"/>
          </a:ln>
        </p:spPr>
        <p:txBody>
          <a:bodyPr/>
          <a:lstStyle/>
          <a:p>
            <a:endParaRPr lang="en-001"/>
          </a:p>
        </p:txBody>
      </p:sp>
      <p:sp>
        <p:nvSpPr>
          <p:cNvPr id="11" name="Text 9"/>
          <p:cNvSpPr/>
          <p:nvPr/>
        </p:nvSpPr>
        <p:spPr>
          <a:xfrm>
            <a:off x="822960" y="4873752"/>
            <a:ext cx="1737360" cy="594360"/>
          </a:xfrm>
          <a:prstGeom prst="rect">
            <a:avLst/>
          </a:prstGeom>
          <a:noFill/>
          <a:ln/>
        </p:spPr>
        <p:txBody>
          <a:bodyPr wrap="square" rtlCol="0" anchor="ctr"/>
          <a:lstStyle/>
          <a:p>
            <a:pPr marL="0" indent="0">
              <a:buNone/>
            </a:pPr>
            <a:r>
              <a:rPr lang="en-US" sz="1350" b="1" dirty="0">
                <a:solidFill>
                  <a:srgbClr val="2D6A4F"/>
                </a:solidFill>
                <a:latin typeface="Calibri" pitchFamily="34" charset="0"/>
                <a:ea typeface="Calibri" pitchFamily="34" charset="-122"/>
                <a:cs typeface="Calibri" pitchFamily="34" charset="-120"/>
              </a:rPr>
              <a:t>Relationships</a:t>
            </a:r>
            <a:endParaRPr lang="en-US" sz="1350" dirty="0"/>
          </a:p>
        </p:txBody>
      </p:sp>
      <p:sp>
        <p:nvSpPr>
          <p:cNvPr id="12" name="Text 10"/>
          <p:cNvSpPr/>
          <p:nvPr/>
        </p:nvSpPr>
        <p:spPr>
          <a:xfrm>
            <a:off x="2514600" y="4873752"/>
            <a:ext cx="3108960" cy="594360"/>
          </a:xfrm>
          <a:prstGeom prst="rect">
            <a:avLst/>
          </a:prstGeom>
          <a:noFill/>
          <a:ln/>
        </p:spPr>
        <p:txBody>
          <a:bodyPr wrap="square" rtlCol="0" anchor="ctr"/>
          <a:lstStyle/>
          <a:p>
            <a:pPr marL="0" indent="0">
              <a:buNone/>
            </a:pPr>
            <a:r>
              <a:rPr lang="en-US" sz="1150" dirty="0">
                <a:solidFill>
                  <a:srgbClr val="1B2A34"/>
                </a:solidFill>
                <a:latin typeface="Calibri" pitchFamily="34" charset="0"/>
                <a:ea typeface="Calibri" pitchFamily="34" charset="-122"/>
                <a:cs typeface="Calibri" pitchFamily="34" charset="-120"/>
              </a:rPr>
              <a:t>Value vs. age, goals, position, and leagues</a:t>
            </a:r>
            <a:endParaRPr lang="en-US" sz="1150" dirty="0"/>
          </a:p>
        </p:txBody>
      </p:sp>
      <p:sp>
        <p:nvSpPr>
          <p:cNvPr id="13" name="Shape 11"/>
          <p:cNvSpPr/>
          <p:nvPr/>
        </p:nvSpPr>
        <p:spPr>
          <a:xfrm>
            <a:off x="640080" y="5678424"/>
            <a:ext cx="5120640" cy="777240"/>
          </a:xfrm>
          <a:prstGeom prst="roundRect">
            <a:avLst>
              <a:gd name="adj" fmla="val 5882"/>
            </a:avLst>
          </a:prstGeom>
          <a:solidFill>
            <a:srgbClr val="F3F7F4"/>
          </a:solidFill>
          <a:ln w="12700">
            <a:solidFill>
              <a:srgbClr val="DDE7E1"/>
            </a:solidFill>
            <a:prstDash val="solid"/>
          </a:ln>
        </p:spPr>
        <p:txBody>
          <a:bodyPr/>
          <a:lstStyle/>
          <a:p>
            <a:endParaRPr lang="en-001"/>
          </a:p>
        </p:txBody>
      </p:sp>
      <p:sp>
        <p:nvSpPr>
          <p:cNvPr id="14" name="Text 12"/>
          <p:cNvSpPr/>
          <p:nvPr/>
        </p:nvSpPr>
        <p:spPr>
          <a:xfrm>
            <a:off x="822960" y="5769864"/>
            <a:ext cx="1737360" cy="594360"/>
          </a:xfrm>
          <a:prstGeom prst="rect">
            <a:avLst/>
          </a:prstGeom>
          <a:noFill/>
          <a:ln/>
        </p:spPr>
        <p:txBody>
          <a:bodyPr wrap="square" rtlCol="0" anchor="ctr"/>
          <a:lstStyle/>
          <a:p>
            <a:pPr marL="0" indent="0">
              <a:buNone/>
            </a:pPr>
            <a:r>
              <a:rPr lang="en-US" sz="1350" b="1" dirty="0">
                <a:solidFill>
                  <a:srgbClr val="2D6A4F"/>
                </a:solidFill>
                <a:latin typeface="Calibri" pitchFamily="34" charset="0"/>
                <a:ea typeface="Calibri" pitchFamily="34" charset="-122"/>
                <a:cs typeface="Calibri" pitchFamily="34" charset="-120"/>
              </a:rPr>
              <a:t> Values</a:t>
            </a:r>
            <a:endParaRPr lang="en-US" sz="1350" dirty="0"/>
          </a:p>
        </p:txBody>
      </p:sp>
      <p:sp>
        <p:nvSpPr>
          <p:cNvPr id="15" name="Text 13"/>
          <p:cNvSpPr/>
          <p:nvPr/>
        </p:nvSpPr>
        <p:spPr>
          <a:xfrm>
            <a:off x="2514600" y="5769864"/>
            <a:ext cx="3108960" cy="594360"/>
          </a:xfrm>
          <a:prstGeom prst="rect">
            <a:avLst/>
          </a:prstGeom>
          <a:noFill/>
          <a:ln/>
        </p:spPr>
        <p:txBody>
          <a:bodyPr wrap="square" rtlCol="0" anchor="ctr"/>
          <a:lstStyle/>
          <a:p>
            <a:pPr marL="0" indent="0">
              <a:buNone/>
            </a:pPr>
            <a:r>
              <a:rPr lang="en-US" sz="1150" dirty="0">
                <a:solidFill>
                  <a:srgbClr val="1B2A34"/>
                </a:solidFill>
                <a:latin typeface="Calibri" pitchFamily="34" charset="0"/>
                <a:ea typeface="Calibri" pitchFamily="34" charset="-122"/>
                <a:cs typeface="Calibri" pitchFamily="34" charset="-120"/>
              </a:rPr>
              <a:t>Correlation ranking, heatmap, age curves, league premium, contract length.</a:t>
            </a:r>
            <a:endParaRPr lang="en-US" sz="1150" dirty="0"/>
          </a:p>
        </p:txBody>
      </p:sp>
      <p:sp>
        <p:nvSpPr>
          <p:cNvPr id="16" name="Shape 14"/>
          <p:cNvSpPr/>
          <p:nvPr/>
        </p:nvSpPr>
        <p:spPr>
          <a:xfrm>
            <a:off x="6126480" y="2011680"/>
            <a:ext cx="5394960" cy="4443984"/>
          </a:xfrm>
          <a:prstGeom prst="roundRect">
            <a:avLst>
              <a:gd name="adj" fmla="val 1489"/>
            </a:avLst>
          </a:prstGeom>
          <a:solidFill>
            <a:srgbClr val="1B4332"/>
          </a:solidFill>
          <a:ln/>
        </p:spPr>
        <p:txBody>
          <a:bodyPr/>
          <a:lstStyle/>
          <a:p>
            <a:endParaRPr lang="en-001"/>
          </a:p>
        </p:txBody>
      </p:sp>
      <p:sp>
        <p:nvSpPr>
          <p:cNvPr id="17" name="Text 15"/>
          <p:cNvSpPr/>
          <p:nvPr/>
        </p:nvSpPr>
        <p:spPr>
          <a:xfrm>
            <a:off x="6400800" y="2194560"/>
            <a:ext cx="4846320" cy="411480"/>
          </a:xfrm>
          <a:prstGeom prst="rect">
            <a:avLst/>
          </a:prstGeom>
          <a:noFill/>
          <a:ln/>
        </p:spPr>
        <p:txBody>
          <a:bodyPr wrap="square" rtlCol="0" anchor="ctr"/>
          <a:lstStyle/>
          <a:p>
            <a:pPr marL="0" indent="0">
              <a:buNone/>
            </a:pPr>
            <a:r>
              <a:rPr lang="en-US" sz="1600" b="1" dirty="0">
                <a:solidFill>
                  <a:srgbClr val="52B788"/>
                </a:solidFill>
                <a:latin typeface="Calibri" pitchFamily="34" charset="0"/>
                <a:ea typeface="Calibri" pitchFamily="34" charset="-122"/>
                <a:cs typeface="Calibri" pitchFamily="34" charset="-120"/>
              </a:rPr>
              <a:t>What it revealed</a:t>
            </a:r>
            <a:endParaRPr lang="en-US" sz="1600" dirty="0"/>
          </a:p>
        </p:txBody>
      </p:sp>
      <p:sp>
        <p:nvSpPr>
          <p:cNvPr id="18" name="Text 16"/>
          <p:cNvSpPr/>
          <p:nvPr/>
        </p:nvSpPr>
        <p:spPr>
          <a:xfrm>
            <a:off x="6400800" y="2697480"/>
            <a:ext cx="274320" cy="640080"/>
          </a:xfrm>
          <a:prstGeom prst="rect">
            <a:avLst/>
          </a:prstGeom>
          <a:noFill/>
          <a:ln/>
        </p:spPr>
        <p:txBody>
          <a:bodyPr wrap="square" rtlCol="0" anchor="t"/>
          <a:lstStyle/>
          <a:p>
            <a:pPr marL="0" indent="0">
              <a:buNone/>
            </a:pPr>
            <a:r>
              <a:rPr lang="en-US" sz="1500" b="1" dirty="0">
                <a:solidFill>
                  <a:srgbClr val="52B788"/>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6675120" y="2697480"/>
            <a:ext cx="4663440" cy="685800"/>
          </a:xfrm>
          <a:prstGeom prst="rect">
            <a:avLst/>
          </a:prstGeom>
          <a:noFill/>
          <a:ln/>
        </p:spPr>
        <p:txBody>
          <a:bodyPr wrap="square" rtlCol="0" anchor="t"/>
          <a:lstStyle/>
          <a:p>
            <a:pPr lvl="0"/>
            <a:r>
              <a:rPr lang="en-001" sz="1400" dirty="0">
                <a:solidFill>
                  <a:schemeClr val="bg2"/>
                </a:solidFill>
              </a:rPr>
              <a:t>Values are lopsided </a:t>
            </a:r>
            <a:r>
              <a:rPr lang="en-US" sz="1400" dirty="0">
                <a:solidFill>
                  <a:schemeClr val="bg2"/>
                </a:solidFill>
              </a:rPr>
              <a:t>-</a:t>
            </a:r>
            <a:r>
              <a:rPr lang="en-001" sz="1400" dirty="0">
                <a:solidFill>
                  <a:schemeClr val="bg2"/>
                </a:solidFill>
              </a:rPr>
              <a:t> most players are worth under €5M, a few reach €200M. </a:t>
            </a:r>
            <a:r>
              <a:rPr lang="en-US" sz="1400" dirty="0">
                <a:solidFill>
                  <a:schemeClr val="bg2"/>
                </a:solidFill>
              </a:rPr>
              <a:t>Used</a:t>
            </a:r>
            <a:r>
              <a:rPr lang="en-001" sz="1400" dirty="0">
                <a:solidFill>
                  <a:schemeClr val="bg2"/>
                </a:solidFill>
              </a:rPr>
              <a:t> log-transform to balance it</a:t>
            </a:r>
          </a:p>
        </p:txBody>
      </p:sp>
      <p:sp>
        <p:nvSpPr>
          <p:cNvPr id="20" name="Text 18"/>
          <p:cNvSpPr/>
          <p:nvPr/>
        </p:nvSpPr>
        <p:spPr>
          <a:xfrm>
            <a:off x="6400800" y="3410712"/>
            <a:ext cx="274320" cy="640080"/>
          </a:xfrm>
          <a:prstGeom prst="rect">
            <a:avLst/>
          </a:prstGeom>
          <a:noFill/>
          <a:ln/>
        </p:spPr>
        <p:txBody>
          <a:bodyPr wrap="square" rtlCol="0" anchor="t"/>
          <a:lstStyle/>
          <a:p>
            <a:pPr marL="0" indent="0">
              <a:buNone/>
            </a:pPr>
            <a:r>
              <a:rPr lang="en-US" sz="1500" b="1" dirty="0">
                <a:solidFill>
                  <a:srgbClr val="52B788"/>
                </a:solidFill>
                <a:latin typeface="Calibri" pitchFamily="34" charset="0"/>
                <a:ea typeface="Calibri" pitchFamily="34" charset="-122"/>
                <a:cs typeface="Calibri" pitchFamily="34" charset="-120"/>
              </a:rPr>
              <a:t>•</a:t>
            </a:r>
            <a:endParaRPr lang="en-US" sz="1500" dirty="0"/>
          </a:p>
        </p:txBody>
      </p:sp>
      <p:sp>
        <p:nvSpPr>
          <p:cNvPr id="21" name="Text 19"/>
          <p:cNvSpPr/>
          <p:nvPr/>
        </p:nvSpPr>
        <p:spPr>
          <a:xfrm>
            <a:off x="6675120" y="3410712"/>
            <a:ext cx="4663440" cy="685800"/>
          </a:xfrm>
          <a:prstGeom prst="rect">
            <a:avLst/>
          </a:prstGeom>
          <a:noFill/>
          <a:ln/>
        </p:spPr>
        <p:txBody>
          <a:bodyPr wrap="square" rtlCol="0" anchor="t"/>
          <a:lstStyle/>
          <a:p>
            <a:pPr>
              <a:lnSpc>
                <a:spcPct val="103000"/>
              </a:lnSpc>
            </a:pPr>
            <a:r>
              <a:rPr lang="en-001" sz="1400" b="1" dirty="0">
                <a:solidFill>
                  <a:schemeClr val="bg2"/>
                </a:solidFill>
              </a:rPr>
              <a:t>Value peaks in the mid</a:t>
            </a:r>
            <a:r>
              <a:rPr lang="en-US" sz="1400" b="1" dirty="0">
                <a:solidFill>
                  <a:schemeClr val="bg2"/>
                </a:solidFill>
              </a:rPr>
              <a:t> </a:t>
            </a:r>
            <a:r>
              <a:rPr lang="en-001" sz="1400" b="1" dirty="0">
                <a:solidFill>
                  <a:schemeClr val="bg2"/>
                </a:solidFill>
              </a:rPr>
              <a:t>20s</a:t>
            </a:r>
            <a:r>
              <a:rPr lang="en-001" sz="1400" dirty="0">
                <a:solidFill>
                  <a:schemeClr val="bg2"/>
                </a:solidFill>
              </a:rPr>
              <a:t> </a:t>
            </a:r>
            <a:r>
              <a:rPr lang="en-US" sz="1400" dirty="0">
                <a:solidFill>
                  <a:schemeClr val="bg2"/>
                </a:solidFill>
              </a:rPr>
              <a:t>-</a:t>
            </a:r>
            <a:r>
              <a:rPr lang="en-001" sz="1400" dirty="0">
                <a:solidFill>
                  <a:schemeClr val="bg2"/>
                </a:solidFill>
              </a:rPr>
              <a:t> climbs to €25M around age 24–26, then falls</a:t>
            </a:r>
            <a:r>
              <a:rPr lang="en-US" sz="1400" dirty="0">
                <a:solidFill>
                  <a:schemeClr val="bg2"/>
                </a:solidFill>
              </a:rPr>
              <a:t>, </a:t>
            </a:r>
            <a:r>
              <a:rPr lang="en-001" sz="1400" dirty="0">
                <a:solidFill>
                  <a:schemeClr val="bg2"/>
                </a:solidFill>
              </a:rPr>
              <a:t> age is a major driver</a:t>
            </a:r>
            <a:endParaRPr lang="en-US" sz="1300" dirty="0">
              <a:solidFill>
                <a:schemeClr val="bg2"/>
              </a:solidFill>
            </a:endParaRPr>
          </a:p>
        </p:txBody>
      </p:sp>
      <p:sp>
        <p:nvSpPr>
          <p:cNvPr id="22" name="Text 20"/>
          <p:cNvSpPr/>
          <p:nvPr/>
        </p:nvSpPr>
        <p:spPr>
          <a:xfrm>
            <a:off x="6400800" y="4123944"/>
            <a:ext cx="274320" cy="640080"/>
          </a:xfrm>
          <a:prstGeom prst="rect">
            <a:avLst/>
          </a:prstGeom>
          <a:noFill/>
          <a:ln/>
        </p:spPr>
        <p:txBody>
          <a:bodyPr wrap="square" rtlCol="0" anchor="t"/>
          <a:lstStyle/>
          <a:p>
            <a:pPr marL="0" indent="0">
              <a:buNone/>
            </a:pPr>
            <a:r>
              <a:rPr lang="en-US" sz="1500" b="1" dirty="0">
                <a:solidFill>
                  <a:srgbClr val="52B788"/>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6675120" y="4123944"/>
            <a:ext cx="4663440" cy="685800"/>
          </a:xfrm>
          <a:prstGeom prst="rect">
            <a:avLst/>
          </a:prstGeom>
          <a:noFill/>
          <a:ln/>
        </p:spPr>
        <p:txBody>
          <a:bodyPr wrap="square" rtlCol="0" anchor="t"/>
          <a:lstStyle/>
          <a:p>
            <a:pPr>
              <a:lnSpc>
                <a:spcPct val="103000"/>
              </a:lnSpc>
            </a:pPr>
            <a:r>
              <a:rPr lang="en-001" sz="1400" b="1" dirty="0">
                <a:solidFill>
                  <a:schemeClr val="bg2"/>
                </a:solidFill>
              </a:rPr>
              <a:t>Premier League (2.4×)</a:t>
            </a:r>
            <a:r>
              <a:rPr lang="en-001" sz="1400" dirty="0">
                <a:solidFill>
                  <a:schemeClr val="bg2"/>
                </a:solidFill>
              </a:rPr>
              <a:t> </a:t>
            </a:r>
            <a:r>
              <a:rPr lang="en-US" sz="1400" dirty="0">
                <a:solidFill>
                  <a:schemeClr val="bg2"/>
                </a:solidFill>
              </a:rPr>
              <a:t>-</a:t>
            </a:r>
            <a:r>
              <a:rPr lang="en-001" sz="1400" dirty="0">
                <a:solidFill>
                  <a:schemeClr val="bg2"/>
                </a:solidFill>
              </a:rPr>
              <a:t> PL players average €24M vs €10M in other top leagues</a:t>
            </a:r>
            <a:endParaRPr lang="en-US" sz="1300" dirty="0">
              <a:solidFill>
                <a:schemeClr val="bg2"/>
              </a:solidFill>
            </a:endParaRPr>
          </a:p>
        </p:txBody>
      </p:sp>
      <p:sp>
        <p:nvSpPr>
          <p:cNvPr id="24" name="Text 22"/>
          <p:cNvSpPr/>
          <p:nvPr/>
        </p:nvSpPr>
        <p:spPr>
          <a:xfrm>
            <a:off x="6400800" y="4837176"/>
            <a:ext cx="274320" cy="640080"/>
          </a:xfrm>
          <a:prstGeom prst="rect">
            <a:avLst/>
          </a:prstGeom>
          <a:noFill/>
          <a:ln/>
        </p:spPr>
        <p:txBody>
          <a:bodyPr wrap="square" rtlCol="0" anchor="t"/>
          <a:lstStyle/>
          <a:p>
            <a:pPr marL="0" indent="0">
              <a:buNone/>
            </a:pPr>
            <a:r>
              <a:rPr lang="en-US" sz="1500" b="1" dirty="0">
                <a:solidFill>
                  <a:srgbClr val="52B788"/>
                </a:solidFill>
                <a:latin typeface="Calibri" pitchFamily="34" charset="0"/>
                <a:ea typeface="Calibri" pitchFamily="34" charset="-122"/>
                <a:cs typeface="Calibri" pitchFamily="34" charset="-120"/>
              </a:rPr>
              <a:t>•</a:t>
            </a:r>
            <a:endParaRPr lang="en-US" sz="1500" dirty="0"/>
          </a:p>
        </p:txBody>
      </p:sp>
      <p:sp>
        <p:nvSpPr>
          <p:cNvPr id="25" name="Text 23"/>
          <p:cNvSpPr/>
          <p:nvPr/>
        </p:nvSpPr>
        <p:spPr>
          <a:xfrm>
            <a:off x="6675120" y="4837176"/>
            <a:ext cx="4663440" cy="685800"/>
          </a:xfrm>
          <a:prstGeom prst="rect">
            <a:avLst/>
          </a:prstGeom>
          <a:noFill/>
          <a:ln/>
        </p:spPr>
        <p:txBody>
          <a:bodyPr wrap="square" rtlCol="0" anchor="t"/>
          <a:lstStyle/>
          <a:p>
            <a:pPr>
              <a:lnSpc>
                <a:spcPct val="103000"/>
              </a:lnSpc>
            </a:pPr>
            <a:r>
              <a:rPr lang="en-001" sz="1400" b="1" dirty="0">
                <a:solidFill>
                  <a:schemeClr val="bg2"/>
                </a:solidFill>
              </a:rPr>
              <a:t>Contract length matters</a:t>
            </a:r>
            <a:r>
              <a:rPr lang="en-001" sz="1400" dirty="0">
                <a:solidFill>
                  <a:schemeClr val="bg2"/>
                </a:solidFill>
              </a:rPr>
              <a:t> </a:t>
            </a:r>
            <a:r>
              <a:rPr lang="en-US" sz="1400" dirty="0">
                <a:solidFill>
                  <a:schemeClr val="bg2"/>
                </a:solidFill>
              </a:rPr>
              <a:t>-</a:t>
            </a:r>
            <a:r>
              <a:rPr lang="en-001" sz="1400" dirty="0">
                <a:solidFill>
                  <a:schemeClr val="bg2"/>
                </a:solidFill>
              </a:rPr>
              <a:t> average value rises from ~€6M (0 years left) to ~€36M (5 years left)</a:t>
            </a:r>
            <a:endParaRPr lang="en-US" sz="1300" dirty="0">
              <a:solidFill>
                <a:schemeClr val="bg2"/>
              </a:solidFill>
            </a:endParaRPr>
          </a:p>
        </p:txBody>
      </p:sp>
      <p:sp>
        <p:nvSpPr>
          <p:cNvPr id="26" name="Text 24"/>
          <p:cNvSpPr/>
          <p:nvPr/>
        </p:nvSpPr>
        <p:spPr>
          <a:xfrm>
            <a:off x="6400800" y="5550408"/>
            <a:ext cx="274320" cy="640080"/>
          </a:xfrm>
          <a:prstGeom prst="rect">
            <a:avLst/>
          </a:prstGeom>
          <a:noFill/>
          <a:ln/>
        </p:spPr>
        <p:txBody>
          <a:bodyPr wrap="square" rtlCol="0" anchor="t"/>
          <a:lstStyle/>
          <a:p>
            <a:pPr marL="0" indent="0">
              <a:buNone/>
            </a:pPr>
            <a:r>
              <a:rPr lang="en-US" sz="1500" b="1" dirty="0">
                <a:solidFill>
                  <a:srgbClr val="52B788"/>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6675120" y="5550408"/>
            <a:ext cx="4663440" cy="685800"/>
          </a:xfrm>
          <a:prstGeom prst="rect">
            <a:avLst/>
          </a:prstGeom>
          <a:noFill/>
          <a:ln/>
        </p:spPr>
        <p:txBody>
          <a:bodyPr wrap="square" rtlCol="0" anchor="t"/>
          <a:lstStyle/>
          <a:p>
            <a:pPr>
              <a:lnSpc>
                <a:spcPct val="103000"/>
              </a:lnSpc>
            </a:pPr>
            <a:r>
              <a:rPr lang="en-001" sz="1400" dirty="0">
                <a:solidFill>
                  <a:schemeClr val="bg2"/>
                </a:solidFill>
              </a:rPr>
              <a:t>Players who </a:t>
            </a:r>
            <a:r>
              <a:rPr lang="en-US" sz="1400" dirty="0">
                <a:solidFill>
                  <a:schemeClr val="bg2"/>
                </a:solidFill>
              </a:rPr>
              <a:t>plays</a:t>
            </a:r>
            <a:r>
              <a:rPr lang="en-001" sz="1400" dirty="0">
                <a:solidFill>
                  <a:schemeClr val="bg2"/>
                </a:solidFill>
              </a:rPr>
              <a:t> for successful teams are valued more highly.</a:t>
            </a:r>
            <a:endParaRPr lang="en-US" sz="1300" dirty="0">
              <a:solidFill>
                <a:schemeClr val="bg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2641" y="20574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EXPLORATORY DATA ANALYSIS</a:t>
            </a:r>
            <a:endParaRPr lang="en-US" sz="1200" dirty="0"/>
          </a:p>
        </p:txBody>
      </p:sp>
      <p:sp>
        <p:nvSpPr>
          <p:cNvPr id="4" name="Text 2"/>
          <p:cNvSpPr/>
          <p:nvPr/>
        </p:nvSpPr>
        <p:spPr>
          <a:xfrm>
            <a:off x="2434504" y="685800"/>
            <a:ext cx="2309376" cy="365760"/>
          </a:xfrm>
          <a:prstGeom prst="rect">
            <a:avLst/>
          </a:prstGeom>
          <a:noFill/>
          <a:ln/>
        </p:spPr>
        <p:txBody>
          <a:bodyPr wrap="square" rtlCol="0" anchor="ctr"/>
          <a:lstStyle/>
          <a:p>
            <a:pPr marL="0" indent="0">
              <a:buNone/>
            </a:pPr>
            <a:r>
              <a:rPr lang="en-US" sz="1450" b="1" dirty="0">
                <a:solidFill>
                  <a:srgbClr val="1B2A34"/>
                </a:solidFill>
                <a:latin typeface="Calibri" pitchFamily="34" charset="0"/>
                <a:ea typeface="Calibri" pitchFamily="34" charset="-122"/>
                <a:cs typeface="Calibri" pitchFamily="34" charset="-120"/>
              </a:rPr>
              <a:t>Values are heavily skewed</a:t>
            </a:r>
            <a:endParaRPr lang="en-US" sz="1450" dirty="0"/>
          </a:p>
        </p:txBody>
      </p:sp>
      <p:sp>
        <p:nvSpPr>
          <p:cNvPr id="10" name="Text 8"/>
          <p:cNvSpPr/>
          <p:nvPr/>
        </p:nvSpPr>
        <p:spPr>
          <a:xfrm>
            <a:off x="7818465" y="3207155"/>
            <a:ext cx="2818140" cy="365760"/>
          </a:xfrm>
          <a:prstGeom prst="rect">
            <a:avLst/>
          </a:prstGeom>
          <a:noFill/>
          <a:ln/>
        </p:spPr>
        <p:txBody>
          <a:bodyPr wrap="square" rtlCol="0" anchor="ctr"/>
          <a:lstStyle/>
          <a:p>
            <a:r>
              <a:rPr lang="en-US" sz="1450" b="1" dirty="0">
                <a:solidFill>
                  <a:srgbClr val="1B2A34"/>
                </a:solidFill>
                <a:latin typeface="Calibri" pitchFamily="34" charset="0"/>
                <a:ea typeface="Calibri" pitchFamily="34" charset="-122"/>
                <a:cs typeface="Calibri" pitchFamily="34" charset="-120"/>
              </a:rPr>
              <a:t>  Log-transform market values</a:t>
            </a:r>
            <a:endParaRPr lang="en-US" sz="1450" dirty="0"/>
          </a:p>
        </p:txBody>
      </p:sp>
      <p:pic>
        <p:nvPicPr>
          <p:cNvPr id="31" name="Picture 30">
            <a:extLst>
              <a:ext uri="{FF2B5EF4-FFF2-40B4-BE49-F238E27FC236}">
                <a16:creationId xmlns:a16="http://schemas.microsoft.com/office/drawing/2014/main" id="{3E9AD04D-007F-F788-D1B9-202FADB77548}"/>
              </a:ext>
            </a:extLst>
          </p:cNvPr>
          <p:cNvPicPr>
            <a:picLocks noChangeAspect="1"/>
          </p:cNvPicPr>
          <p:nvPr/>
        </p:nvPicPr>
        <p:blipFill>
          <a:blip r:embed="rId3"/>
          <a:stretch>
            <a:fillRect/>
          </a:stretch>
        </p:blipFill>
        <p:spPr>
          <a:xfrm>
            <a:off x="536266" y="996900"/>
            <a:ext cx="5438272" cy="2741773"/>
          </a:xfrm>
          <a:prstGeom prst="rect">
            <a:avLst/>
          </a:prstGeom>
        </p:spPr>
      </p:pic>
      <p:pic>
        <p:nvPicPr>
          <p:cNvPr id="33" name="Picture 32">
            <a:extLst>
              <a:ext uri="{FF2B5EF4-FFF2-40B4-BE49-F238E27FC236}">
                <a16:creationId xmlns:a16="http://schemas.microsoft.com/office/drawing/2014/main" id="{92C88002-EBC8-CAD7-4CEE-A483199C7666}"/>
              </a:ext>
            </a:extLst>
          </p:cNvPr>
          <p:cNvPicPr>
            <a:picLocks noChangeAspect="1"/>
          </p:cNvPicPr>
          <p:nvPr/>
        </p:nvPicPr>
        <p:blipFill>
          <a:blip r:embed="rId4"/>
          <a:stretch>
            <a:fillRect/>
          </a:stretch>
        </p:blipFill>
        <p:spPr>
          <a:xfrm>
            <a:off x="5954845" y="3616349"/>
            <a:ext cx="5916117" cy="2875891"/>
          </a:xfrm>
          <a:prstGeom prst="rect">
            <a:avLst/>
          </a:prstGeom>
        </p:spPr>
      </p:pic>
      <p:sp>
        <p:nvSpPr>
          <p:cNvPr id="35" name="TextBox 34">
            <a:extLst>
              <a:ext uri="{FF2B5EF4-FFF2-40B4-BE49-F238E27FC236}">
                <a16:creationId xmlns:a16="http://schemas.microsoft.com/office/drawing/2014/main" id="{A0C6F379-6925-8510-B02A-4D9FF45E9E44}"/>
              </a:ext>
            </a:extLst>
          </p:cNvPr>
          <p:cNvSpPr txBox="1"/>
          <p:nvPr/>
        </p:nvSpPr>
        <p:spPr>
          <a:xfrm>
            <a:off x="592641" y="3818940"/>
            <a:ext cx="5438272" cy="461665"/>
          </a:xfrm>
          <a:prstGeom prst="rect">
            <a:avLst/>
          </a:prstGeom>
          <a:noFill/>
        </p:spPr>
        <p:txBody>
          <a:bodyPr wrap="square">
            <a:spAutoFit/>
          </a:bodyPr>
          <a:lstStyle/>
          <a:p>
            <a:r>
              <a:rPr lang="en-001" sz="1200" dirty="0"/>
              <a:t>Raw market values ~1,050 players under €5M, a thin tail out to €200M. </a:t>
            </a:r>
            <a:endParaRPr lang="en-US" sz="1200" dirty="0"/>
          </a:p>
          <a:p>
            <a:r>
              <a:rPr lang="en-001" sz="1200" dirty="0"/>
              <a:t>Heavily skewed.</a:t>
            </a:r>
          </a:p>
        </p:txBody>
      </p:sp>
      <p:sp>
        <p:nvSpPr>
          <p:cNvPr id="37" name="TextBox 36">
            <a:extLst>
              <a:ext uri="{FF2B5EF4-FFF2-40B4-BE49-F238E27FC236}">
                <a16:creationId xmlns:a16="http://schemas.microsoft.com/office/drawing/2014/main" id="{2D066DE9-A48B-1356-9873-B03ECBA7C525}"/>
              </a:ext>
            </a:extLst>
          </p:cNvPr>
          <p:cNvSpPr txBox="1"/>
          <p:nvPr/>
        </p:nvSpPr>
        <p:spPr>
          <a:xfrm>
            <a:off x="6711902" y="2663818"/>
            <a:ext cx="6117200" cy="307777"/>
          </a:xfrm>
          <a:prstGeom prst="rect">
            <a:avLst/>
          </a:prstGeom>
          <a:noFill/>
        </p:spPr>
        <p:txBody>
          <a:bodyPr wrap="square">
            <a:spAutoFit/>
          </a:bodyPr>
          <a:lstStyle/>
          <a:p>
            <a:r>
              <a:rPr lang="en-001" sz="1400" dirty="0"/>
              <a:t>After the log transform</a:t>
            </a:r>
            <a:r>
              <a:rPr lang="en-US" sz="1400" dirty="0"/>
              <a:t>,</a:t>
            </a:r>
            <a:r>
              <a:rPr lang="en-001" sz="1400" dirty="0"/>
              <a:t> a balanced</a:t>
            </a:r>
            <a:r>
              <a:rPr lang="en-US" sz="1400" dirty="0"/>
              <a:t> </a:t>
            </a:r>
            <a:r>
              <a:rPr lang="en-001" sz="1400" dirty="0"/>
              <a:t>the model can learn from.</a:t>
            </a:r>
          </a:p>
        </p:txBody>
      </p:sp>
      <p:sp>
        <p:nvSpPr>
          <p:cNvPr id="39" name="TextBox 38">
            <a:extLst>
              <a:ext uri="{FF2B5EF4-FFF2-40B4-BE49-F238E27FC236}">
                <a16:creationId xmlns:a16="http://schemas.microsoft.com/office/drawing/2014/main" id="{70EB13F1-7FC0-1670-BFB3-AC756B9681E7}"/>
              </a:ext>
            </a:extLst>
          </p:cNvPr>
          <p:cNvSpPr txBox="1"/>
          <p:nvPr/>
        </p:nvSpPr>
        <p:spPr>
          <a:xfrm>
            <a:off x="2496380" y="4985705"/>
            <a:ext cx="2533507" cy="369332"/>
          </a:xfrm>
          <a:prstGeom prst="rect">
            <a:avLst/>
          </a:prstGeom>
          <a:noFill/>
        </p:spPr>
        <p:txBody>
          <a:bodyPr wrap="square">
            <a:spAutoFit/>
          </a:bodyPr>
          <a:lstStyle/>
          <a:p>
            <a:r>
              <a:rPr lang="en-001" dirty="0"/>
              <a:t>Applied log transform</a:t>
            </a:r>
          </a:p>
        </p:txBody>
      </p:sp>
      <p:cxnSp>
        <p:nvCxnSpPr>
          <p:cNvPr id="43" name="Connector: Elbow 42">
            <a:extLst>
              <a:ext uri="{FF2B5EF4-FFF2-40B4-BE49-F238E27FC236}">
                <a16:creationId xmlns:a16="http://schemas.microsoft.com/office/drawing/2014/main" id="{992DB024-A96A-6872-2E32-65D6FA0C6900}"/>
              </a:ext>
            </a:extLst>
          </p:cNvPr>
          <p:cNvCxnSpPr>
            <a:cxnSpLocks/>
          </p:cNvCxnSpPr>
          <p:nvPr/>
        </p:nvCxnSpPr>
        <p:spPr>
          <a:xfrm>
            <a:off x="1296194" y="4627231"/>
            <a:ext cx="965964" cy="5431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CB0383A1-329E-41AE-42E7-4CA2E6F74C9B}"/>
              </a:ext>
            </a:extLst>
          </p:cNvPr>
          <p:cNvCxnSpPr>
            <a:cxnSpLocks/>
          </p:cNvCxnSpPr>
          <p:nvPr/>
        </p:nvCxnSpPr>
        <p:spPr>
          <a:xfrm flipV="1">
            <a:off x="4943260" y="4393245"/>
            <a:ext cx="935026" cy="8457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4E0F0-C88A-DB9D-8E3D-E6A70BD744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D58F15-BAE9-A824-D09B-D86023A33C2B}"/>
              </a:ext>
            </a:extLst>
          </p:cNvPr>
          <p:cNvSpPr/>
          <p:nvPr/>
        </p:nvSpPr>
        <p:spPr>
          <a:xfrm>
            <a:off x="640080" y="36576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EXPLORATORY DATA ANALYSIS</a:t>
            </a:r>
            <a:endParaRPr lang="en-US" sz="1200" dirty="0"/>
          </a:p>
        </p:txBody>
      </p:sp>
      <p:sp>
        <p:nvSpPr>
          <p:cNvPr id="3" name="Text 1">
            <a:extLst>
              <a:ext uri="{FF2B5EF4-FFF2-40B4-BE49-F238E27FC236}">
                <a16:creationId xmlns:a16="http://schemas.microsoft.com/office/drawing/2014/main" id="{8CD1F030-C80A-A5AC-2F03-192F16F057E6}"/>
              </a:ext>
            </a:extLst>
          </p:cNvPr>
          <p:cNvSpPr/>
          <p:nvPr/>
        </p:nvSpPr>
        <p:spPr>
          <a:xfrm>
            <a:off x="640080" y="612648"/>
            <a:ext cx="10972800" cy="685800"/>
          </a:xfrm>
          <a:prstGeom prst="rect">
            <a:avLst/>
          </a:prstGeom>
          <a:noFill/>
          <a:ln/>
        </p:spPr>
        <p:txBody>
          <a:bodyPr wrap="square" rtlCol="0" anchor="ctr"/>
          <a:lstStyle/>
          <a:p>
            <a:pPr marL="0" indent="0">
              <a:buNone/>
            </a:pPr>
            <a:r>
              <a:rPr lang="en-US" sz="3000" b="1" dirty="0">
                <a:solidFill>
                  <a:srgbClr val="1B2A34"/>
                </a:solidFill>
                <a:latin typeface="Cambria" pitchFamily="34" charset="0"/>
                <a:ea typeface="Cambria" pitchFamily="34" charset="-122"/>
                <a:cs typeface="Cambria" pitchFamily="34" charset="-120"/>
              </a:rPr>
              <a:t>What the Data Revealed</a:t>
            </a:r>
            <a:endParaRPr lang="en-US" sz="3000" dirty="0"/>
          </a:p>
        </p:txBody>
      </p:sp>
      <p:sp>
        <p:nvSpPr>
          <p:cNvPr id="4" name="Text 2">
            <a:extLst>
              <a:ext uri="{FF2B5EF4-FFF2-40B4-BE49-F238E27FC236}">
                <a16:creationId xmlns:a16="http://schemas.microsoft.com/office/drawing/2014/main" id="{A1AA8FA8-2FEF-DE1A-F6F8-3739743D255F}"/>
              </a:ext>
            </a:extLst>
          </p:cNvPr>
          <p:cNvSpPr/>
          <p:nvPr/>
        </p:nvSpPr>
        <p:spPr>
          <a:xfrm>
            <a:off x="640080" y="1508760"/>
            <a:ext cx="5440680" cy="365760"/>
          </a:xfrm>
          <a:prstGeom prst="rect">
            <a:avLst/>
          </a:prstGeom>
          <a:noFill/>
          <a:ln/>
        </p:spPr>
        <p:txBody>
          <a:bodyPr wrap="square" rtlCol="0" anchor="ctr"/>
          <a:lstStyle/>
          <a:p>
            <a:pPr marL="0" indent="0">
              <a:buNone/>
            </a:pPr>
            <a:r>
              <a:rPr lang="en-US" sz="1450" b="1" dirty="0">
                <a:solidFill>
                  <a:srgbClr val="52B788"/>
                </a:solidFill>
                <a:latin typeface="Calibri" pitchFamily="34" charset="0"/>
                <a:ea typeface="Calibri" pitchFamily="34" charset="-122"/>
                <a:cs typeface="Calibri" pitchFamily="34" charset="-120"/>
              </a:rPr>
              <a:t>League wise market value (Top 5 League)</a:t>
            </a:r>
            <a:endParaRPr lang="en-US" sz="1450" dirty="0"/>
          </a:p>
        </p:txBody>
      </p:sp>
      <p:sp>
        <p:nvSpPr>
          <p:cNvPr id="6" name="Text 4">
            <a:extLst>
              <a:ext uri="{FF2B5EF4-FFF2-40B4-BE49-F238E27FC236}">
                <a16:creationId xmlns:a16="http://schemas.microsoft.com/office/drawing/2014/main" id="{8D38C530-74E2-5AC8-6C44-8EA8B62ED0F9}"/>
              </a:ext>
            </a:extLst>
          </p:cNvPr>
          <p:cNvSpPr/>
          <p:nvPr/>
        </p:nvSpPr>
        <p:spPr>
          <a:xfrm>
            <a:off x="640080" y="1892808"/>
            <a:ext cx="5440680" cy="1947672"/>
          </a:xfrm>
          <a:prstGeom prst="rect">
            <a:avLst/>
          </a:prstGeom>
          <a:noFill/>
          <a:ln/>
        </p:spPr>
        <p:txBody>
          <a:bodyPr wrap="square" rtlCol="0" anchor="ctr"/>
          <a:lstStyle/>
          <a:p>
            <a:pPr marL="0" indent="0" algn="ctr">
              <a:buNone/>
            </a:pPr>
            <a:r>
              <a:rPr lang="en-US" sz="1200" b="1" dirty="0">
                <a:solidFill>
                  <a:srgbClr val="2D6A4F"/>
                </a:solidFill>
                <a:latin typeface="Calibri" pitchFamily="34" charset="0"/>
                <a:ea typeface="Calibri" pitchFamily="34" charset="-122"/>
                <a:cs typeface="Calibri" pitchFamily="34" charset="-120"/>
              </a:rPr>
              <a:t>INSERT CHART</a:t>
            </a:r>
            <a:endParaRPr lang="en-US" sz="1200" dirty="0"/>
          </a:p>
          <a:p>
            <a:pPr marL="0" indent="0" algn="ctr">
              <a:buNone/>
            </a:pPr>
            <a:r>
              <a:rPr lang="en-US" sz="1100" dirty="0">
                <a:solidFill>
                  <a:srgbClr val="5F6B72"/>
                </a:solidFill>
                <a:latin typeface="Calibri" pitchFamily="34" charset="0"/>
                <a:ea typeface="Calibri" pitchFamily="34" charset="-122"/>
                <a:cs typeface="Calibri" pitchFamily="34" charset="-120"/>
              </a:rPr>
              <a:t>Value distribution (raw + log-transformed)</a:t>
            </a:r>
            <a:endParaRPr lang="en-US" sz="1200" dirty="0"/>
          </a:p>
        </p:txBody>
      </p:sp>
      <p:sp>
        <p:nvSpPr>
          <p:cNvPr id="7" name="Text 5">
            <a:extLst>
              <a:ext uri="{FF2B5EF4-FFF2-40B4-BE49-F238E27FC236}">
                <a16:creationId xmlns:a16="http://schemas.microsoft.com/office/drawing/2014/main" id="{B3B9B2A6-1278-B50D-CD20-23BE7AF8C858}"/>
              </a:ext>
            </a:extLst>
          </p:cNvPr>
          <p:cNvSpPr/>
          <p:nvPr/>
        </p:nvSpPr>
        <p:spPr>
          <a:xfrm>
            <a:off x="6613930" y="1508760"/>
            <a:ext cx="4998949" cy="365760"/>
          </a:xfrm>
          <a:prstGeom prst="rect">
            <a:avLst/>
          </a:prstGeom>
          <a:noFill/>
          <a:ln/>
        </p:spPr>
        <p:txBody>
          <a:bodyPr wrap="square" rtlCol="0" anchor="ctr"/>
          <a:lstStyle/>
          <a:p>
            <a:pPr marL="0" indent="0">
              <a:buNone/>
            </a:pPr>
            <a:r>
              <a:rPr lang="en-US" sz="1450" b="1" dirty="0">
                <a:solidFill>
                  <a:srgbClr val="52B788"/>
                </a:solidFill>
                <a:latin typeface="Calibri" pitchFamily="34" charset="0"/>
                <a:ea typeface="Calibri" pitchFamily="34" charset="-122"/>
                <a:cs typeface="Calibri" pitchFamily="34" charset="-120"/>
              </a:rPr>
              <a:t>Player Position value</a:t>
            </a:r>
            <a:endParaRPr lang="en-US" sz="1450" dirty="0"/>
          </a:p>
        </p:txBody>
      </p:sp>
      <p:sp>
        <p:nvSpPr>
          <p:cNvPr id="9" name="Text 7">
            <a:extLst>
              <a:ext uri="{FF2B5EF4-FFF2-40B4-BE49-F238E27FC236}">
                <a16:creationId xmlns:a16="http://schemas.microsoft.com/office/drawing/2014/main" id="{1B2A96AD-92A9-5741-948B-F9EC71E8CE78}"/>
              </a:ext>
            </a:extLst>
          </p:cNvPr>
          <p:cNvSpPr/>
          <p:nvPr/>
        </p:nvSpPr>
        <p:spPr>
          <a:xfrm>
            <a:off x="6172200" y="1892808"/>
            <a:ext cx="5440680" cy="1947672"/>
          </a:xfrm>
          <a:prstGeom prst="rect">
            <a:avLst/>
          </a:prstGeom>
          <a:noFill/>
          <a:ln/>
        </p:spPr>
        <p:txBody>
          <a:bodyPr wrap="square" rtlCol="0" anchor="ctr"/>
          <a:lstStyle/>
          <a:p>
            <a:pPr marL="0" indent="0" algn="ctr">
              <a:buNone/>
            </a:pPr>
            <a:r>
              <a:rPr lang="en-US" sz="1200" b="1" dirty="0">
                <a:solidFill>
                  <a:srgbClr val="2D6A4F"/>
                </a:solidFill>
                <a:latin typeface="Calibri" pitchFamily="34" charset="0"/>
                <a:ea typeface="Calibri" pitchFamily="34" charset="-122"/>
                <a:cs typeface="Calibri" pitchFamily="34" charset="-120"/>
              </a:rPr>
              <a:t>INSERT CHART</a:t>
            </a:r>
            <a:endParaRPr lang="en-US" sz="1200" dirty="0"/>
          </a:p>
          <a:p>
            <a:pPr marL="0" indent="0" algn="ctr">
              <a:buNone/>
            </a:pPr>
            <a:r>
              <a:rPr lang="en-US" sz="1100" dirty="0">
                <a:solidFill>
                  <a:srgbClr val="5F6B72"/>
                </a:solidFill>
                <a:latin typeface="Calibri" pitchFamily="34" charset="0"/>
                <a:ea typeface="Calibri" pitchFamily="34" charset="-122"/>
                <a:cs typeface="Calibri" pitchFamily="34" charset="-120"/>
              </a:rPr>
              <a:t>Average market value by league</a:t>
            </a:r>
            <a:endParaRPr lang="en-US" sz="1200" dirty="0"/>
          </a:p>
        </p:txBody>
      </p:sp>
      <p:sp>
        <p:nvSpPr>
          <p:cNvPr id="10" name="Text 8">
            <a:extLst>
              <a:ext uri="{FF2B5EF4-FFF2-40B4-BE49-F238E27FC236}">
                <a16:creationId xmlns:a16="http://schemas.microsoft.com/office/drawing/2014/main" id="{1E7CCB5C-9CEF-44D0-1C20-CFB0D7F03ADC}"/>
              </a:ext>
            </a:extLst>
          </p:cNvPr>
          <p:cNvSpPr/>
          <p:nvPr/>
        </p:nvSpPr>
        <p:spPr>
          <a:xfrm>
            <a:off x="640080" y="3977640"/>
            <a:ext cx="5440680" cy="365760"/>
          </a:xfrm>
          <a:prstGeom prst="rect">
            <a:avLst/>
          </a:prstGeom>
          <a:noFill/>
          <a:ln/>
        </p:spPr>
        <p:txBody>
          <a:bodyPr wrap="square" rtlCol="0" anchor="ctr"/>
          <a:lstStyle/>
          <a:p>
            <a:r>
              <a:rPr lang="en-US" sz="1450" b="1" dirty="0">
                <a:solidFill>
                  <a:srgbClr val="00B050"/>
                </a:solidFill>
                <a:latin typeface="Calibri" pitchFamily="34" charset="0"/>
                <a:ea typeface="Calibri" pitchFamily="34" charset="-122"/>
                <a:cs typeface="Calibri" pitchFamily="34" charset="-120"/>
              </a:rPr>
              <a:t>Market Value by Age on each position</a:t>
            </a:r>
            <a:endParaRPr lang="en-US" sz="1450" dirty="0">
              <a:solidFill>
                <a:srgbClr val="00B050"/>
              </a:solidFill>
            </a:endParaRPr>
          </a:p>
        </p:txBody>
      </p:sp>
      <p:sp>
        <p:nvSpPr>
          <p:cNvPr id="12" name="Text 10">
            <a:extLst>
              <a:ext uri="{FF2B5EF4-FFF2-40B4-BE49-F238E27FC236}">
                <a16:creationId xmlns:a16="http://schemas.microsoft.com/office/drawing/2014/main" id="{FD001AF9-689F-A82E-0AD6-D3B332782767}"/>
              </a:ext>
            </a:extLst>
          </p:cNvPr>
          <p:cNvSpPr/>
          <p:nvPr/>
        </p:nvSpPr>
        <p:spPr>
          <a:xfrm>
            <a:off x="640080" y="4361688"/>
            <a:ext cx="5440680" cy="1947672"/>
          </a:xfrm>
          <a:prstGeom prst="rect">
            <a:avLst/>
          </a:prstGeom>
          <a:noFill/>
          <a:ln/>
        </p:spPr>
        <p:txBody>
          <a:bodyPr wrap="square" rtlCol="0" anchor="ctr"/>
          <a:lstStyle/>
          <a:p>
            <a:pPr marL="0" indent="0" algn="ctr">
              <a:buNone/>
            </a:pPr>
            <a:r>
              <a:rPr lang="en-US" sz="1200" b="1" dirty="0">
                <a:solidFill>
                  <a:srgbClr val="2D6A4F"/>
                </a:solidFill>
                <a:latin typeface="Calibri" pitchFamily="34" charset="0"/>
                <a:ea typeface="Calibri" pitchFamily="34" charset="-122"/>
                <a:cs typeface="Calibri" pitchFamily="34" charset="-120"/>
              </a:rPr>
              <a:t>INSERT CHART</a:t>
            </a:r>
            <a:endParaRPr lang="en-US" sz="1200" dirty="0"/>
          </a:p>
          <a:p>
            <a:pPr marL="0" indent="0" algn="ctr">
              <a:buNone/>
            </a:pPr>
            <a:r>
              <a:rPr lang="en-US" sz="1100" dirty="0">
                <a:solidFill>
                  <a:srgbClr val="5F6B72"/>
                </a:solidFill>
                <a:latin typeface="Calibri" pitchFamily="34" charset="0"/>
                <a:ea typeface="Calibri" pitchFamily="34" charset="-122"/>
                <a:cs typeface="Calibri" pitchFamily="34" charset="-120"/>
              </a:rPr>
              <a:t>Market value by age</a:t>
            </a:r>
            <a:endParaRPr lang="en-US" sz="1200" dirty="0"/>
          </a:p>
        </p:txBody>
      </p:sp>
      <p:sp>
        <p:nvSpPr>
          <p:cNvPr id="13" name="Text 11">
            <a:extLst>
              <a:ext uri="{FF2B5EF4-FFF2-40B4-BE49-F238E27FC236}">
                <a16:creationId xmlns:a16="http://schemas.microsoft.com/office/drawing/2014/main" id="{3251CAB2-478D-374F-CFD0-6668D563240B}"/>
              </a:ext>
            </a:extLst>
          </p:cNvPr>
          <p:cNvSpPr/>
          <p:nvPr/>
        </p:nvSpPr>
        <p:spPr>
          <a:xfrm>
            <a:off x="6613930" y="3977640"/>
            <a:ext cx="4998950" cy="365760"/>
          </a:xfrm>
          <a:prstGeom prst="rect">
            <a:avLst/>
          </a:prstGeom>
          <a:noFill/>
          <a:ln/>
        </p:spPr>
        <p:txBody>
          <a:bodyPr wrap="square" rtlCol="0" anchor="ctr"/>
          <a:lstStyle/>
          <a:p>
            <a:pPr marL="0" indent="0">
              <a:buNone/>
            </a:pPr>
            <a:r>
              <a:rPr lang="en-US" sz="1450" b="1" dirty="0">
                <a:solidFill>
                  <a:srgbClr val="52B788"/>
                </a:solidFill>
                <a:latin typeface="Calibri" pitchFamily="34" charset="0"/>
                <a:ea typeface="Calibri" pitchFamily="34" charset="-122"/>
                <a:cs typeface="Calibri" pitchFamily="34" charset="-120"/>
              </a:rPr>
              <a:t>Longer contract means higher value</a:t>
            </a:r>
            <a:endParaRPr lang="en-US" sz="1450" dirty="0"/>
          </a:p>
        </p:txBody>
      </p:sp>
      <p:sp>
        <p:nvSpPr>
          <p:cNvPr id="15" name="Text 13">
            <a:extLst>
              <a:ext uri="{FF2B5EF4-FFF2-40B4-BE49-F238E27FC236}">
                <a16:creationId xmlns:a16="http://schemas.microsoft.com/office/drawing/2014/main" id="{74ABA181-7F08-BFCE-BBB9-6D75B4B67918}"/>
              </a:ext>
            </a:extLst>
          </p:cNvPr>
          <p:cNvSpPr/>
          <p:nvPr/>
        </p:nvSpPr>
        <p:spPr>
          <a:xfrm>
            <a:off x="6172200" y="4361688"/>
            <a:ext cx="5440680" cy="1947672"/>
          </a:xfrm>
          <a:prstGeom prst="rect">
            <a:avLst/>
          </a:prstGeom>
          <a:noFill/>
          <a:ln/>
        </p:spPr>
        <p:txBody>
          <a:bodyPr wrap="square" rtlCol="0" anchor="ctr"/>
          <a:lstStyle/>
          <a:p>
            <a:pPr marL="0" indent="0" algn="ctr">
              <a:buNone/>
            </a:pPr>
            <a:r>
              <a:rPr lang="en-US" sz="1200" b="1" dirty="0">
                <a:solidFill>
                  <a:srgbClr val="2D6A4F"/>
                </a:solidFill>
                <a:latin typeface="Calibri" pitchFamily="34" charset="0"/>
                <a:ea typeface="Calibri" pitchFamily="34" charset="-122"/>
                <a:cs typeface="Calibri" pitchFamily="34" charset="-120"/>
              </a:rPr>
              <a:t>INSERT CHART</a:t>
            </a:r>
            <a:endParaRPr lang="en-US" sz="1200" dirty="0"/>
          </a:p>
          <a:p>
            <a:pPr marL="0" indent="0" algn="ctr">
              <a:buNone/>
            </a:pPr>
            <a:r>
              <a:rPr lang="en-US" sz="1100" dirty="0">
                <a:solidFill>
                  <a:srgbClr val="5F6B72"/>
                </a:solidFill>
                <a:latin typeface="Calibri" pitchFamily="34" charset="0"/>
                <a:ea typeface="Calibri" pitchFamily="34" charset="-122"/>
                <a:cs typeface="Calibri" pitchFamily="34" charset="-120"/>
              </a:rPr>
              <a:t>Market value by remaining contract length</a:t>
            </a:r>
            <a:endParaRPr lang="en-US" sz="1200" dirty="0"/>
          </a:p>
        </p:txBody>
      </p:sp>
      <p:pic>
        <p:nvPicPr>
          <p:cNvPr id="21" name="Picture 20">
            <a:extLst>
              <a:ext uri="{FF2B5EF4-FFF2-40B4-BE49-F238E27FC236}">
                <a16:creationId xmlns:a16="http://schemas.microsoft.com/office/drawing/2014/main" id="{CECA8F8A-F345-8EC8-A6C5-CB57271476C3}"/>
              </a:ext>
            </a:extLst>
          </p:cNvPr>
          <p:cNvPicPr>
            <a:picLocks noChangeAspect="1"/>
          </p:cNvPicPr>
          <p:nvPr/>
        </p:nvPicPr>
        <p:blipFill>
          <a:blip r:embed="rId3"/>
          <a:stretch>
            <a:fillRect/>
          </a:stretch>
        </p:blipFill>
        <p:spPr>
          <a:xfrm>
            <a:off x="6172200" y="4343400"/>
            <a:ext cx="5501638" cy="2346240"/>
          </a:xfrm>
          <a:prstGeom prst="rect">
            <a:avLst/>
          </a:prstGeom>
        </p:spPr>
      </p:pic>
      <p:pic>
        <p:nvPicPr>
          <p:cNvPr id="20" name="Picture 19">
            <a:extLst>
              <a:ext uri="{FF2B5EF4-FFF2-40B4-BE49-F238E27FC236}">
                <a16:creationId xmlns:a16="http://schemas.microsoft.com/office/drawing/2014/main" id="{F61C0CA0-12F1-FB26-F4A8-EDA9428C2717}"/>
              </a:ext>
            </a:extLst>
          </p:cNvPr>
          <p:cNvPicPr>
            <a:picLocks noChangeAspect="1"/>
          </p:cNvPicPr>
          <p:nvPr/>
        </p:nvPicPr>
        <p:blipFill>
          <a:blip r:embed="rId4"/>
          <a:stretch>
            <a:fillRect/>
          </a:stretch>
        </p:blipFill>
        <p:spPr>
          <a:xfrm>
            <a:off x="6330329" y="1892808"/>
            <a:ext cx="5440680" cy="2084832"/>
          </a:xfrm>
          <a:prstGeom prst="rect">
            <a:avLst/>
          </a:prstGeom>
        </p:spPr>
      </p:pic>
      <p:pic>
        <p:nvPicPr>
          <p:cNvPr id="27" name="Picture 26">
            <a:extLst>
              <a:ext uri="{FF2B5EF4-FFF2-40B4-BE49-F238E27FC236}">
                <a16:creationId xmlns:a16="http://schemas.microsoft.com/office/drawing/2014/main" id="{E77ED80E-82AB-154E-3610-C1BE76880813}"/>
              </a:ext>
            </a:extLst>
          </p:cNvPr>
          <p:cNvPicPr>
            <a:picLocks noChangeAspect="1"/>
          </p:cNvPicPr>
          <p:nvPr/>
        </p:nvPicPr>
        <p:blipFill>
          <a:blip r:embed="rId5"/>
          <a:stretch>
            <a:fillRect/>
          </a:stretch>
        </p:blipFill>
        <p:spPr>
          <a:xfrm>
            <a:off x="640080" y="1807566"/>
            <a:ext cx="4708816" cy="2026715"/>
          </a:xfrm>
          <a:prstGeom prst="rect">
            <a:avLst/>
          </a:prstGeom>
        </p:spPr>
      </p:pic>
      <p:pic>
        <p:nvPicPr>
          <p:cNvPr id="29" name="Picture 28">
            <a:extLst>
              <a:ext uri="{FF2B5EF4-FFF2-40B4-BE49-F238E27FC236}">
                <a16:creationId xmlns:a16="http://schemas.microsoft.com/office/drawing/2014/main" id="{13B60505-40C8-02D6-7CF4-77FD959AD9BF}"/>
              </a:ext>
            </a:extLst>
          </p:cNvPr>
          <p:cNvPicPr>
            <a:picLocks noChangeAspect="1"/>
          </p:cNvPicPr>
          <p:nvPr/>
        </p:nvPicPr>
        <p:blipFill>
          <a:blip r:embed="rId6"/>
          <a:stretch>
            <a:fillRect/>
          </a:stretch>
        </p:blipFill>
        <p:spPr>
          <a:xfrm>
            <a:off x="640080" y="4274304"/>
            <a:ext cx="4647627" cy="2323814"/>
          </a:xfrm>
          <a:prstGeom prst="rect">
            <a:avLst/>
          </a:prstGeom>
        </p:spPr>
      </p:pic>
    </p:spTree>
    <p:extLst>
      <p:ext uri="{BB962C8B-B14F-4D97-AF65-F5344CB8AC3E}">
        <p14:creationId xmlns:p14="http://schemas.microsoft.com/office/powerpoint/2010/main" val="3803807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47472"/>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FEATURE ENGINEERING</a:t>
            </a:r>
            <a:endParaRPr lang="en-US" sz="1200" dirty="0"/>
          </a:p>
        </p:txBody>
      </p:sp>
      <p:sp>
        <p:nvSpPr>
          <p:cNvPr id="3" name="Text 1"/>
          <p:cNvSpPr/>
          <p:nvPr/>
        </p:nvSpPr>
        <p:spPr>
          <a:xfrm>
            <a:off x="640080" y="585216"/>
            <a:ext cx="10972800" cy="685800"/>
          </a:xfrm>
          <a:prstGeom prst="rect">
            <a:avLst/>
          </a:prstGeom>
          <a:noFill/>
          <a:ln/>
        </p:spPr>
        <p:txBody>
          <a:bodyPr wrap="square" rtlCol="0" anchor="ctr"/>
          <a:lstStyle/>
          <a:p>
            <a:pPr marL="0" indent="0">
              <a:buNone/>
            </a:pPr>
            <a:r>
              <a:rPr lang="en-US" sz="3000" b="1" dirty="0">
                <a:solidFill>
                  <a:srgbClr val="1B2A34"/>
                </a:solidFill>
                <a:latin typeface="Cambria" pitchFamily="34" charset="0"/>
                <a:ea typeface="Cambria" pitchFamily="34" charset="-122"/>
                <a:cs typeface="Cambria" pitchFamily="34" charset="-120"/>
              </a:rPr>
              <a:t>Turning Raw Stats into Features</a:t>
            </a:r>
            <a:endParaRPr lang="en-US" sz="3000" dirty="0"/>
          </a:p>
        </p:txBody>
      </p:sp>
      <p:sp>
        <p:nvSpPr>
          <p:cNvPr id="4" name="Shape 2"/>
          <p:cNvSpPr/>
          <p:nvPr/>
        </p:nvSpPr>
        <p:spPr>
          <a:xfrm>
            <a:off x="1550611" y="1362456"/>
            <a:ext cx="2788920" cy="1298448"/>
          </a:xfrm>
          <a:prstGeom prst="roundRect">
            <a:avLst>
              <a:gd name="adj" fmla="val 3521"/>
            </a:avLst>
          </a:prstGeom>
          <a:solidFill>
            <a:srgbClr val="F3F7F4"/>
          </a:solidFill>
          <a:ln w="12700">
            <a:solidFill>
              <a:srgbClr val="DDE7E1"/>
            </a:solidFill>
            <a:prstDash val="solid"/>
          </a:ln>
        </p:spPr>
        <p:txBody>
          <a:bodyPr/>
          <a:lstStyle/>
          <a:p>
            <a:endParaRPr lang="en-001"/>
          </a:p>
        </p:txBody>
      </p:sp>
      <p:sp>
        <p:nvSpPr>
          <p:cNvPr id="5" name="Text 3"/>
          <p:cNvSpPr/>
          <p:nvPr/>
        </p:nvSpPr>
        <p:spPr>
          <a:xfrm>
            <a:off x="1715203" y="1445646"/>
            <a:ext cx="2459736" cy="312683"/>
          </a:xfrm>
          <a:prstGeom prst="rect">
            <a:avLst/>
          </a:prstGeom>
          <a:noFill/>
          <a:ln/>
        </p:spPr>
        <p:txBody>
          <a:bodyPr wrap="square" rtlCol="0" anchor="t"/>
          <a:lstStyle/>
          <a:p>
            <a:pPr marL="0" indent="0">
              <a:buNone/>
            </a:pPr>
            <a:r>
              <a:rPr lang="en-US" sz="1300" b="1" dirty="0">
                <a:solidFill>
                  <a:srgbClr val="2D6A4F"/>
                </a:solidFill>
                <a:latin typeface="Calibri" pitchFamily="34" charset="0"/>
                <a:ea typeface="Calibri" pitchFamily="34" charset="-122"/>
                <a:cs typeface="Calibri" pitchFamily="34" charset="-120"/>
              </a:rPr>
              <a:t>Log Transformed Target</a:t>
            </a:r>
            <a:endParaRPr lang="en-US" sz="1300" dirty="0"/>
          </a:p>
        </p:txBody>
      </p:sp>
      <p:sp>
        <p:nvSpPr>
          <p:cNvPr id="6" name="Text 4"/>
          <p:cNvSpPr/>
          <p:nvPr/>
        </p:nvSpPr>
        <p:spPr>
          <a:xfrm>
            <a:off x="1646623" y="1751076"/>
            <a:ext cx="2555748" cy="772668"/>
          </a:xfrm>
          <a:prstGeom prst="rect">
            <a:avLst/>
          </a:prstGeom>
          <a:noFill/>
          <a:ln/>
        </p:spPr>
        <p:txBody>
          <a:bodyPr wrap="square" rtlCol="0" anchor="t"/>
          <a:lstStyle/>
          <a:p>
            <a:pPr>
              <a:lnSpc>
                <a:spcPct val="105000"/>
              </a:lnSpc>
            </a:pPr>
            <a:r>
              <a:rPr lang="en-001" sz="1050" dirty="0"/>
              <a:t>Train on log(value) instead of raw</a:t>
            </a:r>
            <a:r>
              <a:rPr lang="en-US" sz="1050" dirty="0"/>
              <a:t> values. It</a:t>
            </a:r>
            <a:r>
              <a:rPr lang="en-001" sz="1050" dirty="0"/>
              <a:t> fixes the skew so a few superstars don't distort the model</a:t>
            </a:r>
            <a:endParaRPr lang="en-US" sz="1050" dirty="0"/>
          </a:p>
        </p:txBody>
      </p:sp>
      <p:sp>
        <p:nvSpPr>
          <p:cNvPr id="7" name="Shape 5"/>
          <p:cNvSpPr/>
          <p:nvPr/>
        </p:nvSpPr>
        <p:spPr>
          <a:xfrm>
            <a:off x="5669280" y="1362456"/>
            <a:ext cx="2788920" cy="1298448"/>
          </a:xfrm>
          <a:prstGeom prst="roundRect">
            <a:avLst>
              <a:gd name="adj" fmla="val 3521"/>
            </a:avLst>
          </a:prstGeom>
          <a:solidFill>
            <a:srgbClr val="F3F7F4"/>
          </a:solidFill>
          <a:ln w="12700">
            <a:solidFill>
              <a:srgbClr val="DDE7E1"/>
            </a:solidFill>
            <a:prstDash val="solid"/>
          </a:ln>
        </p:spPr>
        <p:txBody>
          <a:bodyPr/>
          <a:lstStyle/>
          <a:p>
            <a:endParaRPr lang="en-001"/>
          </a:p>
        </p:txBody>
      </p:sp>
      <p:sp>
        <p:nvSpPr>
          <p:cNvPr id="8" name="Text 6"/>
          <p:cNvSpPr/>
          <p:nvPr/>
        </p:nvSpPr>
        <p:spPr>
          <a:xfrm>
            <a:off x="5833872" y="1490472"/>
            <a:ext cx="2459736" cy="411480"/>
          </a:xfrm>
          <a:prstGeom prst="rect">
            <a:avLst/>
          </a:prstGeom>
          <a:noFill/>
          <a:ln/>
        </p:spPr>
        <p:txBody>
          <a:bodyPr wrap="square" rtlCol="0" anchor="t"/>
          <a:lstStyle/>
          <a:p>
            <a:pPr marL="0" indent="0">
              <a:buNone/>
            </a:pPr>
            <a:r>
              <a:rPr lang="en-US" sz="1300" b="1" dirty="0">
                <a:solidFill>
                  <a:srgbClr val="2D6A4F"/>
                </a:solidFill>
                <a:latin typeface="Calibri" pitchFamily="34" charset="0"/>
                <a:ea typeface="Calibri" pitchFamily="34" charset="-122"/>
                <a:cs typeface="Calibri" pitchFamily="34" charset="-120"/>
              </a:rPr>
              <a:t>Contract years-left</a:t>
            </a:r>
            <a:endParaRPr lang="en-US" sz="1300" dirty="0"/>
          </a:p>
        </p:txBody>
      </p:sp>
      <p:sp>
        <p:nvSpPr>
          <p:cNvPr id="9" name="Text 7"/>
          <p:cNvSpPr/>
          <p:nvPr/>
        </p:nvSpPr>
        <p:spPr>
          <a:xfrm>
            <a:off x="5833872" y="1911096"/>
            <a:ext cx="2459736" cy="640080"/>
          </a:xfrm>
          <a:prstGeom prst="rect">
            <a:avLst/>
          </a:prstGeom>
          <a:noFill/>
          <a:ln/>
        </p:spPr>
        <p:txBody>
          <a:bodyPr wrap="square" rtlCol="0" anchor="t"/>
          <a:lstStyle/>
          <a:p>
            <a:pPr marL="0" indent="0">
              <a:lnSpc>
                <a:spcPct val="105000"/>
              </a:lnSpc>
              <a:buNone/>
            </a:pPr>
            <a:r>
              <a:rPr lang="en-US" sz="1050" dirty="0">
                <a:solidFill>
                  <a:srgbClr val="1B2A34"/>
                </a:solidFill>
                <a:latin typeface="Calibri" pitchFamily="34" charset="0"/>
                <a:ea typeface="Calibri" pitchFamily="34" charset="-122"/>
                <a:cs typeface="Calibri" pitchFamily="34" charset="-120"/>
              </a:rPr>
              <a:t>Years until the contract expires</a:t>
            </a:r>
            <a:endParaRPr lang="en-US" sz="1050" dirty="0"/>
          </a:p>
        </p:txBody>
      </p:sp>
      <p:sp>
        <p:nvSpPr>
          <p:cNvPr id="10" name="Shape 8"/>
          <p:cNvSpPr/>
          <p:nvPr/>
        </p:nvSpPr>
        <p:spPr>
          <a:xfrm>
            <a:off x="1550611" y="2779776"/>
            <a:ext cx="2788920" cy="1298448"/>
          </a:xfrm>
          <a:prstGeom prst="roundRect">
            <a:avLst>
              <a:gd name="adj" fmla="val 3521"/>
            </a:avLst>
          </a:prstGeom>
          <a:solidFill>
            <a:srgbClr val="F3F7F4"/>
          </a:solidFill>
          <a:ln w="12700">
            <a:solidFill>
              <a:srgbClr val="DDE7E1"/>
            </a:solidFill>
            <a:prstDash val="solid"/>
          </a:ln>
        </p:spPr>
        <p:txBody>
          <a:bodyPr/>
          <a:lstStyle/>
          <a:p>
            <a:endParaRPr lang="en-001"/>
          </a:p>
        </p:txBody>
      </p:sp>
      <p:sp>
        <p:nvSpPr>
          <p:cNvPr id="11" name="Text 9"/>
          <p:cNvSpPr/>
          <p:nvPr/>
        </p:nvSpPr>
        <p:spPr>
          <a:xfrm>
            <a:off x="1715203" y="2907792"/>
            <a:ext cx="2459736" cy="411480"/>
          </a:xfrm>
          <a:prstGeom prst="rect">
            <a:avLst/>
          </a:prstGeom>
          <a:noFill/>
          <a:ln/>
        </p:spPr>
        <p:txBody>
          <a:bodyPr wrap="square" rtlCol="0" anchor="t"/>
          <a:lstStyle/>
          <a:p>
            <a:pPr marL="0" indent="0">
              <a:buNone/>
            </a:pPr>
            <a:r>
              <a:rPr lang="en-US" sz="1300" b="1" dirty="0">
                <a:solidFill>
                  <a:srgbClr val="2D6A4F"/>
                </a:solidFill>
                <a:latin typeface="Calibri" pitchFamily="34" charset="0"/>
                <a:ea typeface="Calibri" pitchFamily="34" charset="-122"/>
                <a:cs typeface="Calibri" pitchFamily="34" charset="-120"/>
              </a:rPr>
              <a:t>Age²</a:t>
            </a:r>
            <a:endParaRPr lang="en-US" sz="1300" dirty="0"/>
          </a:p>
        </p:txBody>
      </p:sp>
      <p:sp>
        <p:nvSpPr>
          <p:cNvPr id="12" name="Text 10"/>
          <p:cNvSpPr/>
          <p:nvPr/>
        </p:nvSpPr>
        <p:spPr>
          <a:xfrm>
            <a:off x="1715203" y="3328416"/>
            <a:ext cx="2459736" cy="640080"/>
          </a:xfrm>
          <a:prstGeom prst="rect">
            <a:avLst/>
          </a:prstGeom>
          <a:noFill/>
          <a:ln/>
        </p:spPr>
        <p:txBody>
          <a:bodyPr wrap="square" rtlCol="0" anchor="t"/>
          <a:lstStyle/>
          <a:p>
            <a:pPr>
              <a:lnSpc>
                <a:spcPct val="105000"/>
              </a:lnSpc>
            </a:pPr>
            <a:r>
              <a:rPr lang="en-001" sz="1050" dirty="0"/>
              <a:t>Captures the rise-then-fall shape of the age curve</a:t>
            </a:r>
            <a:endParaRPr lang="en-US" sz="1050" dirty="0"/>
          </a:p>
        </p:txBody>
      </p:sp>
      <p:sp>
        <p:nvSpPr>
          <p:cNvPr id="13" name="Shape 11"/>
          <p:cNvSpPr/>
          <p:nvPr/>
        </p:nvSpPr>
        <p:spPr>
          <a:xfrm>
            <a:off x="5669280" y="2779776"/>
            <a:ext cx="2788920" cy="1298448"/>
          </a:xfrm>
          <a:prstGeom prst="roundRect">
            <a:avLst>
              <a:gd name="adj" fmla="val 3521"/>
            </a:avLst>
          </a:prstGeom>
          <a:solidFill>
            <a:srgbClr val="F3F7F4"/>
          </a:solidFill>
          <a:ln w="12700">
            <a:solidFill>
              <a:srgbClr val="DDE7E1"/>
            </a:solidFill>
            <a:prstDash val="solid"/>
          </a:ln>
        </p:spPr>
        <p:txBody>
          <a:bodyPr/>
          <a:lstStyle/>
          <a:p>
            <a:endParaRPr lang="en-001"/>
          </a:p>
        </p:txBody>
      </p:sp>
      <p:sp>
        <p:nvSpPr>
          <p:cNvPr id="14" name="Text 12"/>
          <p:cNvSpPr/>
          <p:nvPr/>
        </p:nvSpPr>
        <p:spPr>
          <a:xfrm>
            <a:off x="5833872" y="2907792"/>
            <a:ext cx="2459736" cy="411480"/>
          </a:xfrm>
          <a:prstGeom prst="rect">
            <a:avLst/>
          </a:prstGeom>
          <a:noFill/>
          <a:ln/>
        </p:spPr>
        <p:txBody>
          <a:bodyPr wrap="square" rtlCol="0" anchor="t"/>
          <a:lstStyle/>
          <a:p>
            <a:pPr marL="0" indent="0">
              <a:buNone/>
            </a:pPr>
            <a:r>
              <a:rPr lang="en-US" sz="1300" b="1" dirty="0">
                <a:solidFill>
                  <a:srgbClr val="2D6A4F"/>
                </a:solidFill>
                <a:latin typeface="Calibri" pitchFamily="34" charset="0"/>
                <a:ea typeface="Calibri" pitchFamily="34" charset="-122"/>
                <a:cs typeface="Calibri" pitchFamily="34" charset="-120"/>
              </a:rPr>
              <a:t>League and position encoding</a:t>
            </a:r>
            <a:endParaRPr lang="en-US" sz="1300" dirty="0"/>
          </a:p>
        </p:txBody>
      </p:sp>
      <p:sp>
        <p:nvSpPr>
          <p:cNvPr id="15" name="Text 13"/>
          <p:cNvSpPr/>
          <p:nvPr/>
        </p:nvSpPr>
        <p:spPr>
          <a:xfrm>
            <a:off x="5833872" y="3328416"/>
            <a:ext cx="2459736" cy="640080"/>
          </a:xfrm>
          <a:prstGeom prst="rect">
            <a:avLst/>
          </a:prstGeom>
          <a:noFill/>
          <a:ln/>
        </p:spPr>
        <p:txBody>
          <a:bodyPr wrap="square" rtlCol="0" anchor="t"/>
          <a:lstStyle/>
          <a:p>
            <a:pPr>
              <a:lnSpc>
                <a:spcPct val="105000"/>
              </a:lnSpc>
            </a:pPr>
            <a:r>
              <a:rPr lang="en-US" sz="1050" dirty="0">
                <a:solidFill>
                  <a:srgbClr val="1B2A34"/>
                </a:solidFill>
                <a:latin typeface="Calibri" pitchFamily="34" charset="0"/>
                <a:ea typeface="Calibri" pitchFamily="34" charset="-122"/>
                <a:cs typeface="Calibri" pitchFamily="34" charset="-120"/>
              </a:rPr>
              <a:t>Let's the model learn league premiums and positional value. </a:t>
            </a:r>
            <a:r>
              <a:rPr lang="en-001" sz="1050" dirty="0"/>
              <a:t>Converts text categories into 0/1 columns</a:t>
            </a:r>
            <a:endParaRPr lang="en-US" sz="1050" dirty="0"/>
          </a:p>
        </p:txBody>
      </p:sp>
      <p:sp>
        <p:nvSpPr>
          <p:cNvPr id="16" name="Shape 14"/>
          <p:cNvSpPr/>
          <p:nvPr/>
        </p:nvSpPr>
        <p:spPr>
          <a:xfrm>
            <a:off x="1550611" y="4197096"/>
            <a:ext cx="2788920" cy="1298448"/>
          </a:xfrm>
          <a:prstGeom prst="roundRect">
            <a:avLst>
              <a:gd name="adj" fmla="val 3521"/>
            </a:avLst>
          </a:prstGeom>
          <a:solidFill>
            <a:srgbClr val="F3F7F4"/>
          </a:solidFill>
          <a:ln w="12700">
            <a:solidFill>
              <a:srgbClr val="DDE7E1"/>
            </a:solidFill>
            <a:prstDash val="solid"/>
          </a:ln>
        </p:spPr>
        <p:txBody>
          <a:bodyPr/>
          <a:lstStyle/>
          <a:p>
            <a:endParaRPr lang="en-001"/>
          </a:p>
        </p:txBody>
      </p:sp>
      <p:sp>
        <p:nvSpPr>
          <p:cNvPr id="17" name="Text 15"/>
          <p:cNvSpPr/>
          <p:nvPr/>
        </p:nvSpPr>
        <p:spPr>
          <a:xfrm>
            <a:off x="1715203" y="4325112"/>
            <a:ext cx="2459736" cy="411480"/>
          </a:xfrm>
          <a:prstGeom prst="rect">
            <a:avLst/>
          </a:prstGeom>
          <a:noFill/>
          <a:ln/>
        </p:spPr>
        <p:txBody>
          <a:bodyPr wrap="square" rtlCol="0" anchor="t"/>
          <a:lstStyle/>
          <a:p>
            <a:pPr marL="0" indent="0">
              <a:buNone/>
            </a:pPr>
            <a:r>
              <a:rPr lang="en-US" sz="1300" b="1" dirty="0">
                <a:solidFill>
                  <a:srgbClr val="2D6A4F"/>
                </a:solidFill>
                <a:latin typeface="Calibri" pitchFamily="34" charset="0"/>
                <a:ea typeface="Calibri" pitchFamily="34" charset="-122"/>
                <a:cs typeface="Calibri" pitchFamily="34" charset="-120"/>
              </a:rPr>
              <a:t>Primary position</a:t>
            </a:r>
            <a:endParaRPr lang="en-US" sz="1300" dirty="0"/>
          </a:p>
        </p:txBody>
      </p:sp>
      <p:sp>
        <p:nvSpPr>
          <p:cNvPr id="18" name="Text 16"/>
          <p:cNvSpPr/>
          <p:nvPr/>
        </p:nvSpPr>
        <p:spPr>
          <a:xfrm>
            <a:off x="1715203" y="4745736"/>
            <a:ext cx="2459736" cy="640080"/>
          </a:xfrm>
          <a:prstGeom prst="rect">
            <a:avLst/>
          </a:prstGeom>
          <a:noFill/>
          <a:ln/>
        </p:spPr>
        <p:txBody>
          <a:bodyPr wrap="square" rtlCol="0" anchor="t"/>
          <a:lstStyle/>
          <a:p>
            <a:pPr marL="0" indent="0">
              <a:lnSpc>
                <a:spcPct val="105000"/>
              </a:lnSpc>
              <a:buNone/>
            </a:pPr>
            <a:r>
              <a:rPr lang="en-US" sz="1050" dirty="0">
                <a:solidFill>
                  <a:srgbClr val="1B2A34"/>
                </a:solidFill>
                <a:latin typeface="Calibri" pitchFamily="34" charset="0"/>
                <a:ea typeface="Calibri" pitchFamily="34" charset="-122"/>
                <a:cs typeface="Calibri" pitchFamily="34" charset="-120"/>
              </a:rPr>
              <a:t>Extract role (FW / MF / DF / GK)</a:t>
            </a:r>
            <a:endParaRPr lang="en-US" sz="1050" dirty="0"/>
          </a:p>
        </p:txBody>
      </p:sp>
      <p:sp>
        <p:nvSpPr>
          <p:cNvPr id="19" name="Shape 17"/>
          <p:cNvSpPr/>
          <p:nvPr/>
        </p:nvSpPr>
        <p:spPr>
          <a:xfrm>
            <a:off x="5669280" y="4197096"/>
            <a:ext cx="2788920" cy="1298448"/>
          </a:xfrm>
          <a:prstGeom prst="roundRect">
            <a:avLst>
              <a:gd name="adj" fmla="val 3521"/>
            </a:avLst>
          </a:prstGeom>
          <a:solidFill>
            <a:srgbClr val="F3F7F4"/>
          </a:solidFill>
          <a:ln w="12700">
            <a:solidFill>
              <a:srgbClr val="DDE7E1"/>
            </a:solidFill>
            <a:prstDash val="solid"/>
          </a:ln>
        </p:spPr>
        <p:txBody>
          <a:bodyPr/>
          <a:lstStyle/>
          <a:p>
            <a:endParaRPr lang="en-001"/>
          </a:p>
        </p:txBody>
      </p:sp>
      <p:sp>
        <p:nvSpPr>
          <p:cNvPr id="20" name="Text 18"/>
          <p:cNvSpPr/>
          <p:nvPr/>
        </p:nvSpPr>
        <p:spPr>
          <a:xfrm>
            <a:off x="5833872" y="4325112"/>
            <a:ext cx="2459736" cy="411480"/>
          </a:xfrm>
          <a:prstGeom prst="rect">
            <a:avLst/>
          </a:prstGeom>
          <a:noFill/>
          <a:ln/>
        </p:spPr>
        <p:txBody>
          <a:bodyPr wrap="square" rtlCol="0" anchor="t"/>
          <a:lstStyle/>
          <a:p>
            <a:pPr marL="0" indent="0">
              <a:buNone/>
            </a:pPr>
            <a:r>
              <a:rPr lang="en-US" sz="1300" b="1" dirty="0">
                <a:solidFill>
                  <a:srgbClr val="2D6A4F"/>
                </a:solidFill>
                <a:latin typeface="Calibri" pitchFamily="34" charset="0"/>
                <a:ea typeface="Calibri" pitchFamily="34" charset="-122"/>
                <a:cs typeface="Calibri" pitchFamily="34" charset="-120"/>
              </a:rPr>
              <a:t>Handle missing + leakage</a:t>
            </a:r>
            <a:endParaRPr lang="en-US" sz="1300" dirty="0"/>
          </a:p>
        </p:txBody>
      </p:sp>
      <p:sp>
        <p:nvSpPr>
          <p:cNvPr id="21" name="Text 19"/>
          <p:cNvSpPr/>
          <p:nvPr/>
        </p:nvSpPr>
        <p:spPr>
          <a:xfrm>
            <a:off x="5833872" y="4745736"/>
            <a:ext cx="2459736" cy="640080"/>
          </a:xfrm>
          <a:prstGeom prst="rect">
            <a:avLst/>
          </a:prstGeom>
          <a:noFill/>
          <a:ln/>
        </p:spPr>
        <p:txBody>
          <a:bodyPr wrap="square" rtlCol="0" anchor="t"/>
          <a:lstStyle/>
          <a:p>
            <a:pPr marL="0" indent="0">
              <a:lnSpc>
                <a:spcPct val="105000"/>
              </a:lnSpc>
              <a:buNone/>
            </a:pPr>
            <a:r>
              <a:rPr lang="en-US" sz="1050" dirty="0">
                <a:solidFill>
                  <a:srgbClr val="1B2A34"/>
                </a:solidFill>
                <a:latin typeface="Calibri" pitchFamily="34" charset="0"/>
                <a:ea typeface="Calibri" pitchFamily="34" charset="-122"/>
                <a:cs typeface="Calibri" pitchFamily="34" charset="-120"/>
              </a:rPr>
              <a:t>Fill gaps with 0; drop leaked value columns.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MACHINE LEARNING — SETUP</a:t>
            </a:r>
            <a:endParaRPr lang="en-US" sz="1200" dirty="0"/>
          </a:p>
        </p:txBody>
      </p:sp>
      <p:sp>
        <p:nvSpPr>
          <p:cNvPr id="3" name="Text 1"/>
          <p:cNvSpPr/>
          <p:nvPr/>
        </p:nvSpPr>
        <p:spPr>
          <a:xfrm>
            <a:off x="640080" y="65836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How the Model Was Built</a:t>
            </a:r>
            <a:endParaRPr lang="en-US" sz="3200" dirty="0"/>
          </a:p>
        </p:txBody>
      </p:sp>
      <p:sp>
        <p:nvSpPr>
          <p:cNvPr id="4" name="Text 2"/>
          <p:cNvSpPr/>
          <p:nvPr/>
        </p:nvSpPr>
        <p:spPr>
          <a:xfrm>
            <a:off x="640080" y="1600200"/>
            <a:ext cx="5486400" cy="4114800"/>
          </a:xfrm>
          <a:prstGeom prst="rect">
            <a:avLst/>
          </a:prstGeom>
          <a:noFill/>
          <a:ln/>
        </p:spPr>
        <p:txBody>
          <a:bodyPr wrap="square" rtlCol="0" anchor="t"/>
          <a:lstStyle/>
          <a:p>
            <a:pPr marL="342900" indent="-342900">
              <a:spcAft>
                <a:spcPts val="800"/>
              </a:spcAft>
              <a:buSzPct val="100000"/>
              <a:buChar char="•"/>
            </a:pPr>
            <a:r>
              <a:rPr lang="en-US" sz="1600" dirty="0"/>
              <a:t>P</a:t>
            </a:r>
            <a:r>
              <a:rPr lang="en-001" sz="1600" dirty="0"/>
              <a:t>redict a player's market value from his stats </a:t>
            </a:r>
            <a:r>
              <a:rPr lang="en-US" sz="1600" dirty="0"/>
              <a:t>(</a:t>
            </a:r>
            <a:r>
              <a:rPr lang="en-001" sz="1600" i="1" dirty="0"/>
              <a:t>regression</a:t>
            </a:r>
            <a:r>
              <a:rPr lang="en-001" sz="1600" dirty="0"/>
              <a:t>)</a:t>
            </a:r>
            <a:endParaRPr lang="en-US" sz="1500" dirty="0"/>
          </a:p>
          <a:p>
            <a:pPr marL="342900" indent="-342900">
              <a:spcAft>
                <a:spcPts val="800"/>
              </a:spcAft>
              <a:buSzPct val="100000"/>
              <a:buChar char="•"/>
            </a:pPr>
            <a:r>
              <a:rPr lang="en-US" sz="1500" dirty="0">
                <a:solidFill>
                  <a:srgbClr val="1B2A34"/>
                </a:solidFill>
                <a:latin typeface="Calibri" pitchFamily="34" charset="0"/>
                <a:ea typeface="Calibri" pitchFamily="34" charset="-122"/>
                <a:cs typeface="Calibri" pitchFamily="34" charset="-120"/>
              </a:rPr>
              <a:t>Target: log(1 + value), because value is highly skewed.</a:t>
            </a:r>
            <a:endParaRPr lang="en-US" sz="1500" dirty="0"/>
          </a:p>
          <a:p>
            <a:pPr marL="342900" indent="-342900">
              <a:spcAft>
                <a:spcPts val="800"/>
              </a:spcAft>
              <a:buSzPct val="100000"/>
              <a:buChar char="•"/>
            </a:pPr>
            <a:r>
              <a:rPr lang="en-US" sz="1500" dirty="0">
                <a:solidFill>
                  <a:srgbClr val="1B2A34"/>
                </a:solidFill>
                <a:latin typeface="Calibri" pitchFamily="34" charset="0"/>
                <a:ea typeface="Calibri" pitchFamily="34" charset="-122"/>
                <a:cs typeface="Calibri" pitchFamily="34" charset="-120"/>
              </a:rPr>
              <a:t>Three models compared: Linear Regression, Random Forest, XGBoost.</a:t>
            </a:r>
            <a:endParaRPr lang="en-US" sz="1500" dirty="0"/>
          </a:p>
          <a:p>
            <a:pPr marL="342900" indent="-342900">
              <a:spcAft>
                <a:spcPts val="800"/>
              </a:spcAft>
              <a:buSzPct val="100000"/>
              <a:buChar char="•"/>
            </a:pPr>
            <a:r>
              <a:rPr lang="en-US" sz="1500" dirty="0">
                <a:solidFill>
                  <a:srgbClr val="1B2A34"/>
                </a:solidFill>
                <a:latin typeface="Calibri" pitchFamily="34" charset="0"/>
                <a:ea typeface="Calibri" pitchFamily="34" charset="-122"/>
                <a:cs typeface="Calibri" pitchFamily="34" charset="-120"/>
              </a:rPr>
              <a:t>5-fold cross-validation for reliability</a:t>
            </a:r>
            <a:endParaRPr lang="en-US" sz="1500" dirty="0"/>
          </a:p>
          <a:p>
            <a:pPr marL="342900" indent="-342900">
              <a:spcAft>
                <a:spcPts val="800"/>
              </a:spcAft>
              <a:buSzPct val="100000"/>
              <a:buChar char="•"/>
            </a:pPr>
            <a:r>
              <a:rPr lang="en-001" sz="1600" dirty="0"/>
              <a:t>Tuned each model's settings to find its best version (RandomizedSearchCV)</a:t>
            </a:r>
            <a:endParaRPr lang="en-US" sz="1500" dirty="0"/>
          </a:p>
          <a:p>
            <a:pPr marL="342900" indent="-342900">
              <a:spcAft>
                <a:spcPts val="800"/>
              </a:spcAft>
              <a:buSzPct val="100000"/>
              <a:buChar char="•"/>
            </a:pPr>
            <a:r>
              <a:rPr lang="en-US" sz="1500" dirty="0">
                <a:solidFill>
                  <a:srgbClr val="1B2A34"/>
                </a:solidFill>
                <a:latin typeface="Calibri" pitchFamily="34" charset="0"/>
                <a:ea typeface="Calibri" pitchFamily="34" charset="-122"/>
                <a:cs typeface="Calibri" pitchFamily="34" charset="-120"/>
              </a:rPr>
              <a:t>80/20 train-test split, using 64 features</a:t>
            </a:r>
            <a:endParaRPr lang="en-US" sz="1500" dirty="0"/>
          </a:p>
        </p:txBody>
      </p:sp>
      <p:sp>
        <p:nvSpPr>
          <p:cNvPr id="5" name="Shape 3"/>
          <p:cNvSpPr/>
          <p:nvPr/>
        </p:nvSpPr>
        <p:spPr>
          <a:xfrm>
            <a:off x="6492240" y="1737360"/>
            <a:ext cx="5029200" cy="1463040"/>
          </a:xfrm>
          <a:prstGeom prst="roundRect">
            <a:avLst>
              <a:gd name="adj" fmla="val 3750"/>
            </a:avLst>
          </a:prstGeom>
          <a:solidFill>
            <a:srgbClr val="F3F7F4"/>
          </a:solidFill>
          <a:ln w="12700">
            <a:solidFill>
              <a:srgbClr val="DDE7E1"/>
            </a:solidFill>
            <a:prstDash val="solid"/>
          </a:ln>
        </p:spPr>
        <p:txBody>
          <a:bodyPr/>
          <a:lstStyle/>
          <a:p>
            <a:endParaRPr lang="en-US" dirty="0"/>
          </a:p>
          <a:p>
            <a:endParaRPr lang="en-US" dirty="0"/>
          </a:p>
          <a:p>
            <a:pPr lvl="0"/>
            <a:r>
              <a:rPr lang="en-US" sz="1400" dirty="0"/>
              <a:t>- </a:t>
            </a:r>
            <a:r>
              <a:rPr lang="en-001" sz="1400" dirty="0"/>
              <a:t>Tests the model on multiple data splits </a:t>
            </a:r>
          </a:p>
          <a:p>
            <a:pPr lvl="0"/>
            <a:r>
              <a:rPr lang="en-US" sz="1400" dirty="0"/>
              <a:t>- </a:t>
            </a:r>
            <a:r>
              <a:rPr lang="en-001" sz="1400" dirty="0"/>
              <a:t>Produces more reliable performance estimates </a:t>
            </a:r>
          </a:p>
          <a:p>
            <a:pPr lvl="0"/>
            <a:r>
              <a:rPr lang="en-US" sz="1400" dirty="0"/>
              <a:t>- </a:t>
            </a:r>
            <a:r>
              <a:rPr lang="en-001" sz="1400" dirty="0"/>
              <a:t>Reduces the risk of overfitting</a:t>
            </a:r>
          </a:p>
          <a:p>
            <a:endParaRPr lang="en-001" dirty="0"/>
          </a:p>
        </p:txBody>
      </p:sp>
      <p:sp>
        <p:nvSpPr>
          <p:cNvPr id="6" name="Text 4"/>
          <p:cNvSpPr/>
          <p:nvPr/>
        </p:nvSpPr>
        <p:spPr>
          <a:xfrm>
            <a:off x="6675120" y="1874520"/>
            <a:ext cx="466344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Why cross-validation?</a:t>
            </a:r>
            <a:endParaRPr lang="en-US" sz="1500" dirty="0"/>
          </a:p>
        </p:txBody>
      </p:sp>
      <p:sp>
        <p:nvSpPr>
          <p:cNvPr id="7" name="Text 5"/>
          <p:cNvSpPr/>
          <p:nvPr/>
        </p:nvSpPr>
        <p:spPr>
          <a:xfrm>
            <a:off x="6675120" y="2286000"/>
            <a:ext cx="4663440" cy="777240"/>
          </a:xfrm>
          <a:prstGeom prst="rect">
            <a:avLst/>
          </a:prstGeom>
          <a:noFill/>
          <a:ln/>
        </p:spPr>
        <p:txBody>
          <a:bodyPr wrap="square" rtlCol="0" anchor="t"/>
          <a:lstStyle/>
          <a:p>
            <a:pPr marL="0" indent="0">
              <a:lnSpc>
                <a:spcPct val="105000"/>
              </a:lnSpc>
              <a:buNone/>
            </a:pPr>
            <a:endParaRPr lang="en-US" sz="1250" dirty="0"/>
          </a:p>
        </p:txBody>
      </p:sp>
      <p:sp>
        <p:nvSpPr>
          <p:cNvPr id="10" name="Text 8"/>
          <p:cNvSpPr/>
          <p:nvPr/>
        </p:nvSpPr>
        <p:spPr>
          <a:xfrm>
            <a:off x="6675120" y="3931920"/>
            <a:ext cx="4663440" cy="777240"/>
          </a:xfrm>
          <a:prstGeom prst="rect">
            <a:avLst/>
          </a:prstGeom>
          <a:noFill/>
          <a:ln/>
        </p:spPr>
        <p:txBody>
          <a:bodyPr wrap="square" rtlCol="0" anchor="t"/>
          <a:lstStyle/>
          <a:p>
            <a:pPr marL="0" indent="0">
              <a:lnSpc>
                <a:spcPct val="105000"/>
              </a:lnSpc>
              <a:buNone/>
            </a:pP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640080" y="612648"/>
            <a:ext cx="10972800" cy="731520"/>
          </a:xfrm>
          <a:prstGeom prst="rect">
            <a:avLst/>
          </a:prstGeom>
          <a:noFill/>
          <a:ln/>
        </p:spPr>
        <p:txBody>
          <a:bodyPr wrap="square" rtlCol="0" anchor="ctr"/>
          <a:lstStyle/>
          <a:p>
            <a:pPr marL="0" indent="0">
              <a:buNone/>
            </a:pPr>
            <a:r>
              <a:rPr lang="en-US" sz="3000" b="1" dirty="0">
                <a:solidFill>
                  <a:srgbClr val="1B2A34"/>
                </a:solidFill>
                <a:latin typeface="Cambria" pitchFamily="34" charset="0"/>
                <a:ea typeface="Cambria" pitchFamily="34" charset="-122"/>
                <a:cs typeface="Cambria" pitchFamily="34" charset="-120"/>
              </a:rPr>
              <a:t>Cross-Validation: Testing the Models Fairly</a:t>
            </a:r>
            <a:endParaRPr lang="en-US" sz="3000" dirty="0"/>
          </a:p>
        </p:txBody>
      </p:sp>
      <p:sp>
        <p:nvSpPr>
          <p:cNvPr id="5" name="Text 3"/>
          <p:cNvSpPr/>
          <p:nvPr/>
        </p:nvSpPr>
        <p:spPr>
          <a:xfrm>
            <a:off x="640080" y="2011680"/>
            <a:ext cx="5212080" cy="4023360"/>
          </a:xfrm>
          <a:prstGeom prst="rect">
            <a:avLst/>
          </a:prstGeom>
          <a:noFill/>
          <a:ln/>
        </p:spPr>
        <p:txBody>
          <a:bodyPr wrap="square" rtlCol="0" anchor="t"/>
          <a:lstStyle/>
          <a:p>
            <a:pPr marL="342900" indent="-342900">
              <a:lnSpc>
                <a:spcPct val="108000"/>
              </a:lnSpc>
              <a:spcAft>
                <a:spcPts val="1100"/>
              </a:spcAft>
              <a:buSzPct val="100000"/>
              <a:buChar char="•"/>
            </a:pPr>
            <a:r>
              <a:rPr lang="en-US" sz="1450" dirty="0">
                <a:solidFill>
                  <a:srgbClr val="1B2A34"/>
                </a:solidFill>
                <a:latin typeface="Calibri" pitchFamily="34" charset="0"/>
                <a:ea typeface="Calibri" pitchFamily="34" charset="-122"/>
                <a:cs typeface="Calibri" pitchFamily="34" charset="-120"/>
              </a:rPr>
              <a:t>A single train/test split could be lucky or unlucky, and one split isn't enough to trust a score.</a:t>
            </a:r>
            <a:endParaRPr lang="en-US" sz="1450" dirty="0"/>
          </a:p>
          <a:p>
            <a:pPr marL="342900" indent="-342900">
              <a:lnSpc>
                <a:spcPct val="108000"/>
              </a:lnSpc>
              <a:spcAft>
                <a:spcPts val="1100"/>
              </a:spcAft>
              <a:buSzPct val="100000"/>
              <a:buChar char="•"/>
            </a:pPr>
            <a:r>
              <a:rPr lang="en-US" sz="1450" dirty="0">
                <a:solidFill>
                  <a:srgbClr val="1B2A34"/>
                </a:solidFill>
                <a:latin typeface="Calibri" pitchFamily="34" charset="0"/>
                <a:ea typeface="Calibri" pitchFamily="34" charset="-122"/>
                <a:cs typeface="Calibri" pitchFamily="34" charset="-120"/>
              </a:rPr>
              <a:t>I split the data into 5 parts, trained on 4 and tested on the 5th, then rotated until every part had been the test set.</a:t>
            </a:r>
            <a:endParaRPr lang="en-US" sz="1450" dirty="0"/>
          </a:p>
          <a:p>
            <a:pPr marL="342900" indent="-342900">
              <a:lnSpc>
                <a:spcPct val="108000"/>
              </a:lnSpc>
              <a:spcAft>
                <a:spcPts val="1100"/>
              </a:spcAft>
              <a:buSzPct val="100000"/>
              <a:buChar char="•"/>
            </a:pPr>
            <a:r>
              <a:rPr lang="en-US" sz="1450" dirty="0">
                <a:solidFill>
                  <a:srgbClr val="1B2A34"/>
                </a:solidFill>
                <a:latin typeface="Calibri" pitchFamily="34" charset="0"/>
                <a:ea typeface="Calibri" pitchFamily="34" charset="-122"/>
                <a:cs typeface="Calibri" pitchFamily="34" charset="-120"/>
              </a:rPr>
              <a:t>The final score is the average of all 5 </a:t>
            </a:r>
          </a:p>
          <a:p>
            <a:pPr marL="342900" indent="-342900">
              <a:lnSpc>
                <a:spcPct val="108000"/>
              </a:lnSpc>
              <a:spcAft>
                <a:spcPts val="1100"/>
              </a:spcAft>
              <a:buSzPct val="100000"/>
              <a:buChar char="•"/>
            </a:pPr>
            <a:r>
              <a:rPr lang="en-US" sz="1450" dirty="0">
                <a:solidFill>
                  <a:srgbClr val="1B2A34"/>
                </a:solidFill>
                <a:latin typeface="Calibri" pitchFamily="34" charset="0"/>
                <a:ea typeface="Calibri" pitchFamily="34" charset="-122"/>
                <a:cs typeface="Calibri" pitchFamily="34" charset="-120"/>
              </a:rPr>
              <a:t>The small ± values show the results are stable across</a:t>
            </a:r>
            <a:endParaRPr lang="en-US" sz="1450" dirty="0"/>
          </a:p>
        </p:txBody>
      </p:sp>
      <p:sp>
        <p:nvSpPr>
          <p:cNvPr id="6" name="Shape 4"/>
          <p:cNvSpPr/>
          <p:nvPr/>
        </p:nvSpPr>
        <p:spPr>
          <a:xfrm>
            <a:off x="6217920" y="1554480"/>
            <a:ext cx="5303520" cy="4160520"/>
          </a:xfrm>
          <a:prstGeom prst="roundRect">
            <a:avLst>
              <a:gd name="adj" fmla="val 1538"/>
            </a:avLst>
          </a:prstGeom>
          <a:solidFill>
            <a:srgbClr val="1B4332"/>
          </a:solidFill>
          <a:ln/>
        </p:spPr>
        <p:txBody>
          <a:bodyPr/>
          <a:lstStyle/>
          <a:p>
            <a:endParaRPr lang="en-001"/>
          </a:p>
        </p:txBody>
      </p:sp>
      <p:sp>
        <p:nvSpPr>
          <p:cNvPr id="7" name="Text 5"/>
          <p:cNvSpPr/>
          <p:nvPr/>
        </p:nvSpPr>
        <p:spPr>
          <a:xfrm>
            <a:off x="6492240" y="1783080"/>
            <a:ext cx="4754880" cy="411480"/>
          </a:xfrm>
          <a:prstGeom prst="rect">
            <a:avLst/>
          </a:prstGeom>
          <a:noFill/>
          <a:ln/>
        </p:spPr>
        <p:txBody>
          <a:bodyPr wrap="square" rtlCol="0" anchor="ctr"/>
          <a:lstStyle/>
          <a:p>
            <a:pPr marL="0" indent="0">
              <a:buNone/>
            </a:pPr>
            <a:r>
              <a:rPr lang="en-US" sz="1600" b="1" dirty="0">
                <a:solidFill>
                  <a:srgbClr val="52B788"/>
                </a:solidFill>
                <a:latin typeface="Calibri" pitchFamily="34" charset="0"/>
                <a:ea typeface="Calibri" pitchFamily="34" charset="-122"/>
                <a:cs typeface="Calibri" pitchFamily="34" charset="-120"/>
              </a:rPr>
              <a:t>5-Fold Cross-Validation (R²)</a:t>
            </a:r>
            <a:endParaRPr lang="en-US" sz="1600" dirty="0"/>
          </a:p>
        </p:txBody>
      </p:sp>
      <p:sp>
        <p:nvSpPr>
          <p:cNvPr id="8" name="Text 6"/>
          <p:cNvSpPr/>
          <p:nvPr/>
        </p:nvSpPr>
        <p:spPr>
          <a:xfrm>
            <a:off x="6583680" y="2423160"/>
            <a:ext cx="2651760" cy="5943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Linear Regression</a:t>
            </a:r>
            <a:endParaRPr lang="en-US" sz="1500" dirty="0"/>
          </a:p>
        </p:txBody>
      </p:sp>
      <p:sp>
        <p:nvSpPr>
          <p:cNvPr id="9" name="Text 7"/>
          <p:cNvSpPr/>
          <p:nvPr/>
        </p:nvSpPr>
        <p:spPr>
          <a:xfrm>
            <a:off x="9144000" y="2423160"/>
            <a:ext cx="1097280" cy="594360"/>
          </a:xfrm>
          <a:prstGeom prst="rect">
            <a:avLst/>
          </a:prstGeom>
          <a:noFill/>
          <a:ln/>
        </p:spPr>
        <p:txBody>
          <a:bodyPr wrap="square" rtlCol="0" anchor="ctr"/>
          <a:lstStyle/>
          <a:p>
            <a:pPr marL="0" indent="0" algn="r">
              <a:buNone/>
            </a:pPr>
            <a:r>
              <a:rPr lang="en-US" sz="2200" b="1" dirty="0">
                <a:solidFill>
                  <a:srgbClr val="D8F3DC"/>
                </a:solidFill>
                <a:latin typeface="Cambria" pitchFamily="34" charset="0"/>
                <a:ea typeface="Cambria" pitchFamily="34" charset="-122"/>
                <a:cs typeface="Cambria" pitchFamily="34" charset="-120"/>
              </a:rPr>
              <a:t>0.698</a:t>
            </a:r>
            <a:endParaRPr lang="en-US" sz="2200" dirty="0"/>
          </a:p>
        </p:txBody>
      </p:sp>
      <p:sp>
        <p:nvSpPr>
          <p:cNvPr id="10" name="Text 8"/>
          <p:cNvSpPr/>
          <p:nvPr/>
        </p:nvSpPr>
        <p:spPr>
          <a:xfrm>
            <a:off x="10287000" y="2423160"/>
            <a:ext cx="1005840" cy="594360"/>
          </a:xfrm>
          <a:prstGeom prst="rect">
            <a:avLst/>
          </a:prstGeom>
          <a:noFill/>
          <a:ln/>
        </p:spPr>
        <p:txBody>
          <a:bodyPr wrap="square" rtlCol="0" anchor="ctr"/>
          <a:lstStyle/>
          <a:p>
            <a:pPr marL="0" indent="0">
              <a:buNone/>
            </a:pPr>
            <a:r>
              <a:rPr lang="en-US" sz="1200" dirty="0">
                <a:solidFill>
                  <a:srgbClr val="D8F3DC"/>
                </a:solidFill>
                <a:latin typeface="Calibri" pitchFamily="34" charset="0"/>
                <a:ea typeface="Calibri" pitchFamily="34" charset="-122"/>
                <a:cs typeface="Calibri" pitchFamily="34" charset="-120"/>
              </a:rPr>
              <a:t>± 0.017</a:t>
            </a:r>
            <a:endParaRPr lang="en-US" sz="1200" dirty="0"/>
          </a:p>
        </p:txBody>
      </p:sp>
      <p:sp>
        <p:nvSpPr>
          <p:cNvPr id="11" name="Text 9"/>
          <p:cNvSpPr/>
          <p:nvPr/>
        </p:nvSpPr>
        <p:spPr>
          <a:xfrm>
            <a:off x="6583680" y="3291840"/>
            <a:ext cx="2651760" cy="5943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Random Forest</a:t>
            </a:r>
            <a:endParaRPr lang="en-US" sz="1500" dirty="0"/>
          </a:p>
        </p:txBody>
      </p:sp>
      <p:sp>
        <p:nvSpPr>
          <p:cNvPr id="12" name="Text 10"/>
          <p:cNvSpPr/>
          <p:nvPr/>
        </p:nvSpPr>
        <p:spPr>
          <a:xfrm>
            <a:off x="9144000" y="3291840"/>
            <a:ext cx="1097280" cy="594360"/>
          </a:xfrm>
          <a:prstGeom prst="rect">
            <a:avLst/>
          </a:prstGeom>
          <a:noFill/>
          <a:ln/>
        </p:spPr>
        <p:txBody>
          <a:bodyPr wrap="square" rtlCol="0" anchor="ctr"/>
          <a:lstStyle/>
          <a:p>
            <a:pPr marL="0" indent="0" algn="r">
              <a:buNone/>
            </a:pPr>
            <a:r>
              <a:rPr lang="en-US" sz="2200" b="1" dirty="0">
                <a:solidFill>
                  <a:srgbClr val="D8F3DC"/>
                </a:solidFill>
                <a:latin typeface="Cambria" pitchFamily="34" charset="0"/>
                <a:ea typeface="Cambria" pitchFamily="34" charset="-122"/>
                <a:cs typeface="Cambria" pitchFamily="34" charset="-120"/>
              </a:rPr>
              <a:t>0.725</a:t>
            </a:r>
            <a:endParaRPr lang="en-US" sz="2200" dirty="0"/>
          </a:p>
        </p:txBody>
      </p:sp>
      <p:sp>
        <p:nvSpPr>
          <p:cNvPr id="13" name="Text 11"/>
          <p:cNvSpPr/>
          <p:nvPr/>
        </p:nvSpPr>
        <p:spPr>
          <a:xfrm>
            <a:off x="10287000" y="3291840"/>
            <a:ext cx="1005840" cy="594360"/>
          </a:xfrm>
          <a:prstGeom prst="rect">
            <a:avLst/>
          </a:prstGeom>
          <a:noFill/>
          <a:ln/>
        </p:spPr>
        <p:txBody>
          <a:bodyPr wrap="square" rtlCol="0" anchor="ctr"/>
          <a:lstStyle/>
          <a:p>
            <a:pPr marL="0" indent="0">
              <a:buNone/>
            </a:pPr>
            <a:r>
              <a:rPr lang="en-US" sz="1200" dirty="0">
                <a:solidFill>
                  <a:srgbClr val="D8F3DC"/>
                </a:solidFill>
                <a:latin typeface="Calibri" pitchFamily="34" charset="0"/>
                <a:ea typeface="Calibri" pitchFamily="34" charset="-122"/>
                <a:cs typeface="Calibri" pitchFamily="34" charset="-120"/>
              </a:rPr>
              <a:t>± 0.014</a:t>
            </a:r>
            <a:endParaRPr lang="en-US" sz="1200" dirty="0"/>
          </a:p>
        </p:txBody>
      </p:sp>
      <p:sp>
        <p:nvSpPr>
          <p:cNvPr id="14" name="Shape 12"/>
          <p:cNvSpPr/>
          <p:nvPr/>
        </p:nvSpPr>
        <p:spPr>
          <a:xfrm>
            <a:off x="6400800" y="4087368"/>
            <a:ext cx="4937760" cy="749808"/>
          </a:xfrm>
          <a:prstGeom prst="roundRect">
            <a:avLst>
              <a:gd name="adj" fmla="val 6098"/>
            </a:avLst>
          </a:prstGeom>
          <a:solidFill>
            <a:srgbClr val="2D6A4F"/>
          </a:solidFill>
          <a:ln/>
        </p:spPr>
        <p:txBody>
          <a:bodyPr/>
          <a:lstStyle/>
          <a:p>
            <a:endParaRPr lang="en-001"/>
          </a:p>
        </p:txBody>
      </p:sp>
      <p:sp>
        <p:nvSpPr>
          <p:cNvPr id="15" name="Text 13"/>
          <p:cNvSpPr/>
          <p:nvPr/>
        </p:nvSpPr>
        <p:spPr>
          <a:xfrm>
            <a:off x="6583680" y="4160520"/>
            <a:ext cx="2651760" cy="5943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XGBoost</a:t>
            </a:r>
            <a:endParaRPr lang="en-US" sz="1500" dirty="0"/>
          </a:p>
        </p:txBody>
      </p:sp>
      <p:sp>
        <p:nvSpPr>
          <p:cNvPr id="16" name="Text 14"/>
          <p:cNvSpPr/>
          <p:nvPr/>
        </p:nvSpPr>
        <p:spPr>
          <a:xfrm>
            <a:off x="9144000" y="4160520"/>
            <a:ext cx="1097280" cy="594360"/>
          </a:xfrm>
          <a:prstGeom prst="rect">
            <a:avLst/>
          </a:prstGeom>
          <a:noFill/>
          <a:ln/>
        </p:spPr>
        <p:txBody>
          <a:bodyPr wrap="square" rtlCol="0" anchor="ctr"/>
          <a:lstStyle/>
          <a:p>
            <a:pPr marL="0" indent="0" algn="r">
              <a:buNone/>
            </a:pPr>
            <a:r>
              <a:rPr lang="en-US" sz="2200" b="1" dirty="0">
                <a:solidFill>
                  <a:srgbClr val="E9C46A"/>
                </a:solidFill>
                <a:latin typeface="Cambria" pitchFamily="34" charset="0"/>
                <a:ea typeface="Cambria" pitchFamily="34" charset="-122"/>
                <a:cs typeface="Cambria" pitchFamily="34" charset="-120"/>
              </a:rPr>
              <a:t>0.757</a:t>
            </a:r>
            <a:endParaRPr lang="en-US" sz="2200" dirty="0"/>
          </a:p>
        </p:txBody>
      </p:sp>
      <p:sp>
        <p:nvSpPr>
          <p:cNvPr id="17" name="Text 15"/>
          <p:cNvSpPr/>
          <p:nvPr/>
        </p:nvSpPr>
        <p:spPr>
          <a:xfrm>
            <a:off x="10287000" y="4160520"/>
            <a:ext cx="1005840" cy="594360"/>
          </a:xfrm>
          <a:prstGeom prst="rect">
            <a:avLst/>
          </a:prstGeom>
          <a:noFill/>
          <a:ln/>
        </p:spPr>
        <p:txBody>
          <a:bodyPr wrap="square" rtlCol="0" anchor="ctr"/>
          <a:lstStyle/>
          <a:p>
            <a:pPr marL="0" indent="0">
              <a:buNone/>
            </a:pPr>
            <a:r>
              <a:rPr lang="en-US" sz="1200" dirty="0">
                <a:solidFill>
                  <a:srgbClr val="D8F3DC"/>
                </a:solidFill>
                <a:latin typeface="Calibri" pitchFamily="34" charset="0"/>
                <a:ea typeface="Calibri" pitchFamily="34" charset="-122"/>
                <a:cs typeface="Calibri" pitchFamily="34" charset="-120"/>
              </a:rPr>
              <a:t>± 0.012</a:t>
            </a:r>
            <a:endParaRPr lang="en-US" sz="1200" dirty="0"/>
          </a:p>
        </p:txBody>
      </p:sp>
      <p:sp>
        <p:nvSpPr>
          <p:cNvPr id="18" name="Text 16"/>
          <p:cNvSpPr/>
          <p:nvPr/>
        </p:nvSpPr>
        <p:spPr>
          <a:xfrm>
            <a:off x="6492240" y="5074920"/>
            <a:ext cx="4846320" cy="548640"/>
          </a:xfrm>
          <a:prstGeom prst="rect">
            <a:avLst/>
          </a:prstGeom>
          <a:noFill/>
          <a:ln/>
        </p:spPr>
        <p:txBody>
          <a:bodyPr wrap="square" rtlCol="0" anchor="t"/>
          <a:lstStyle/>
          <a:p>
            <a:pPr marL="0" indent="0">
              <a:lnSpc>
                <a:spcPct val="105000"/>
              </a:lnSpc>
              <a:buNone/>
            </a:pPr>
            <a:r>
              <a:rPr lang="en-US" sz="1250" i="1" dirty="0">
                <a:solidFill>
                  <a:srgbClr val="D8F3DC"/>
                </a:solidFill>
                <a:latin typeface="Calibri" pitchFamily="34" charset="0"/>
                <a:ea typeface="Calibri" pitchFamily="34" charset="-122"/>
                <a:cs typeface="Calibri" pitchFamily="34" charset="-120"/>
              </a:rPr>
              <a:t>XGBoost – approx. 76% of the variation in market value, and every model was stable across all 5 folds.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MACHINE LEARNING — RESULTS</a:t>
            </a:r>
            <a:endParaRPr lang="en-US" sz="1200" dirty="0"/>
          </a:p>
        </p:txBody>
      </p:sp>
      <p:sp>
        <p:nvSpPr>
          <p:cNvPr id="4" name="Shape 2"/>
          <p:cNvSpPr/>
          <p:nvPr/>
        </p:nvSpPr>
        <p:spPr>
          <a:xfrm>
            <a:off x="640080" y="1645920"/>
            <a:ext cx="2743200" cy="1371600"/>
          </a:xfrm>
          <a:prstGeom prst="roundRect">
            <a:avLst>
              <a:gd name="adj" fmla="val 5333"/>
            </a:avLst>
          </a:prstGeom>
          <a:solidFill>
            <a:srgbClr val="1B4332"/>
          </a:solidFill>
          <a:ln/>
        </p:spPr>
        <p:txBody>
          <a:bodyPr/>
          <a:lstStyle/>
          <a:p>
            <a:endParaRPr lang="en-001"/>
          </a:p>
        </p:txBody>
      </p:sp>
      <p:sp>
        <p:nvSpPr>
          <p:cNvPr id="5" name="Text 3"/>
          <p:cNvSpPr/>
          <p:nvPr/>
        </p:nvSpPr>
        <p:spPr>
          <a:xfrm>
            <a:off x="640080" y="1755648"/>
            <a:ext cx="2743200" cy="777240"/>
          </a:xfrm>
          <a:prstGeom prst="rect">
            <a:avLst/>
          </a:prstGeom>
          <a:noFill/>
          <a:ln/>
        </p:spPr>
        <p:txBody>
          <a:bodyPr wrap="square" rtlCol="0" anchor="ctr"/>
          <a:lstStyle/>
          <a:p>
            <a:pPr marL="0" indent="0" algn="ctr">
              <a:buNone/>
            </a:pPr>
            <a:r>
              <a:rPr lang="en-US" sz="3400" b="1" dirty="0">
                <a:solidFill>
                  <a:srgbClr val="52B788"/>
                </a:solidFill>
                <a:latin typeface="Cambria" pitchFamily="34" charset="0"/>
                <a:ea typeface="Cambria" pitchFamily="34" charset="-122"/>
                <a:cs typeface="Cambria" pitchFamily="34" charset="-120"/>
              </a:rPr>
              <a:t>0.75</a:t>
            </a:r>
            <a:endParaRPr lang="en-US" sz="3400" dirty="0"/>
          </a:p>
        </p:txBody>
      </p:sp>
      <p:sp>
        <p:nvSpPr>
          <p:cNvPr id="6" name="Text 4"/>
          <p:cNvSpPr/>
          <p:nvPr/>
        </p:nvSpPr>
        <p:spPr>
          <a:xfrm>
            <a:off x="731520" y="2514600"/>
            <a:ext cx="256032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XGBoost R² (best model)</a:t>
            </a:r>
            <a:endParaRPr lang="en-US" sz="1200" dirty="0"/>
          </a:p>
        </p:txBody>
      </p:sp>
      <p:sp>
        <p:nvSpPr>
          <p:cNvPr id="7" name="Shape 5"/>
          <p:cNvSpPr/>
          <p:nvPr/>
        </p:nvSpPr>
        <p:spPr>
          <a:xfrm>
            <a:off x="640080" y="3246120"/>
            <a:ext cx="2743200" cy="1371600"/>
          </a:xfrm>
          <a:prstGeom prst="roundRect">
            <a:avLst>
              <a:gd name="adj" fmla="val 5333"/>
            </a:avLst>
          </a:prstGeom>
          <a:solidFill>
            <a:srgbClr val="1B4332"/>
          </a:solidFill>
          <a:ln/>
        </p:spPr>
        <p:txBody>
          <a:bodyPr/>
          <a:lstStyle/>
          <a:p>
            <a:endParaRPr lang="en-001"/>
          </a:p>
        </p:txBody>
      </p:sp>
      <p:sp>
        <p:nvSpPr>
          <p:cNvPr id="8" name="Text 6"/>
          <p:cNvSpPr/>
          <p:nvPr/>
        </p:nvSpPr>
        <p:spPr>
          <a:xfrm>
            <a:off x="640080" y="3355848"/>
            <a:ext cx="2743200" cy="777240"/>
          </a:xfrm>
          <a:prstGeom prst="rect">
            <a:avLst/>
          </a:prstGeom>
          <a:noFill/>
          <a:ln/>
        </p:spPr>
        <p:txBody>
          <a:bodyPr wrap="square" rtlCol="0" anchor="ctr"/>
          <a:lstStyle/>
          <a:p>
            <a:pPr marL="0" indent="0" algn="ctr">
              <a:buNone/>
            </a:pPr>
            <a:r>
              <a:rPr lang="en-US" sz="3400" b="1" dirty="0">
                <a:solidFill>
                  <a:srgbClr val="52B788"/>
                </a:solidFill>
                <a:latin typeface="Cambria" pitchFamily="34" charset="0"/>
                <a:ea typeface="Cambria" pitchFamily="34" charset="-122"/>
                <a:cs typeface="Cambria" pitchFamily="34" charset="-120"/>
              </a:rPr>
              <a:t>≈ €4.9M</a:t>
            </a:r>
            <a:endParaRPr lang="en-US" sz="3400" dirty="0"/>
          </a:p>
        </p:txBody>
      </p:sp>
      <p:sp>
        <p:nvSpPr>
          <p:cNvPr id="9" name="Text 7"/>
          <p:cNvSpPr/>
          <p:nvPr/>
        </p:nvSpPr>
        <p:spPr>
          <a:xfrm>
            <a:off x="731520" y="4114800"/>
            <a:ext cx="256032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average error (MAE)</a:t>
            </a:r>
            <a:endParaRPr lang="en-US" sz="1200" dirty="0"/>
          </a:p>
        </p:txBody>
      </p:sp>
      <p:sp>
        <p:nvSpPr>
          <p:cNvPr id="10" name="Shape 8"/>
          <p:cNvSpPr/>
          <p:nvPr/>
        </p:nvSpPr>
        <p:spPr>
          <a:xfrm>
            <a:off x="640080" y="4846320"/>
            <a:ext cx="2743200" cy="1371600"/>
          </a:xfrm>
          <a:prstGeom prst="roundRect">
            <a:avLst>
              <a:gd name="adj" fmla="val 5333"/>
            </a:avLst>
          </a:prstGeom>
          <a:solidFill>
            <a:srgbClr val="1B4332"/>
          </a:solidFill>
          <a:ln/>
        </p:spPr>
        <p:txBody>
          <a:bodyPr/>
          <a:lstStyle/>
          <a:p>
            <a:endParaRPr lang="en-001"/>
          </a:p>
        </p:txBody>
      </p:sp>
      <p:sp>
        <p:nvSpPr>
          <p:cNvPr id="11" name="Text 9"/>
          <p:cNvSpPr/>
          <p:nvPr/>
        </p:nvSpPr>
        <p:spPr>
          <a:xfrm>
            <a:off x="640080" y="4956048"/>
            <a:ext cx="2743200" cy="777240"/>
          </a:xfrm>
          <a:prstGeom prst="rect">
            <a:avLst/>
          </a:prstGeom>
          <a:noFill/>
          <a:ln/>
        </p:spPr>
        <p:txBody>
          <a:bodyPr wrap="square" rtlCol="0" anchor="ctr"/>
          <a:lstStyle/>
          <a:p>
            <a:pPr marL="0" indent="0" algn="ctr">
              <a:buNone/>
            </a:pPr>
            <a:r>
              <a:rPr lang="en-US" sz="3400" b="1" dirty="0">
                <a:solidFill>
                  <a:srgbClr val="52B788"/>
                </a:solidFill>
                <a:latin typeface="Cambria" pitchFamily="34" charset="0"/>
                <a:ea typeface="Cambria" pitchFamily="34" charset="-122"/>
                <a:cs typeface="Cambria" pitchFamily="34" charset="-120"/>
              </a:rPr>
              <a:t>5-fold</a:t>
            </a:r>
            <a:endParaRPr lang="en-US" sz="3400" dirty="0"/>
          </a:p>
        </p:txBody>
      </p:sp>
      <p:sp>
        <p:nvSpPr>
          <p:cNvPr id="12" name="Text 10"/>
          <p:cNvSpPr/>
          <p:nvPr/>
        </p:nvSpPr>
        <p:spPr>
          <a:xfrm>
            <a:off x="731520" y="5715000"/>
            <a:ext cx="256032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cross-validated</a:t>
            </a:r>
            <a:endParaRPr lang="en-US" sz="1200" dirty="0"/>
          </a:p>
        </p:txBody>
      </p:sp>
      <p:sp>
        <p:nvSpPr>
          <p:cNvPr id="13" name="Text 11"/>
          <p:cNvSpPr/>
          <p:nvPr/>
        </p:nvSpPr>
        <p:spPr>
          <a:xfrm>
            <a:off x="640080" y="6263640"/>
            <a:ext cx="2743200" cy="457200"/>
          </a:xfrm>
          <a:prstGeom prst="rect">
            <a:avLst/>
          </a:prstGeom>
          <a:noFill/>
          <a:ln/>
        </p:spPr>
        <p:txBody>
          <a:bodyPr wrap="square" rtlCol="0" anchor="t"/>
          <a:lstStyle/>
          <a:p>
            <a:pPr marL="0" indent="0">
              <a:lnSpc>
                <a:spcPct val="95000"/>
              </a:lnSpc>
              <a:buNone/>
            </a:pPr>
            <a:r>
              <a:rPr lang="en-US" sz="1000" dirty="0">
                <a:solidFill>
                  <a:srgbClr val="5F6B72"/>
                </a:solidFill>
                <a:latin typeface="Calibri" pitchFamily="34" charset="0"/>
                <a:ea typeface="Calibri" pitchFamily="34" charset="-122"/>
                <a:cs typeface="Calibri" pitchFamily="34" charset="-120"/>
              </a:rPr>
              <a:t>XGBoost explained ~75% of the variation in player market value a strong result, consistent with published valuation studies.</a:t>
            </a:r>
            <a:endParaRPr lang="en-US" sz="1000" dirty="0"/>
          </a:p>
        </p:txBody>
      </p:sp>
      <p:pic>
        <p:nvPicPr>
          <p:cNvPr id="21" name="Picture 20">
            <a:extLst>
              <a:ext uri="{FF2B5EF4-FFF2-40B4-BE49-F238E27FC236}">
                <a16:creationId xmlns:a16="http://schemas.microsoft.com/office/drawing/2014/main" id="{0E5DA272-D855-B85C-37E7-735BC76AA10D}"/>
              </a:ext>
            </a:extLst>
          </p:cNvPr>
          <p:cNvPicPr>
            <a:picLocks noChangeAspect="1"/>
          </p:cNvPicPr>
          <p:nvPr/>
        </p:nvPicPr>
        <p:blipFill>
          <a:blip r:embed="rId3"/>
          <a:stretch>
            <a:fillRect/>
          </a:stretch>
        </p:blipFill>
        <p:spPr>
          <a:xfrm>
            <a:off x="4584380" y="667148"/>
            <a:ext cx="4734586" cy="914528"/>
          </a:xfrm>
          <a:prstGeom prst="rect">
            <a:avLst/>
          </a:prstGeom>
        </p:spPr>
      </p:pic>
      <p:sp>
        <p:nvSpPr>
          <p:cNvPr id="23" name="TextBox 22">
            <a:extLst>
              <a:ext uri="{FF2B5EF4-FFF2-40B4-BE49-F238E27FC236}">
                <a16:creationId xmlns:a16="http://schemas.microsoft.com/office/drawing/2014/main" id="{9BCAF89A-C2BF-7075-5876-A655B77CF430}"/>
              </a:ext>
            </a:extLst>
          </p:cNvPr>
          <p:cNvSpPr txBox="1"/>
          <p:nvPr/>
        </p:nvSpPr>
        <p:spPr>
          <a:xfrm>
            <a:off x="4491214" y="1645920"/>
            <a:ext cx="4920917" cy="276999"/>
          </a:xfrm>
          <a:prstGeom prst="rect">
            <a:avLst/>
          </a:prstGeom>
          <a:noFill/>
        </p:spPr>
        <p:txBody>
          <a:bodyPr wrap="square">
            <a:spAutoFit/>
          </a:bodyPr>
          <a:lstStyle/>
          <a:p>
            <a:r>
              <a:rPr lang="en-001" sz="1200" dirty="0"/>
              <a:t>XGBoost wins on all three metrics</a:t>
            </a:r>
            <a:r>
              <a:rPr lang="en-US" sz="1200" dirty="0"/>
              <a:t>. It is </a:t>
            </a:r>
            <a:r>
              <a:rPr lang="en-001" sz="1200" dirty="0"/>
              <a:t>most accurate and fewest big misses.</a:t>
            </a:r>
          </a:p>
        </p:txBody>
      </p:sp>
      <p:pic>
        <p:nvPicPr>
          <p:cNvPr id="25" name="Picture 24">
            <a:extLst>
              <a:ext uri="{FF2B5EF4-FFF2-40B4-BE49-F238E27FC236}">
                <a16:creationId xmlns:a16="http://schemas.microsoft.com/office/drawing/2014/main" id="{0409C405-0A66-4990-7067-1872196B4AEA}"/>
              </a:ext>
            </a:extLst>
          </p:cNvPr>
          <p:cNvPicPr>
            <a:picLocks noChangeAspect="1"/>
          </p:cNvPicPr>
          <p:nvPr/>
        </p:nvPicPr>
        <p:blipFill>
          <a:blip r:embed="rId4"/>
          <a:stretch>
            <a:fillRect/>
          </a:stretch>
        </p:blipFill>
        <p:spPr>
          <a:xfrm>
            <a:off x="4771391" y="2304890"/>
            <a:ext cx="5782023" cy="36198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UNDERVALUED TALENT</a:t>
            </a:r>
            <a:endParaRPr lang="en-US" sz="1200" dirty="0"/>
          </a:p>
        </p:txBody>
      </p:sp>
      <p:sp>
        <p:nvSpPr>
          <p:cNvPr id="3" name="Text 1"/>
          <p:cNvSpPr/>
          <p:nvPr/>
        </p:nvSpPr>
        <p:spPr>
          <a:xfrm>
            <a:off x="640080" y="61264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Finding Undervalued Talent</a:t>
            </a:r>
            <a:endParaRPr lang="en-US" sz="3200" dirty="0"/>
          </a:p>
        </p:txBody>
      </p:sp>
      <p:sp>
        <p:nvSpPr>
          <p:cNvPr id="4" name="Shape 2"/>
          <p:cNvSpPr/>
          <p:nvPr/>
        </p:nvSpPr>
        <p:spPr>
          <a:xfrm>
            <a:off x="640080" y="1463040"/>
            <a:ext cx="10881360" cy="868680"/>
          </a:xfrm>
          <a:prstGeom prst="roundRect">
            <a:avLst>
              <a:gd name="adj" fmla="val 6316"/>
            </a:avLst>
          </a:prstGeom>
          <a:solidFill>
            <a:srgbClr val="1B4332"/>
          </a:solidFill>
          <a:ln/>
        </p:spPr>
        <p:txBody>
          <a:bodyPr/>
          <a:lstStyle/>
          <a:p>
            <a:endParaRPr lang="en-001"/>
          </a:p>
        </p:txBody>
      </p:sp>
      <p:sp>
        <p:nvSpPr>
          <p:cNvPr id="5" name="Text 3"/>
          <p:cNvSpPr/>
          <p:nvPr/>
        </p:nvSpPr>
        <p:spPr>
          <a:xfrm>
            <a:off x="914400" y="1463040"/>
            <a:ext cx="10332720" cy="868680"/>
          </a:xfrm>
          <a:prstGeom prst="rect">
            <a:avLst/>
          </a:prstGeom>
          <a:noFill/>
          <a:ln/>
        </p:spPr>
        <p:txBody>
          <a:bodyPr wrap="square" rtlCol="0" anchor="ctr"/>
          <a:lstStyle/>
          <a:p>
            <a:pPr marL="0" indent="0">
              <a:buNone/>
            </a:pPr>
            <a:r>
              <a:rPr lang="en-US" sz="1500" b="1" dirty="0">
                <a:solidFill>
                  <a:srgbClr val="52B788"/>
                </a:solidFill>
                <a:latin typeface="Calibri" pitchFamily="34" charset="0"/>
                <a:ea typeface="Calibri" pitchFamily="34" charset="-122"/>
                <a:cs typeface="Calibri" pitchFamily="34" charset="-120"/>
              </a:rPr>
              <a:t>Value gap  =  Predicted value  −  Listed value.   </a:t>
            </a:r>
          </a:p>
          <a:p>
            <a:pPr marL="0" indent="0">
              <a:buNone/>
            </a:pPr>
            <a:r>
              <a:rPr lang="en-US" sz="1500" dirty="0">
                <a:solidFill>
                  <a:srgbClr val="FFFFFF"/>
                </a:solidFill>
                <a:latin typeface="Calibri" pitchFamily="34" charset="0"/>
                <a:ea typeface="Calibri" pitchFamily="34" charset="-122"/>
                <a:cs typeface="Calibri" pitchFamily="34" charset="-120"/>
              </a:rPr>
              <a:t>A large positive gap means the model thinks a player is worth far more than his price.</a:t>
            </a:r>
            <a:endParaRPr lang="en-US" sz="1500" dirty="0"/>
          </a:p>
        </p:txBody>
      </p:sp>
      <p:sp>
        <p:nvSpPr>
          <p:cNvPr id="6" name="Shape 4"/>
          <p:cNvSpPr/>
          <p:nvPr/>
        </p:nvSpPr>
        <p:spPr>
          <a:xfrm>
            <a:off x="670560" y="2560320"/>
            <a:ext cx="5349240" cy="3566160"/>
          </a:xfrm>
          <a:prstGeom prst="roundRect">
            <a:avLst>
              <a:gd name="adj" fmla="val 1538"/>
            </a:avLst>
          </a:prstGeom>
          <a:solidFill>
            <a:srgbClr val="F3F7F4"/>
          </a:solidFill>
          <a:ln w="12700">
            <a:solidFill>
              <a:srgbClr val="DDE7E1"/>
            </a:solidFill>
            <a:prstDash val="solid"/>
          </a:ln>
        </p:spPr>
        <p:txBody>
          <a:bodyPr/>
          <a:lstStyle/>
          <a:p>
            <a:endParaRPr lang="en-001"/>
          </a:p>
        </p:txBody>
      </p:sp>
      <p:sp>
        <p:nvSpPr>
          <p:cNvPr id="7" name="Text 5"/>
          <p:cNvSpPr/>
          <p:nvPr/>
        </p:nvSpPr>
        <p:spPr>
          <a:xfrm>
            <a:off x="914400" y="2743200"/>
            <a:ext cx="4846320" cy="365760"/>
          </a:xfrm>
          <a:prstGeom prst="rect">
            <a:avLst/>
          </a:prstGeom>
          <a:noFill/>
          <a:ln/>
        </p:spPr>
        <p:txBody>
          <a:bodyPr wrap="square" rtlCol="0" anchor="ctr"/>
          <a:lstStyle/>
          <a:p>
            <a:pPr marL="0" indent="0">
              <a:buNone/>
            </a:pPr>
            <a:r>
              <a:rPr lang="en-US" sz="1600" b="1" dirty="0">
                <a:solidFill>
                  <a:srgbClr val="2D6A4F"/>
                </a:solidFill>
                <a:latin typeface="Calibri" pitchFamily="34" charset="0"/>
                <a:ea typeface="Calibri" pitchFamily="34" charset="-122"/>
                <a:cs typeface="Calibri" pitchFamily="34" charset="-120"/>
              </a:rPr>
              <a:t>How it works</a:t>
            </a:r>
            <a:endParaRPr lang="en-US" sz="1600" dirty="0"/>
          </a:p>
        </p:txBody>
      </p:sp>
      <p:sp>
        <p:nvSpPr>
          <p:cNvPr id="8" name="Text 6"/>
          <p:cNvSpPr/>
          <p:nvPr/>
        </p:nvSpPr>
        <p:spPr>
          <a:xfrm>
            <a:off x="914400" y="3154680"/>
            <a:ext cx="4846320" cy="2834640"/>
          </a:xfrm>
          <a:prstGeom prst="rect">
            <a:avLst/>
          </a:prstGeom>
          <a:noFill/>
          <a:ln/>
        </p:spPr>
        <p:txBody>
          <a:bodyPr wrap="square" rtlCol="0" anchor="t"/>
          <a:lstStyle/>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Predict every player's value with the XGBoost model (via cross-validation).</a:t>
            </a:r>
            <a:endParaRPr lang="en-US" sz="1350" dirty="0"/>
          </a:p>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Compute the gap: predicted minus actual value</a:t>
            </a:r>
            <a:endParaRPr lang="en-US" sz="1350" dirty="0"/>
          </a:p>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Rank players by the biggest positive gaps</a:t>
            </a:r>
            <a:endParaRPr lang="en-US" sz="1350" dirty="0"/>
          </a:p>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Only keep players with real minutes (≥ 5 full 90s) so it isn't noise</a:t>
            </a:r>
            <a:endParaRPr lang="en-US" sz="1350" dirty="0"/>
          </a:p>
        </p:txBody>
      </p:sp>
      <p:sp>
        <p:nvSpPr>
          <p:cNvPr id="9" name="Shape 7"/>
          <p:cNvSpPr/>
          <p:nvPr/>
        </p:nvSpPr>
        <p:spPr>
          <a:xfrm>
            <a:off x="6172200" y="2560320"/>
            <a:ext cx="5349240" cy="3566160"/>
          </a:xfrm>
          <a:prstGeom prst="roundRect">
            <a:avLst>
              <a:gd name="adj" fmla="val 1538"/>
            </a:avLst>
          </a:prstGeom>
          <a:solidFill>
            <a:srgbClr val="F3F7F4"/>
          </a:solidFill>
          <a:ln w="12700">
            <a:solidFill>
              <a:srgbClr val="DDE7E1"/>
            </a:solidFill>
            <a:prstDash val="solid"/>
          </a:ln>
        </p:spPr>
        <p:txBody>
          <a:bodyPr/>
          <a:lstStyle/>
          <a:p>
            <a:endParaRPr lang="en-001"/>
          </a:p>
        </p:txBody>
      </p:sp>
      <p:sp>
        <p:nvSpPr>
          <p:cNvPr id="10" name="Text 8"/>
          <p:cNvSpPr/>
          <p:nvPr/>
        </p:nvSpPr>
        <p:spPr>
          <a:xfrm>
            <a:off x="6446520" y="2743200"/>
            <a:ext cx="4846320" cy="365760"/>
          </a:xfrm>
          <a:prstGeom prst="rect">
            <a:avLst/>
          </a:prstGeom>
          <a:noFill/>
          <a:ln/>
        </p:spPr>
        <p:txBody>
          <a:bodyPr wrap="square" rtlCol="0" anchor="ctr"/>
          <a:lstStyle/>
          <a:p>
            <a:pPr marL="0" indent="0">
              <a:buNone/>
            </a:pPr>
            <a:r>
              <a:rPr lang="en-US" sz="1600" b="1" dirty="0">
                <a:solidFill>
                  <a:srgbClr val="2D6A4F"/>
                </a:solidFill>
                <a:latin typeface="Calibri" pitchFamily="34" charset="0"/>
                <a:ea typeface="Calibri" pitchFamily="34" charset="-122"/>
                <a:cs typeface="Calibri" pitchFamily="34" charset="-120"/>
              </a:rPr>
              <a:t>Top bargains flagged</a:t>
            </a:r>
            <a:endParaRPr lang="en-US" sz="1600" dirty="0"/>
          </a:p>
        </p:txBody>
      </p:sp>
      <p:sp>
        <p:nvSpPr>
          <p:cNvPr id="11" name="Text 9"/>
          <p:cNvSpPr/>
          <p:nvPr/>
        </p:nvSpPr>
        <p:spPr>
          <a:xfrm>
            <a:off x="6446520" y="3246120"/>
            <a:ext cx="4846320" cy="457200"/>
          </a:xfrm>
          <a:prstGeom prst="rect">
            <a:avLst/>
          </a:prstGeom>
          <a:noFill/>
          <a:ln/>
        </p:spPr>
        <p:txBody>
          <a:bodyPr wrap="square" rtlCol="0" anchor="ctr"/>
          <a:lstStyle/>
          <a:p>
            <a:pPr marL="0" indent="0">
              <a:buNone/>
            </a:pPr>
            <a:r>
              <a:rPr lang="en-US" sz="1350" b="1" dirty="0">
                <a:solidFill>
                  <a:srgbClr val="1B2A34"/>
                </a:solidFill>
                <a:latin typeface="Calibri" pitchFamily="34" charset="0"/>
                <a:ea typeface="Calibri" pitchFamily="34" charset="-122"/>
                <a:cs typeface="Calibri" pitchFamily="34" charset="-120"/>
              </a:rPr>
              <a:t>Dani Olmo</a:t>
            </a:r>
            <a:r>
              <a:rPr lang="en-US" sz="1350" dirty="0">
                <a:solidFill>
                  <a:srgbClr val="5F6B72"/>
                </a:solidFill>
                <a:latin typeface="Calibri" pitchFamily="34" charset="0"/>
                <a:ea typeface="Calibri" pitchFamily="34" charset="-122"/>
                <a:cs typeface="Calibri" pitchFamily="34" charset="-120"/>
              </a:rPr>
              <a:t>   €60M → €99.5M</a:t>
            </a:r>
            <a:r>
              <a:rPr lang="en-US" sz="1350" b="1" dirty="0">
                <a:solidFill>
                  <a:srgbClr val="2D6A4F"/>
                </a:solidFill>
                <a:latin typeface="Calibri" pitchFamily="34" charset="0"/>
                <a:ea typeface="Calibri" pitchFamily="34" charset="-122"/>
                <a:cs typeface="Calibri" pitchFamily="34" charset="-120"/>
              </a:rPr>
              <a:t>   +€39.5M</a:t>
            </a:r>
            <a:endParaRPr lang="en-US" sz="1350" dirty="0"/>
          </a:p>
        </p:txBody>
      </p:sp>
      <p:sp>
        <p:nvSpPr>
          <p:cNvPr id="12" name="Text 10"/>
          <p:cNvSpPr/>
          <p:nvPr/>
        </p:nvSpPr>
        <p:spPr>
          <a:xfrm>
            <a:off x="6446520" y="3813048"/>
            <a:ext cx="4846320" cy="457200"/>
          </a:xfrm>
          <a:prstGeom prst="rect">
            <a:avLst/>
          </a:prstGeom>
          <a:noFill/>
          <a:ln/>
        </p:spPr>
        <p:txBody>
          <a:bodyPr wrap="square" rtlCol="0" anchor="ctr"/>
          <a:lstStyle/>
          <a:p>
            <a:pPr marL="0" indent="0">
              <a:buNone/>
            </a:pPr>
            <a:r>
              <a:rPr lang="en-US" sz="1350" b="1" dirty="0">
                <a:solidFill>
                  <a:srgbClr val="1B2A34"/>
                </a:solidFill>
                <a:latin typeface="Calibri" pitchFamily="34" charset="0"/>
                <a:ea typeface="Calibri" pitchFamily="34" charset="-122"/>
                <a:cs typeface="Calibri" pitchFamily="34" charset="-120"/>
              </a:rPr>
              <a:t>Marcus Tavernier</a:t>
            </a:r>
            <a:r>
              <a:rPr lang="en-US" sz="1350" dirty="0">
                <a:solidFill>
                  <a:srgbClr val="5F6B72"/>
                </a:solidFill>
                <a:latin typeface="Calibri" pitchFamily="34" charset="0"/>
                <a:ea typeface="Calibri" pitchFamily="34" charset="-122"/>
                <a:cs typeface="Calibri" pitchFamily="34" charset="-120"/>
              </a:rPr>
              <a:t>   €25M → €55.6M</a:t>
            </a:r>
            <a:r>
              <a:rPr lang="en-US" sz="1350" b="1" dirty="0">
                <a:solidFill>
                  <a:srgbClr val="2D6A4F"/>
                </a:solidFill>
                <a:latin typeface="Calibri" pitchFamily="34" charset="0"/>
                <a:ea typeface="Calibri" pitchFamily="34" charset="-122"/>
                <a:cs typeface="Calibri" pitchFamily="34" charset="-120"/>
              </a:rPr>
              <a:t>   +€30.6M</a:t>
            </a:r>
            <a:endParaRPr lang="en-US" sz="1350" dirty="0"/>
          </a:p>
        </p:txBody>
      </p:sp>
      <p:sp>
        <p:nvSpPr>
          <p:cNvPr id="13" name="Text 11"/>
          <p:cNvSpPr/>
          <p:nvPr/>
        </p:nvSpPr>
        <p:spPr>
          <a:xfrm>
            <a:off x="6446520" y="4379976"/>
            <a:ext cx="4846320" cy="457200"/>
          </a:xfrm>
          <a:prstGeom prst="rect">
            <a:avLst/>
          </a:prstGeom>
          <a:noFill/>
          <a:ln/>
        </p:spPr>
        <p:txBody>
          <a:bodyPr wrap="square" rtlCol="0" anchor="ctr"/>
          <a:lstStyle/>
          <a:p>
            <a:pPr marL="0" indent="0">
              <a:buNone/>
            </a:pPr>
            <a:r>
              <a:rPr lang="en-US" sz="1350" b="1" dirty="0">
                <a:solidFill>
                  <a:srgbClr val="1B2A34"/>
                </a:solidFill>
                <a:latin typeface="Calibri" pitchFamily="34" charset="0"/>
                <a:ea typeface="Calibri" pitchFamily="34" charset="-122"/>
                <a:cs typeface="Calibri" pitchFamily="34" charset="-120"/>
              </a:rPr>
              <a:t>Amad Diallo</a:t>
            </a:r>
            <a:r>
              <a:rPr lang="en-US" sz="1350" dirty="0">
                <a:solidFill>
                  <a:srgbClr val="5F6B72"/>
                </a:solidFill>
                <a:latin typeface="Calibri" pitchFamily="34" charset="0"/>
                <a:ea typeface="Calibri" pitchFamily="34" charset="-122"/>
                <a:cs typeface="Calibri" pitchFamily="34" charset="-120"/>
              </a:rPr>
              <a:t>   €45M → €74.2M</a:t>
            </a:r>
            <a:r>
              <a:rPr lang="en-US" sz="1350" b="1" dirty="0">
                <a:solidFill>
                  <a:srgbClr val="2D6A4F"/>
                </a:solidFill>
                <a:latin typeface="Calibri" pitchFamily="34" charset="0"/>
                <a:ea typeface="Calibri" pitchFamily="34" charset="-122"/>
                <a:cs typeface="Calibri" pitchFamily="34" charset="-120"/>
              </a:rPr>
              <a:t>   +€29.2M</a:t>
            </a:r>
            <a:endParaRPr lang="en-US" sz="1350" dirty="0"/>
          </a:p>
        </p:txBody>
      </p:sp>
      <p:sp>
        <p:nvSpPr>
          <p:cNvPr id="14" name="Text 12"/>
          <p:cNvSpPr/>
          <p:nvPr/>
        </p:nvSpPr>
        <p:spPr>
          <a:xfrm>
            <a:off x="6446520" y="4946904"/>
            <a:ext cx="4846320" cy="457200"/>
          </a:xfrm>
          <a:prstGeom prst="rect">
            <a:avLst/>
          </a:prstGeom>
          <a:noFill/>
          <a:ln/>
        </p:spPr>
        <p:txBody>
          <a:bodyPr wrap="square" rtlCol="0" anchor="ctr"/>
          <a:lstStyle/>
          <a:p>
            <a:pPr marL="0" indent="0">
              <a:buNone/>
            </a:pPr>
            <a:r>
              <a:rPr lang="en-US" sz="1350" b="1" dirty="0">
                <a:solidFill>
                  <a:srgbClr val="1B2A34"/>
                </a:solidFill>
                <a:latin typeface="Calibri" pitchFamily="34" charset="0"/>
                <a:ea typeface="Calibri" pitchFamily="34" charset="-122"/>
                <a:cs typeface="Calibri" pitchFamily="34" charset="-120"/>
              </a:rPr>
              <a:t>Maximilian Beier</a:t>
            </a:r>
            <a:r>
              <a:rPr lang="en-US" sz="1350" dirty="0">
                <a:solidFill>
                  <a:srgbClr val="5F6B72"/>
                </a:solidFill>
                <a:latin typeface="Calibri" pitchFamily="34" charset="0"/>
                <a:ea typeface="Calibri" pitchFamily="34" charset="-122"/>
                <a:cs typeface="Calibri" pitchFamily="34" charset="-120"/>
              </a:rPr>
              <a:t>   €40M → €65.1M</a:t>
            </a:r>
            <a:r>
              <a:rPr lang="en-US" sz="1350" b="1" dirty="0">
                <a:solidFill>
                  <a:srgbClr val="2D6A4F"/>
                </a:solidFill>
                <a:latin typeface="Calibri" pitchFamily="34" charset="0"/>
                <a:ea typeface="Calibri" pitchFamily="34" charset="-122"/>
                <a:cs typeface="Calibri" pitchFamily="34" charset="-120"/>
              </a:rPr>
              <a:t>   +€25.1M</a:t>
            </a:r>
            <a:endParaRPr lang="en-US" sz="1350" dirty="0"/>
          </a:p>
        </p:txBody>
      </p:sp>
      <p:sp>
        <p:nvSpPr>
          <p:cNvPr id="15" name="Text 13"/>
          <p:cNvSpPr/>
          <p:nvPr/>
        </p:nvSpPr>
        <p:spPr>
          <a:xfrm>
            <a:off x="6446520" y="5623560"/>
            <a:ext cx="4846320" cy="457200"/>
          </a:xfrm>
          <a:prstGeom prst="rect">
            <a:avLst/>
          </a:prstGeom>
          <a:noFill/>
          <a:ln/>
        </p:spPr>
        <p:txBody>
          <a:bodyPr wrap="square" rtlCol="0" anchor="t"/>
          <a:lstStyle/>
          <a:p>
            <a:pPr marL="0" indent="0">
              <a:buNone/>
            </a:pPr>
            <a:r>
              <a:rPr lang="en-US" sz="1250" i="1" dirty="0">
                <a:solidFill>
                  <a:srgbClr val="5F6B72"/>
                </a:solidFill>
                <a:latin typeface="Calibri" pitchFamily="34" charset="0"/>
                <a:ea typeface="Calibri" pitchFamily="34" charset="-122"/>
                <a:cs typeface="Calibri" pitchFamily="34" charset="-120"/>
              </a:rPr>
              <a:t>Mostly young players at strong clubs whose output outstrips their price.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UNDERVALUED TALENT</a:t>
            </a:r>
            <a:endParaRPr lang="en-US" sz="1200" dirty="0"/>
          </a:p>
        </p:txBody>
      </p:sp>
      <p:sp>
        <p:nvSpPr>
          <p:cNvPr id="3" name="Text 1"/>
          <p:cNvSpPr/>
          <p:nvPr/>
        </p:nvSpPr>
        <p:spPr>
          <a:xfrm>
            <a:off x="640080" y="612648"/>
            <a:ext cx="10972800" cy="731520"/>
          </a:xfrm>
          <a:prstGeom prst="rect">
            <a:avLst/>
          </a:prstGeom>
          <a:noFill/>
          <a:ln/>
        </p:spPr>
        <p:txBody>
          <a:bodyPr wrap="square" rtlCol="0" anchor="ctr"/>
          <a:lstStyle/>
          <a:p>
            <a:pPr marL="0" indent="0">
              <a:buNone/>
            </a:pPr>
            <a:r>
              <a:rPr lang="en-US" sz="3000" b="1" dirty="0">
                <a:solidFill>
                  <a:srgbClr val="1B2A34"/>
                </a:solidFill>
                <a:latin typeface="Cambria" pitchFamily="34" charset="0"/>
                <a:ea typeface="Cambria" pitchFamily="34" charset="-122"/>
                <a:cs typeface="Cambria" pitchFamily="34" charset="-120"/>
              </a:rPr>
              <a:t>Why I Rank by Euro Gap, Not Ratio</a:t>
            </a:r>
            <a:endParaRPr lang="en-US" sz="3000" dirty="0"/>
          </a:p>
        </p:txBody>
      </p:sp>
      <p:sp>
        <p:nvSpPr>
          <p:cNvPr id="4" name="Text 2"/>
          <p:cNvSpPr/>
          <p:nvPr/>
        </p:nvSpPr>
        <p:spPr>
          <a:xfrm>
            <a:off x="640080" y="1371600"/>
            <a:ext cx="10972800" cy="365760"/>
          </a:xfrm>
          <a:prstGeom prst="rect">
            <a:avLst/>
          </a:prstGeom>
          <a:noFill/>
          <a:ln/>
        </p:spPr>
        <p:txBody>
          <a:bodyPr wrap="square" rtlCol="0" anchor="ctr"/>
          <a:lstStyle/>
          <a:p>
            <a:pPr marL="0" indent="0">
              <a:buNone/>
            </a:pPr>
            <a:r>
              <a:rPr lang="en-US" sz="1500" dirty="0">
                <a:solidFill>
                  <a:srgbClr val="5F6B72"/>
                </a:solidFill>
                <a:latin typeface="Calibri" pitchFamily="34" charset="0"/>
                <a:ea typeface="Calibri" pitchFamily="34" charset="-122"/>
                <a:cs typeface="Calibri" pitchFamily="34" charset="-120"/>
              </a:rPr>
              <a:t>Two ways to measure how undervalued a player is - one of them is misleading.</a:t>
            </a:r>
            <a:endParaRPr lang="en-US" sz="1500" dirty="0"/>
          </a:p>
        </p:txBody>
      </p:sp>
      <p:sp>
        <p:nvSpPr>
          <p:cNvPr id="5" name="Shape 3"/>
          <p:cNvSpPr/>
          <p:nvPr/>
        </p:nvSpPr>
        <p:spPr>
          <a:xfrm>
            <a:off x="640080" y="1965960"/>
            <a:ext cx="5349240" cy="2331720"/>
          </a:xfrm>
          <a:prstGeom prst="roundRect">
            <a:avLst>
              <a:gd name="adj" fmla="val 2353"/>
            </a:avLst>
          </a:prstGeom>
          <a:solidFill>
            <a:srgbClr val="EEF6F0"/>
          </a:solidFill>
          <a:ln w="19050">
            <a:solidFill>
              <a:srgbClr val="52B788"/>
            </a:solidFill>
            <a:prstDash val="solid"/>
          </a:ln>
        </p:spPr>
        <p:txBody>
          <a:bodyPr/>
          <a:lstStyle/>
          <a:p>
            <a:endParaRPr lang="en-001"/>
          </a:p>
        </p:txBody>
      </p:sp>
      <p:sp>
        <p:nvSpPr>
          <p:cNvPr id="6" name="Text 4"/>
          <p:cNvSpPr/>
          <p:nvPr/>
        </p:nvSpPr>
        <p:spPr>
          <a:xfrm>
            <a:off x="914400" y="2148840"/>
            <a:ext cx="4846320" cy="411480"/>
          </a:xfrm>
          <a:prstGeom prst="rect">
            <a:avLst/>
          </a:prstGeom>
          <a:noFill/>
          <a:ln/>
        </p:spPr>
        <p:txBody>
          <a:bodyPr wrap="square" rtlCol="0" anchor="ctr"/>
          <a:lstStyle/>
          <a:p>
            <a:pPr marL="0" indent="0">
              <a:buNone/>
            </a:pPr>
            <a:r>
              <a:rPr lang="en-US" sz="1800" b="1" dirty="0">
                <a:solidFill>
                  <a:srgbClr val="2D6A4F"/>
                </a:solidFill>
                <a:latin typeface="Calibri" pitchFamily="34" charset="0"/>
                <a:ea typeface="Calibri" pitchFamily="34" charset="-122"/>
                <a:cs typeface="Calibri" pitchFamily="34" charset="-120"/>
              </a:rPr>
              <a:t>  Euro gap</a:t>
            </a:r>
            <a:endParaRPr lang="en-US" sz="1800" dirty="0"/>
          </a:p>
        </p:txBody>
      </p:sp>
      <p:sp>
        <p:nvSpPr>
          <p:cNvPr id="7" name="Text 5"/>
          <p:cNvSpPr/>
          <p:nvPr/>
        </p:nvSpPr>
        <p:spPr>
          <a:xfrm>
            <a:off x="914400" y="2606040"/>
            <a:ext cx="4846320" cy="365760"/>
          </a:xfrm>
          <a:prstGeom prst="rect">
            <a:avLst/>
          </a:prstGeom>
          <a:noFill/>
          <a:ln/>
        </p:spPr>
        <p:txBody>
          <a:bodyPr wrap="square" rtlCol="0" anchor="ctr"/>
          <a:lstStyle/>
          <a:p>
            <a:pPr marL="0" indent="0">
              <a:buNone/>
            </a:pPr>
            <a:r>
              <a:rPr lang="en-US" sz="1300" dirty="0">
                <a:solidFill>
                  <a:srgbClr val="1B2A34"/>
                </a:solidFill>
                <a:latin typeface="Courier New" pitchFamily="34" charset="0"/>
                <a:ea typeface="Courier New" pitchFamily="34" charset="-122"/>
                <a:cs typeface="Courier New" pitchFamily="34" charset="-120"/>
              </a:rPr>
              <a:t>Predicted − Listed in euros</a:t>
            </a:r>
            <a:endParaRPr lang="en-US" sz="1300" dirty="0"/>
          </a:p>
        </p:txBody>
      </p:sp>
      <p:sp>
        <p:nvSpPr>
          <p:cNvPr id="8" name="Text 6"/>
          <p:cNvSpPr/>
          <p:nvPr/>
        </p:nvSpPr>
        <p:spPr>
          <a:xfrm>
            <a:off x="914400" y="3063240"/>
            <a:ext cx="4846320" cy="365760"/>
          </a:xfrm>
          <a:prstGeom prst="rect">
            <a:avLst/>
          </a:prstGeom>
          <a:noFill/>
          <a:ln/>
        </p:spPr>
        <p:txBody>
          <a:bodyPr wrap="square"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Dani Olmo:  </a:t>
            </a:r>
            <a:r>
              <a:rPr lang="en-US" sz="1400" dirty="0">
                <a:solidFill>
                  <a:srgbClr val="5F6B72"/>
                </a:solidFill>
                <a:latin typeface="Calibri" pitchFamily="34" charset="0"/>
                <a:ea typeface="Calibri" pitchFamily="34" charset="-122"/>
                <a:cs typeface="Calibri" pitchFamily="34" charset="-120"/>
              </a:rPr>
              <a:t>€99.5M − €60M = </a:t>
            </a:r>
            <a:r>
              <a:rPr lang="en-US" sz="1400" b="1" dirty="0">
                <a:solidFill>
                  <a:srgbClr val="2D6A4F"/>
                </a:solidFill>
                <a:latin typeface="Calibri" pitchFamily="34" charset="0"/>
                <a:ea typeface="Calibri" pitchFamily="34" charset="-122"/>
                <a:cs typeface="Calibri" pitchFamily="34" charset="-120"/>
              </a:rPr>
              <a:t>+€39.5M</a:t>
            </a:r>
            <a:endParaRPr lang="en-US" sz="1400" dirty="0"/>
          </a:p>
        </p:txBody>
      </p:sp>
      <p:sp>
        <p:nvSpPr>
          <p:cNvPr id="9" name="Text 7"/>
          <p:cNvSpPr/>
          <p:nvPr/>
        </p:nvSpPr>
        <p:spPr>
          <a:xfrm>
            <a:off x="914400" y="3611880"/>
            <a:ext cx="4846320" cy="548640"/>
          </a:xfrm>
          <a:prstGeom prst="rect">
            <a:avLst/>
          </a:prstGeom>
          <a:noFill/>
          <a:ln/>
        </p:spPr>
        <p:txBody>
          <a:bodyPr wrap="square" rtlCol="0" anchor="t"/>
          <a:lstStyle/>
          <a:p>
            <a:pPr marL="0" indent="0">
              <a:buNone/>
            </a:pPr>
            <a:r>
              <a:rPr lang="en-US" sz="1300" i="1" dirty="0">
                <a:solidFill>
                  <a:srgbClr val="2D6A4F"/>
                </a:solidFill>
                <a:latin typeface="Calibri" pitchFamily="34" charset="0"/>
                <a:ea typeface="Calibri" pitchFamily="34" charset="-122"/>
                <a:cs typeface="Calibri" pitchFamily="34" charset="-120"/>
              </a:rPr>
              <a:t>Not distorted by tiny values → gives credible bargains.</a:t>
            </a:r>
            <a:endParaRPr lang="en-US" sz="1300" dirty="0"/>
          </a:p>
        </p:txBody>
      </p:sp>
      <p:sp>
        <p:nvSpPr>
          <p:cNvPr id="10" name="Shape 8"/>
          <p:cNvSpPr/>
          <p:nvPr/>
        </p:nvSpPr>
        <p:spPr>
          <a:xfrm>
            <a:off x="6172200" y="1965960"/>
            <a:ext cx="5349240" cy="2331720"/>
          </a:xfrm>
          <a:prstGeom prst="roundRect">
            <a:avLst>
              <a:gd name="adj" fmla="val 2353"/>
            </a:avLst>
          </a:prstGeom>
          <a:solidFill>
            <a:srgbClr val="F7EFED"/>
          </a:solidFill>
          <a:ln w="19050">
            <a:solidFill>
              <a:srgbClr val="B85042"/>
            </a:solidFill>
            <a:prstDash val="solid"/>
          </a:ln>
        </p:spPr>
        <p:txBody>
          <a:bodyPr/>
          <a:lstStyle/>
          <a:p>
            <a:endParaRPr lang="en-001"/>
          </a:p>
        </p:txBody>
      </p:sp>
      <p:sp>
        <p:nvSpPr>
          <p:cNvPr id="11" name="Text 9"/>
          <p:cNvSpPr/>
          <p:nvPr/>
        </p:nvSpPr>
        <p:spPr>
          <a:xfrm>
            <a:off x="6446520" y="2148840"/>
            <a:ext cx="4846320" cy="411480"/>
          </a:xfrm>
          <a:prstGeom prst="rect">
            <a:avLst/>
          </a:prstGeom>
          <a:noFill/>
          <a:ln/>
        </p:spPr>
        <p:txBody>
          <a:bodyPr wrap="square" rtlCol="0" anchor="ctr"/>
          <a:lstStyle/>
          <a:p>
            <a:pPr marL="0" indent="0">
              <a:buNone/>
            </a:pPr>
            <a:r>
              <a:rPr lang="en-US" sz="1800" b="1" dirty="0">
                <a:solidFill>
                  <a:srgbClr val="B85042"/>
                </a:solidFill>
                <a:latin typeface="Calibri" pitchFamily="34" charset="0"/>
                <a:ea typeface="Calibri" pitchFamily="34" charset="-122"/>
                <a:cs typeface="Calibri" pitchFamily="34" charset="-120"/>
              </a:rPr>
              <a:t>  Ratio</a:t>
            </a:r>
            <a:endParaRPr lang="en-US" sz="1800" dirty="0"/>
          </a:p>
        </p:txBody>
      </p:sp>
      <p:sp>
        <p:nvSpPr>
          <p:cNvPr id="12" name="Text 10"/>
          <p:cNvSpPr/>
          <p:nvPr/>
        </p:nvSpPr>
        <p:spPr>
          <a:xfrm>
            <a:off x="6446520" y="2606040"/>
            <a:ext cx="4846320" cy="365760"/>
          </a:xfrm>
          <a:prstGeom prst="rect">
            <a:avLst/>
          </a:prstGeom>
          <a:noFill/>
          <a:ln/>
        </p:spPr>
        <p:txBody>
          <a:bodyPr wrap="square" rtlCol="0" anchor="ctr"/>
          <a:lstStyle/>
          <a:p>
            <a:pPr marL="0" indent="0">
              <a:buNone/>
            </a:pPr>
            <a:r>
              <a:rPr lang="en-US" sz="1300" dirty="0">
                <a:solidFill>
                  <a:srgbClr val="1B2A34"/>
                </a:solidFill>
                <a:latin typeface="Courier New" pitchFamily="34" charset="0"/>
                <a:ea typeface="Courier New" pitchFamily="34" charset="-122"/>
                <a:cs typeface="Courier New" pitchFamily="34" charset="-120"/>
              </a:rPr>
              <a:t>Predicted ÷ Listed — how many times bigger</a:t>
            </a:r>
            <a:endParaRPr lang="en-US" sz="1300" dirty="0"/>
          </a:p>
        </p:txBody>
      </p:sp>
      <p:sp>
        <p:nvSpPr>
          <p:cNvPr id="13" name="Text 11"/>
          <p:cNvSpPr/>
          <p:nvPr/>
        </p:nvSpPr>
        <p:spPr>
          <a:xfrm>
            <a:off x="6446520" y="3063240"/>
            <a:ext cx="4846320" cy="365760"/>
          </a:xfrm>
          <a:prstGeom prst="rect">
            <a:avLst/>
          </a:prstGeom>
          <a:noFill/>
          <a:ln/>
        </p:spPr>
        <p:txBody>
          <a:bodyPr wrap="square"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Dani Olmo:  </a:t>
            </a:r>
            <a:r>
              <a:rPr lang="en-US" sz="1400" dirty="0">
                <a:solidFill>
                  <a:srgbClr val="5F6B72"/>
                </a:solidFill>
                <a:latin typeface="Calibri" pitchFamily="34" charset="0"/>
                <a:ea typeface="Calibri" pitchFamily="34" charset="-122"/>
                <a:cs typeface="Calibri" pitchFamily="34" charset="-120"/>
              </a:rPr>
              <a:t>€99.5M ÷ €60M = </a:t>
            </a:r>
            <a:r>
              <a:rPr lang="en-US" sz="1400" b="1" dirty="0">
                <a:solidFill>
                  <a:srgbClr val="B85042"/>
                </a:solidFill>
                <a:latin typeface="Calibri" pitchFamily="34" charset="0"/>
                <a:ea typeface="Calibri" pitchFamily="34" charset="-122"/>
                <a:cs typeface="Calibri" pitchFamily="34" charset="-120"/>
              </a:rPr>
              <a:t>1.66×</a:t>
            </a:r>
            <a:endParaRPr lang="en-US" sz="1400" dirty="0"/>
          </a:p>
        </p:txBody>
      </p:sp>
      <p:sp>
        <p:nvSpPr>
          <p:cNvPr id="14" name="Text 12"/>
          <p:cNvSpPr/>
          <p:nvPr/>
        </p:nvSpPr>
        <p:spPr>
          <a:xfrm>
            <a:off x="6446520" y="3611880"/>
            <a:ext cx="4846320" cy="548640"/>
          </a:xfrm>
          <a:prstGeom prst="rect">
            <a:avLst/>
          </a:prstGeom>
          <a:noFill/>
          <a:ln/>
        </p:spPr>
        <p:txBody>
          <a:bodyPr wrap="square" rtlCol="0" anchor="t"/>
          <a:lstStyle/>
          <a:p>
            <a:pPr marL="0" indent="0">
              <a:buNone/>
            </a:pPr>
            <a:r>
              <a:rPr lang="en-US" sz="1300" i="1" dirty="0">
                <a:solidFill>
                  <a:srgbClr val="B85042"/>
                </a:solidFill>
                <a:latin typeface="Calibri" pitchFamily="34" charset="0"/>
                <a:ea typeface="Calibri" pitchFamily="34" charset="-122"/>
                <a:cs typeface="Calibri" pitchFamily="34" charset="-120"/>
              </a:rPr>
              <a:t>Blows up when a listed value is tiny → fake bargains</a:t>
            </a:r>
            <a:endParaRPr lang="en-US" sz="1300" dirty="0"/>
          </a:p>
        </p:txBody>
      </p:sp>
      <p:sp>
        <p:nvSpPr>
          <p:cNvPr id="15" name="Shape 13"/>
          <p:cNvSpPr/>
          <p:nvPr/>
        </p:nvSpPr>
        <p:spPr>
          <a:xfrm>
            <a:off x="640080" y="4572000"/>
            <a:ext cx="10881360" cy="1691640"/>
          </a:xfrm>
          <a:prstGeom prst="roundRect">
            <a:avLst>
              <a:gd name="adj" fmla="val 3243"/>
            </a:avLst>
          </a:prstGeom>
          <a:solidFill>
            <a:srgbClr val="1B4332"/>
          </a:solidFill>
          <a:ln/>
        </p:spPr>
        <p:txBody>
          <a:bodyPr/>
          <a:lstStyle/>
          <a:p>
            <a:endParaRPr lang="en-001" dirty="0"/>
          </a:p>
        </p:txBody>
      </p:sp>
      <p:sp>
        <p:nvSpPr>
          <p:cNvPr id="16" name="Text 14"/>
          <p:cNvSpPr/>
          <p:nvPr/>
        </p:nvSpPr>
        <p:spPr>
          <a:xfrm>
            <a:off x="960120" y="4754880"/>
            <a:ext cx="10058400" cy="365760"/>
          </a:xfrm>
          <a:prstGeom prst="rect">
            <a:avLst/>
          </a:prstGeom>
          <a:noFill/>
          <a:ln/>
        </p:spPr>
        <p:txBody>
          <a:bodyPr wrap="square" rtlCol="0" anchor="ctr"/>
          <a:lstStyle/>
          <a:p>
            <a:pPr marL="0" indent="0">
              <a:buNone/>
            </a:pPr>
            <a:r>
              <a:rPr lang="en-US" sz="1600" b="1" dirty="0">
                <a:solidFill>
                  <a:srgbClr val="52B788"/>
                </a:solidFill>
                <a:latin typeface="Calibri" pitchFamily="34" charset="0"/>
                <a:ea typeface="Calibri" pitchFamily="34" charset="-122"/>
                <a:cs typeface="Calibri" pitchFamily="34" charset="-120"/>
              </a:rPr>
              <a:t>Nicolás Paz</a:t>
            </a:r>
            <a:endParaRPr lang="en-US" sz="1600" dirty="0"/>
          </a:p>
        </p:txBody>
      </p:sp>
      <p:sp>
        <p:nvSpPr>
          <p:cNvPr id="17" name="Text 15"/>
          <p:cNvSpPr/>
          <p:nvPr/>
        </p:nvSpPr>
        <p:spPr>
          <a:xfrm>
            <a:off x="960120" y="5166360"/>
            <a:ext cx="10058400" cy="365760"/>
          </a:xfrm>
          <a:prstGeom prst="rect">
            <a:avLst/>
          </a:prstGeom>
          <a:noFill/>
          <a:ln/>
        </p:spPr>
        <p:txBody>
          <a:bodyPr wrap="square" rtlCol="0" anchor="ctr"/>
          <a:lstStyle/>
          <a:p>
            <a:pPr marL="0" indent="0">
              <a:buNone/>
            </a:pPr>
            <a:r>
              <a:rPr lang="en-US" sz="1400" dirty="0">
                <a:solidFill>
                  <a:srgbClr val="D8F3DC"/>
                </a:solidFill>
                <a:latin typeface="Calibri" pitchFamily="34" charset="0"/>
                <a:ea typeface="Calibri" pitchFamily="34" charset="-122"/>
                <a:cs typeface="Calibri" pitchFamily="34" charset="-120"/>
              </a:rPr>
              <a:t>Listed </a:t>
            </a:r>
            <a:r>
              <a:rPr lang="en-US" sz="1400" b="1" dirty="0">
                <a:solidFill>
                  <a:srgbClr val="FFFFFF"/>
                </a:solidFill>
                <a:latin typeface="Calibri" pitchFamily="34" charset="0"/>
                <a:ea typeface="Calibri" pitchFamily="34" charset="-122"/>
                <a:cs typeface="Calibri" pitchFamily="34" charset="-120"/>
              </a:rPr>
              <a:t>€0.4M</a:t>
            </a:r>
            <a:r>
              <a:rPr lang="en-US" sz="1400" dirty="0">
                <a:solidFill>
                  <a:srgbClr val="D8F3DC"/>
                </a:solidFill>
                <a:latin typeface="Calibri" pitchFamily="34" charset="0"/>
                <a:ea typeface="Calibri" pitchFamily="34" charset="-122"/>
                <a:cs typeface="Calibri" pitchFamily="34" charset="-120"/>
              </a:rPr>
              <a:t>  (outdated)     Predicted </a:t>
            </a:r>
            <a:r>
              <a:rPr lang="en-US" sz="1400" b="1" dirty="0">
                <a:solidFill>
                  <a:srgbClr val="FFFFFF"/>
                </a:solidFill>
                <a:latin typeface="Calibri" pitchFamily="34" charset="0"/>
                <a:ea typeface="Calibri" pitchFamily="34" charset="-122"/>
                <a:cs typeface="Calibri" pitchFamily="34" charset="-120"/>
              </a:rPr>
              <a:t>€60.5M</a:t>
            </a:r>
            <a:endParaRPr lang="en-US" sz="1400" dirty="0"/>
          </a:p>
        </p:txBody>
      </p:sp>
      <p:sp>
        <p:nvSpPr>
          <p:cNvPr id="18" name="Text 16"/>
          <p:cNvSpPr/>
          <p:nvPr/>
        </p:nvSpPr>
        <p:spPr>
          <a:xfrm>
            <a:off x="960120" y="5623560"/>
            <a:ext cx="10515600" cy="457200"/>
          </a:xfrm>
          <a:prstGeom prst="rect">
            <a:avLst/>
          </a:prstGeom>
          <a:noFill/>
          <a:ln/>
        </p:spPr>
        <p:txBody>
          <a:bodyPr wrap="square" rtlCol="0" anchor="ctr"/>
          <a:lstStyle/>
          <a:p>
            <a:pPr marL="0" indent="0">
              <a:buNone/>
            </a:pPr>
            <a:r>
              <a:rPr lang="en-US" sz="1400" dirty="0">
                <a:solidFill>
                  <a:srgbClr val="D8F3DC"/>
                </a:solidFill>
                <a:latin typeface="Calibri" pitchFamily="34" charset="0"/>
                <a:ea typeface="Calibri" pitchFamily="34" charset="-122"/>
                <a:cs typeface="Calibri" pitchFamily="34" charset="-120"/>
              </a:rPr>
              <a:t>Ratio = </a:t>
            </a:r>
            <a:r>
              <a:rPr lang="en-US" sz="1700" b="1" dirty="0">
                <a:solidFill>
                  <a:srgbClr val="B85042"/>
                </a:solidFill>
                <a:latin typeface="Calibri" pitchFamily="34" charset="0"/>
                <a:ea typeface="Calibri" pitchFamily="34" charset="-122"/>
                <a:cs typeface="Calibri" pitchFamily="34" charset="-120"/>
              </a:rPr>
              <a:t>151×  </a:t>
            </a:r>
            <a:r>
              <a:rPr lang="en-US" sz="1400" dirty="0">
                <a:solidFill>
                  <a:srgbClr val="D8F3DC"/>
                </a:solidFill>
                <a:latin typeface="Calibri" pitchFamily="34" charset="0"/>
                <a:ea typeface="Calibri" pitchFamily="34" charset="-122"/>
                <a:cs typeface="Calibri" pitchFamily="34" charset="-120"/>
              </a:rPr>
              <a:t>(bad data)          Euro gap = </a:t>
            </a:r>
            <a:r>
              <a:rPr lang="en-US" sz="1700" b="1" dirty="0">
                <a:solidFill>
                  <a:srgbClr val="52B788"/>
                </a:solidFill>
                <a:latin typeface="Calibri" pitchFamily="34" charset="0"/>
                <a:ea typeface="Calibri" pitchFamily="34" charset="-122"/>
                <a:cs typeface="Calibri" pitchFamily="34" charset="-120"/>
              </a:rPr>
              <a:t>€60.1M  </a:t>
            </a:r>
            <a:r>
              <a:rPr lang="en-US" sz="1400" dirty="0">
                <a:solidFill>
                  <a:srgbClr val="D8F3DC"/>
                </a:solidFill>
                <a:latin typeface="Calibri" pitchFamily="34" charset="0"/>
                <a:ea typeface="Calibri" pitchFamily="34" charset="-122"/>
                <a:cs typeface="Calibri" pitchFamily="34" charset="-120"/>
              </a:rPr>
              <a:t>(big, but sensible)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9C46A"/>
                </a:solidFill>
                <a:effectLst/>
                <a:uLnTx/>
                <a:uFillTx/>
                <a:latin typeface="Calibri" pitchFamily="34" charset="0"/>
                <a:ea typeface="Calibri" pitchFamily="34" charset="-122"/>
                <a:cs typeface="Calibri" pitchFamily="34" charset="-120"/>
              </a:rPr>
              <a:t>THE KEY RESULT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731520"/>
            <a:ext cx="109728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Validated Against Real Transfers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554480"/>
            <a:ext cx="1078992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F3DC"/>
                </a:solidFill>
                <a:effectLst/>
                <a:uLnTx/>
                <a:uFillTx/>
                <a:latin typeface="Calibri" pitchFamily="34" charset="0"/>
                <a:ea typeface="Calibri" pitchFamily="34" charset="-122"/>
                <a:cs typeface="Calibri" pitchFamily="34" charset="-120"/>
              </a:rPr>
              <a:t>Do the flagged players sell for more? I checked every pick against real completed transfer fees.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280160" y="2514600"/>
            <a:ext cx="4206240" cy="2606040"/>
          </a:xfrm>
          <a:prstGeom prst="roundRect">
            <a:avLst>
              <a:gd name="adj" fmla="val 3509"/>
            </a:avLst>
          </a:prstGeom>
          <a:solidFill>
            <a:srgbClr val="2D6A4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001"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280160" y="2880360"/>
            <a:ext cx="4206240" cy="10972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42.6%</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280160" y="3977640"/>
            <a:ext cx="4206240" cy="10058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D8F3DC"/>
                </a:solidFill>
                <a:effectLst/>
                <a:uLnTx/>
                <a:uFillTx/>
                <a:latin typeface="Calibri" pitchFamily="34" charset="0"/>
                <a:ea typeface="Calibri" pitchFamily="34" charset="-122"/>
                <a:cs typeface="Calibri" pitchFamily="34" charset="-120"/>
              </a:rPr>
              <a:t>of ALL transfers sold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D8F3DC"/>
                </a:solidFill>
                <a:effectLst/>
                <a:uLnTx/>
                <a:uFillTx/>
                <a:latin typeface="Calibri" pitchFamily="34" charset="0"/>
                <a:ea typeface="Calibri" pitchFamily="34" charset="-122"/>
                <a:cs typeface="Calibri" pitchFamily="34" charset="-120"/>
              </a:rPr>
              <a:t>above market value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D8F3DC"/>
                </a:solidFill>
                <a:effectLst/>
                <a:uLnTx/>
                <a:uFillTx/>
                <a:latin typeface="Calibri" pitchFamily="34" charset="0"/>
                <a:ea typeface="Calibri" pitchFamily="34" charset="-122"/>
                <a:cs typeface="Calibri" pitchFamily="34" charset="-120"/>
              </a:rPr>
              <a:t>(baseline)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675120" y="2514600"/>
            <a:ext cx="4206240" cy="2606040"/>
          </a:xfrm>
          <a:prstGeom prst="roundRect">
            <a:avLst>
              <a:gd name="adj" fmla="val 3509"/>
            </a:avLst>
          </a:prstGeom>
          <a:solidFill>
            <a:srgbClr val="52B7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001"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6675120" y="2880360"/>
            <a:ext cx="4206240" cy="10972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0" b="1" i="0" u="none" strike="noStrike" kern="1200" cap="none" spc="0" normalizeH="0" baseline="0" noProof="0" dirty="0">
                <a:ln>
                  <a:noFill/>
                </a:ln>
                <a:solidFill>
                  <a:srgbClr val="1B4332"/>
                </a:solidFill>
                <a:effectLst/>
                <a:uLnTx/>
                <a:uFillTx/>
                <a:latin typeface="Cambria" pitchFamily="34" charset="0"/>
                <a:ea typeface="Cambria" pitchFamily="34" charset="-122"/>
                <a:cs typeface="Cambria" pitchFamily="34" charset="-120"/>
              </a:rPr>
              <a:t>57.5%</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675120" y="3977640"/>
            <a:ext cx="4206240" cy="10058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of the model's TOP-100 picks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sold above market value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486400" y="2514600"/>
            <a:ext cx="1188720" cy="2606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E9C46A"/>
                </a:solidFill>
                <a:effectLst/>
                <a:uLnTx/>
                <a:uFillTx/>
                <a:latin typeface="Calibri" panose="020F0502020204030204"/>
                <a:ea typeface="+mn-ea"/>
                <a:cs typeface="+mn-cs"/>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0080" y="5349240"/>
            <a:ext cx="108813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D8F3DC"/>
                </a:solidFill>
                <a:effectLst/>
                <a:uLnTx/>
                <a:uFillTx/>
                <a:latin typeface="Calibri" pitchFamily="34" charset="0"/>
                <a:ea typeface="Calibri" pitchFamily="34" charset="-122"/>
                <a:cs typeface="Calibri" pitchFamily="34" charset="-120"/>
              </a:rPr>
              <a:t>67 of the top-100 picks appear in real transfer records · median premium 1.15× market value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0080" y="5852160"/>
            <a:ext cx="1088136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PLAYER SIMILARITY</a:t>
            </a:r>
            <a:endParaRPr lang="en-US" sz="1200" dirty="0"/>
          </a:p>
        </p:txBody>
      </p:sp>
      <p:sp>
        <p:nvSpPr>
          <p:cNvPr id="3" name="Text 1"/>
          <p:cNvSpPr/>
          <p:nvPr/>
        </p:nvSpPr>
        <p:spPr>
          <a:xfrm>
            <a:off x="640080" y="61264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Finding Replacements</a:t>
            </a:r>
            <a:endParaRPr lang="en-US" sz="3200" dirty="0"/>
          </a:p>
        </p:txBody>
      </p:sp>
      <p:sp>
        <p:nvSpPr>
          <p:cNvPr id="4" name="Text 2"/>
          <p:cNvSpPr/>
          <p:nvPr/>
        </p:nvSpPr>
        <p:spPr>
          <a:xfrm>
            <a:off x="640080" y="1371600"/>
            <a:ext cx="10972800" cy="411480"/>
          </a:xfrm>
          <a:prstGeom prst="rect">
            <a:avLst/>
          </a:prstGeom>
          <a:noFill/>
          <a:ln/>
        </p:spPr>
        <p:txBody>
          <a:bodyPr wrap="square" rtlCol="0" anchor="ctr"/>
          <a:lstStyle/>
          <a:p>
            <a:pPr marL="0" indent="0">
              <a:buNone/>
            </a:pPr>
            <a:r>
              <a:rPr lang="en-US" sz="1700" b="1" i="1" dirty="0">
                <a:solidFill>
                  <a:srgbClr val="2D6A4F"/>
                </a:solidFill>
                <a:latin typeface="Cambria" pitchFamily="34" charset="0"/>
                <a:ea typeface="Cambria" pitchFamily="34" charset="-122"/>
                <a:cs typeface="Cambria" pitchFamily="34" charset="-120"/>
              </a:rPr>
              <a:t>“Salah leaves — who plays like him, and who's cheaper?”</a:t>
            </a:r>
            <a:endParaRPr lang="en-US" sz="1700" dirty="0"/>
          </a:p>
        </p:txBody>
      </p:sp>
      <p:sp>
        <p:nvSpPr>
          <p:cNvPr id="5" name="Text 3"/>
          <p:cNvSpPr/>
          <p:nvPr/>
        </p:nvSpPr>
        <p:spPr>
          <a:xfrm>
            <a:off x="640080" y="1965960"/>
            <a:ext cx="5120640" cy="365760"/>
          </a:xfrm>
          <a:prstGeom prst="rect">
            <a:avLst/>
          </a:prstGeom>
          <a:noFill/>
          <a:ln/>
        </p:spPr>
        <p:txBody>
          <a:bodyPr wrap="square" rtlCol="0" anchor="ctr"/>
          <a:lstStyle/>
          <a:p>
            <a:pPr marL="0" indent="0">
              <a:buNone/>
            </a:pPr>
            <a:r>
              <a:rPr lang="en-US" sz="1600" b="1" dirty="0">
                <a:solidFill>
                  <a:srgbClr val="2D6A4F"/>
                </a:solidFill>
                <a:latin typeface="Calibri" pitchFamily="34" charset="0"/>
                <a:ea typeface="Calibri" pitchFamily="34" charset="-122"/>
                <a:cs typeface="Calibri" pitchFamily="34" charset="-120"/>
              </a:rPr>
              <a:t>How I find a replacement</a:t>
            </a:r>
            <a:endParaRPr lang="en-US" sz="1600" dirty="0"/>
          </a:p>
        </p:txBody>
      </p:sp>
      <p:sp>
        <p:nvSpPr>
          <p:cNvPr id="6" name="Text 4"/>
          <p:cNvSpPr/>
          <p:nvPr/>
        </p:nvSpPr>
        <p:spPr>
          <a:xfrm>
            <a:off x="640080" y="2377440"/>
            <a:ext cx="5120640" cy="3017520"/>
          </a:xfrm>
          <a:prstGeom prst="rect">
            <a:avLst/>
          </a:prstGeom>
          <a:noFill/>
          <a:ln/>
        </p:spPr>
        <p:txBody>
          <a:bodyPr wrap="square" rtlCol="0" anchor="t"/>
          <a:lstStyle/>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Build a per-90 stats for every player - goals, shots, tackles, crosses etc. per 90 minutes</a:t>
            </a:r>
            <a:endParaRPr lang="en-US" sz="1350" dirty="0"/>
          </a:p>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Scale all stats (StandardScaler) so no single stat dominates.</a:t>
            </a:r>
            <a:endParaRPr lang="en-US" sz="1350" dirty="0"/>
          </a:p>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Compare fingerprints with cosine similarity but only against players in the same position</a:t>
            </a:r>
            <a:endParaRPr lang="en-US" sz="1350" dirty="0"/>
          </a:p>
          <a:p>
            <a:pPr marL="342900" indent="-342900">
              <a:lnSpc>
                <a:spcPct val="106000"/>
              </a:lnSpc>
              <a:spcAft>
                <a:spcPts val="900"/>
              </a:spcAft>
              <a:buSzPct val="100000"/>
              <a:buChar char="•"/>
            </a:pPr>
            <a:r>
              <a:rPr lang="en-US" sz="1350" dirty="0">
                <a:solidFill>
                  <a:srgbClr val="1B2A34"/>
                </a:solidFill>
                <a:latin typeface="Calibri" pitchFamily="34" charset="0"/>
                <a:ea typeface="Calibri" pitchFamily="34" charset="-122"/>
                <a:cs typeface="Calibri" pitchFamily="34" charset="-120"/>
              </a:rPr>
              <a:t>Rank the closest matches, show a match % + rating, and flag the cheaper ones as bargain replacements</a:t>
            </a:r>
            <a:endParaRPr lang="en-US" sz="1350" dirty="0"/>
          </a:p>
        </p:txBody>
      </p:sp>
      <p:sp>
        <p:nvSpPr>
          <p:cNvPr id="7" name="Text 5"/>
          <p:cNvSpPr/>
          <p:nvPr/>
        </p:nvSpPr>
        <p:spPr>
          <a:xfrm>
            <a:off x="640080" y="5532120"/>
            <a:ext cx="5120640" cy="822960"/>
          </a:xfrm>
          <a:prstGeom prst="rect">
            <a:avLst/>
          </a:prstGeom>
          <a:noFill/>
          <a:ln/>
        </p:spPr>
        <p:txBody>
          <a:bodyPr wrap="square" rtlCol="0" anchor="t"/>
          <a:lstStyle/>
          <a:p>
            <a:pPr marL="0" indent="0">
              <a:lnSpc>
                <a:spcPct val="105000"/>
              </a:lnSpc>
              <a:buNone/>
            </a:pPr>
            <a:r>
              <a:rPr lang="en-US" sz="1250" b="1" i="1" dirty="0">
                <a:solidFill>
                  <a:srgbClr val="2D6A4F"/>
                </a:solidFill>
                <a:latin typeface="Calibri" pitchFamily="34" charset="0"/>
                <a:ea typeface="Calibri" pitchFamily="34" charset="-122"/>
                <a:cs typeface="Calibri" pitchFamily="34" charset="-120"/>
              </a:rPr>
              <a:t>Closest to Salah: </a:t>
            </a:r>
            <a:r>
              <a:rPr lang="en-US" sz="1250" i="1" dirty="0">
                <a:solidFill>
                  <a:srgbClr val="1B2A34"/>
                </a:solidFill>
                <a:latin typeface="Calibri" pitchFamily="34" charset="0"/>
                <a:ea typeface="Calibri" pitchFamily="34" charset="-122"/>
                <a:cs typeface="Calibri" pitchFamily="34" charset="-120"/>
              </a:rPr>
              <a:t>Harry Wilson (91.3%) — most alike in shots, shots on target, and plus-minus per 90.</a:t>
            </a:r>
            <a:endParaRPr lang="en-US" sz="1250" dirty="0"/>
          </a:p>
        </p:txBody>
      </p:sp>
      <p:sp>
        <p:nvSpPr>
          <p:cNvPr id="8" name="Shape 6"/>
          <p:cNvSpPr/>
          <p:nvPr/>
        </p:nvSpPr>
        <p:spPr>
          <a:xfrm>
            <a:off x="6035040" y="1965960"/>
            <a:ext cx="5486400" cy="4343400"/>
          </a:xfrm>
          <a:prstGeom prst="roundRect">
            <a:avLst>
              <a:gd name="adj" fmla="val 1263"/>
            </a:avLst>
          </a:prstGeom>
          <a:solidFill>
            <a:srgbClr val="F3F7F4"/>
          </a:solidFill>
          <a:ln w="12700">
            <a:solidFill>
              <a:srgbClr val="DDE7E1"/>
            </a:solidFill>
            <a:prstDash val="solid"/>
          </a:ln>
        </p:spPr>
        <p:txBody>
          <a:bodyPr/>
          <a:lstStyle/>
          <a:p>
            <a:endParaRPr lang="en-001"/>
          </a:p>
        </p:txBody>
      </p:sp>
      <p:sp>
        <p:nvSpPr>
          <p:cNvPr id="9" name="Text 7"/>
          <p:cNvSpPr/>
          <p:nvPr/>
        </p:nvSpPr>
        <p:spPr>
          <a:xfrm>
            <a:off x="6263640" y="2121408"/>
            <a:ext cx="5029200" cy="36576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Most similar player to Mohamed Salah</a:t>
            </a:r>
            <a:endParaRPr lang="en-US" sz="1500" dirty="0"/>
          </a:p>
        </p:txBody>
      </p:sp>
      <p:sp>
        <p:nvSpPr>
          <p:cNvPr id="10" name="Text 8"/>
          <p:cNvSpPr/>
          <p:nvPr/>
        </p:nvSpPr>
        <p:spPr>
          <a:xfrm>
            <a:off x="6309360" y="2542032"/>
            <a:ext cx="2377440" cy="320040"/>
          </a:xfrm>
          <a:prstGeom prst="rect">
            <a:avLst/>
          </a:prstGeom>
          <a:noFill/>
          <a:ln/>
        </p:spPr>
        <p:txBody>
          <a:bodyPr wrap="square" rtlCol="0" anchor="ctr"/>
          <a:lstStyle/>
          <a:p>
            <a:pPr marL="0" indent="0">
              <a:buNone/>
            </a:pPr>
            <a:r>
              <a:rPr lang="en-US" sz="1150" b="1" dirty="0">
                <a:solidFill>
                  <a:srgbClr val="5F6B72"/>
                </a:solidFill>
                <a:latin typeface="Calibri" pitchFamily="34" charset="0"/>
                <a:ea typeface="Calibri" pitchFamily="34" charset="-122"/>
                <a:cs typeface="Calibri" pitchFamily="34" charset="-120"/>
              </a:rPr>
              <a:t>Player</a:t>
            </a:r>
            <a:endParaRPr lang="en-US" sz="1150" dirty="0"/>
          </a:p>
        </p:txBody>
      </p:sp>
      <p:sp>
        <p:nvSpPr>
          <p:cNvPr id="11" name="Text 9"/>
          <p:cNvSpPr/>
          <p:nvPr/>
        </p:nvSpPr>
        <p:spPr>
          <a:xfrm>
            <a:off x="8686800" y="2542032"/>
            <a:ext cx="1005840" cy="320040"/>
          </a:xfrm>
          <a:prstGeom prst="rect">
            <a:avLst/>
          </a:prstGeom>
          <a:noFill/>
          <a:ln/>
        </p:spPr>
        <p:txBody>
          <a:bodyPr wrap="square" rtlCol="0" anchor="ctr"/>
          <a:lstStyle/>
          <a:p>
            <a:pPr marL="0" indent="0" algn="ctr">
              <a:buNone/>
            </a:pPr>
            <a:r>
              <a:rPr lang="en-US" sz="1150" b="1" dirty="0">
                <a:solidFill>
                  <a:srgbClr val="5F6B72"/>
                </a:solidFill>
                <a:latin typeface="Calibri" pitchFamily="34" charset="0"/>
                <a:ea typeface="Calibri" pitchFamily="34" charset="-122"/>
                <a:cs typeface="Calibri" pitchFamily="34" charset="-120"/>
              </a:rPr>
              <a:t>Match</a:t>
            </a:r>
            <a:endParaRPr lang="en-US" sz="1150" dirty="0"/>
          </a:p>
        </p:txBody>
      </p:sp>
      <p:sp>
        <p:nvSpPr>
          <p:cNvPr id="12" name="Text 10"/>
          <p:cNvSpPr/>
          <p:nvPr/>
        </p:nvSpPr>
        <p:spPr>
          <a:xfrm>
            <a:off x="9692640" y="2542032"/>
            <a:ext cx="914400" cy="320040"/>
          </a:xfrm>
          <a:prstGeom prst="rect">
            <a:avLst/>
          </a:prstGeom>
          <a:noFill/>
          <a:ln/>
        </p:spPr>
        <p:txBody>
          <a:bodyPr wrap="square" rtlCol="0" anchor="ctr"/>
          <a:lstStyle/>
          <a:p>
            <a:pPr marL="0" indent="0" algn="ctr">
              <a:buNone/>
            </a:pPr>
            <a:r>
              <a:rPr lang="en-US" sz="1150" b="1" dirty="0">
                <a:solidFill>
                  <a:srgbClr val="5F6B72"/>
                </a:solidFill>
                <a:latin typeface="Calibri" pitchFamily="34" charset="0"/>
                <a:ea typeface="Calibri" pitchFamily="34" charset="-122"/>
                <a:cs typeface="Calibri" pitchFamily="34" charset="-120"/>
              </a:rPr>
              <a:t>Value</a:t>
            </a:r>
            <a:endParaRPr lang="en-US" sz="1150" dirty="0"/>
          </a:p>
        </p:txBody>
      </p:sp>
      <p:sp>
        <p:nvSpPr>
          <p:cNvPr id="13" name="Text 11"/>
          <p:cNvSpPr/>
          <p:nvPr/>
        </p:nvSpPr>
        <p:spPr>
          <a:xfrm>
            <a:off x="10561320" y="2542032"/>
            <a:ext cx="868680" cy="320040"/>
          </a:xfrm>
          <a:prstGeom prst="rect">
            <a:avLst/>
          </a:prstGeom>
          <a:noFill/>
          <a:ln/>
        </p:spPr>
        <p:txBody>
          <a:bodyPr wrap="square" rtlCol="0" anchor="ctr"/>
          <a:lstStyle/>
          <a:p>
            <a:pPr marL="0" indent="0" algn="ctr">
              <a:buNone/>
            </a:pPr>
            <a:r>
              <a:rPr lang="en-US" sz="1150" b="1" dirty="0">
                <a:solidFill>
                  <a:srgbClr val="5F6B72"/>
                </a:solidFill>
                <a:latin typeface="Calibri" pitchFamily="34" charset="0"/>
                <a:ea typeface="Calibri" pitchFamily="34" charset="-122"/>
                <a:cs typeface="Calibri" pitchFamily="34" charset="-120"/>
              </a:rPr>
              <a:t>Cheaper</a:t>
            </a:r>
            <a:endParaRPr lang="en-US" sz="1150" dirty="0"/>
          </a:p>
        </p:txBody>
      </p:sp>
      <p:sp>
        <p:nvSpPr>
          <p:cNvPr id="14" name="Text 12"/>
          <p:cNvSpPr/>
          <p:nvPr/>
        </p:nvSpPr>
        <p:spPr>
          <a:xfrm>
            <a:off x="6309360" y="2907792"/>
            <a:ext cx="2377440" cy="384048"/>
          </a:xfrm>
          <a:prstGeom prst="rect">
            <a:avLst/>
          </a:prstGeom>
          <a:noFill/>
          <a:ln/>
        </p:spPr>
        <p:txBody>
          <a:bodyPr wrap="square" rtlCol="0" anchor="ctr"/>
          <a:lstStyle/>
          <a:p>
            <a:pPr marL="0" indent="0">
              <a:buNone/>
            </a:pPr>
            <a:r>
              <a:rPr lang="en-US" sz="1250" dirty="0">
                <a:solidFill>
                  <a:srgbClr val="1B2A34"/>
                </a:solidFill>
                <a:latin typeface="Calibri" pitchFamily="34" charset="0"/>
                <a:ea typeface="Calibri" pitchFamily="34" charset="-122"/>
                <a:cs typeface="Calibri" pitchFamily="34" charset="-120"/>
              </a:rPr>
              <a:t>Harry Wilson</a:t>
            </a:r>
            <a:endParaRPr lang="en-US" sz="1250" dirty="0"/>
          </a:p>
        </p:txBody>
      </p:sp>
      <p:sp>
        <p:nvSpPr>
          <p:cNvPr id="15" name="Text 13"/>
          <p:cNvSpPr/>
          <p:nvPr/>
        </p:nvSpPr>
        <p:spPr>
          <a:xfrm>
            <a:off x="8686800" y="2907792"/>
            <a:ext cx="1005840" cy="384048"/>
          </a:xfrm>
          <a:prstGeom prst="rect">
            <a:avLst/>
          </a:prstGeom>
          <a:noFill/>
          <a:ln/>
        </p:spPr>
        <p:txBody>
          <a:bodyPr wrap="square" rtlCol="0" anchor="ctr"/>
          <a:lstStyle/>
          <a:p>
            <a:pPr marL="0" indent="0" algn="ctr">
              <a:buNone/>
            </a:pPr>
            <a:r>
              <a:rPr lang="en-US" sz="1250" b="1" dirty="0">
                <a:solidFill>
                  <a:srgbClr val="2D6A4F"/>
                </a:solidFill>
                <a:latin typeface="Calibri" pitchFamily="34" charset="0"/>
                <a:ea typeface="Calibri" pitchFamily="34" charset="-122"/>
                <a:cs typeface="Calibri" pitchFamily="34" charset="-120"/>
              </a:rPr>
              <a:t>91.3%</a:t>
            </a:r>
            <a:endParaRPr lang="en-US" sz="1250" dirty="0"/>
          </a:p>
        </p:txBody>
      </p:sp>
      <p:sp>
        <p:nvSpPr>
          <p:cNvPr id="16" name="Text 14"/>
          <p:cNvSpPr/>
          <p:nvPr/>
        </p:nvSpPr>
        <p:spPr>
          <a:xfrm>
            <a:off x="9692640" y="2907792"/>
            <a:ext cx="914400" cy="384048"/>
          </a:xfrm>
          <a:prstGeom prst="rect">
            <a:avLst/>
          </a:prstGeom>
          <a:noFill/>
          <a:ln/>
        </p:spPr>
        <p:txBody>
          <a:bodyPr wrap="square" rtlCol="0" anchor="ctr"/>
          <a:lstStyle/>
          <a:p>
            <a:pPr marL="0" indent="0" algn="ctr">
              <a:buNone/>
            </a:pPr>
            <a:r>
              <a:rPr lang="en-US" sz="1200" dirty="0">
                <a:solidFill>
                  <a:srgbClr val="5F6B72"/>
                </a:solidFill>
                <a:latin typeface="Calibri" pitchFamily="34" charset="0"/>
                <a:ea typeface="Calibri" pitchFamily="34" charset="-122"/>
                <a:cs typeface="Calibri" pitchFamily="34" charset="-120"/>
              </a:rPr>
              <a:t>€25M</a:t>
            </a:r>
            <a:endParaRPr lang="en-US" sz="1200" dirty="0"/>
          </a:p>
        </p:txBody>
      </p:sp>
      <p:sp>
        <p:nvSpPr>
          <p:cNvPr id="17" name="Text 15"/>
          <p:cNvSpPr/>
          <p:nvPr/>
        </p:nvSpPr>
        <p:spPr>
          <a:xfrm>
            <a:off x="10561320" y="2907792"/>
            <a:ext cx="868680" cy="384048"/>
          </a:xfrm>
          <a:prstGeom prst="rect">
            <a:avLst/>
          </a:prstGeom>
          <a:noFill/>
          <a:ln/>
        </p:spPr>
        <p:txBody>
          <a:bodyPr wrap="square" rtlCol="0" anchor="ctr"/>
          <a:lstStyle/>
          <a:p>
            <a:pPr marL="0" indent="0" algn="ctr">
              <a:buNone/>
            </a:pPr>
            <a:endParaRPr lang="en-US" sz="1400" dirty="0"/>
          </a:p>
        </p:txBody>
      </p:sp>
      <p:sp>
        <p:nvSpPr>
          <p:cNvPr id="18" name="Text 16"/>
          <p:cNvSpPr/>
          <p:nvPr/>
        </p:nvSpPr>
        <p:spPr>
          <a:xfrm>
            <a:off x="6309360" y="3364992"/>
            <a:ext cx="2377440" cy="384048"/>
          </a:xfrm>
          <a:prstGeom prst="rect">
            <a:avLst/>
          </a:prstGeom>
          <a:noFill/>
          <a:ln/>
        </p:spPr>
        <p:txBody>
          <a:bodyPr wrap="square" rtlCol="0" anchor="ctr"/>
          <a:lstStyle/>
          <a:p>
            <a:pPr marL="0" indent="0">
              <a:buNone/>
            </a:pPr>
            <a:r>
              <a:rPr lang="en-US" sz="1250" dirty="0">
                <a:solidFill>
                  <a:srgbClr val="1B2A34"/>
                </a:solidFill>
                <a:latin typeface="Calibri" pitchFamily="34" charset="0"/>
                <a:ea typeface="Calibri" pitchFamily="34" charset="-122"/>
                <a:cs typeface="Calibri" pitchFamily="34" charset="-120"/>
              </a:rPr>
              <a:t>Marcus Rashford</a:t>
            </a:r>
            <a:endParaRPr lang="en-US" sz="1250" dirty="0"/>
          </a:p>
        </p:txBody>
      </p:sp>
      <p:sp>
        <p:nvSpPr>
          <p:cNvPr id="19" name="Text 17"/>
          <p:cNvSpPr/>
          <p:nvPr/>
        </p:nvSpPr>
        <p:spPr>
          <a:xfrm>
            <a:off x="8686800" y="3364992"/>
            <a:ext cx="1005840" cy="384048"/>
          </a:xfrm>
          <a:prstGeom prst="rect">
            <a:avLst/>
          </a:prstGeom>
          <a:noFill/>
          <a:ln/>
        </p:spPr>
        <p:txBody>
          <a:bodyPr wrap="square" rtlCol="0" anchor="ctr"/>
          <a:lstStyle/>
          <a:p>
            <a:pPr marL="0" indent="0" algn="ctr">
              <a:buNone/>
            </a:pPr>
            <a:r>
              <a:rPr lang="en-US" sz="1250" b="1" dirty="0">
                <a:solidFill>
                  <a:srgbClr val="2D6A4F"/>
                </a:solidFill>
                <a:latin typeface="Calibri" pitchFamily="34" charset="0"/>
                <a:ea typeface="Calibri" pitchFamily="34" charset="-122"/>
                <a:cs typeface="Calibri" pitchFamily="34" charset="-120"/>
              </a:rPr>
              <a:t>90.8%</a:t>
            </a:r>
            <a:endParaRPr lang="en-US" sz="1250" dirty="0"/>
          </a:p>
        </p:txBody>
      </p:sp>
      <p:sp>
        <p:nvSpPr>
          <p:cNvPr id="20" name="Text 18"/>
          <p:cNvSpPr/>
          <p:nvPr/>
        </p:nvSpPr>
        <p:spPr>
          <a:xfrm>
            <a:off x="9692640" y="3364992"/>
            <a:ext cx="914400" cy="384048"/>
          </a:xfrm>
          <a:prstGeom prst="rect">
            <a:avLst/>
          </a:prstGeom>
          <a:noFill/>
          <a:ln/>
        </p:spPr>
        <p:txBody>
          <a:bodyPr wrap="square" rtlCol="0" anchor="ctr"/>
          <a:lstStyle/>
          <a:p>
            <a:pPr marL="0" indent="0" algn="ctr">
              <a:buNone/>
            </a:pPr>
            <a:r>
              <a:rPr lang="en-US" sz="1200" dirty="0">
                <a:solidFill>
                  <a:srgbClr val="5F6B72"/>
                </a:solidFill>
                <a:latin typeface="Calibri" pitchFamily="34" charset="0"/>
                <a:ea typeface="Calibri" pitchFamily="34" charset="-122"/>
                <a:cs typeface="Calibri" pitchFamily="34" charset="-120"/>
              </a:rPr>
              <a:t>€40M</a:t>
            </a:r>
            <a:endParaRPr lang="en-US" sz="1200" dirty="0"/>
          </a:p>
        </p:txBody>
      </p:sp>
      <p:sp>
        <p:nvSpPr>
          <p:cNvPr id="21" name="Text 19"/>
          <p:cNvSpPr/>
          <p:nvPr/>
        </p:nvSpPr>
        <p:spPr>
          <a:xfrm>
            <a:off x="10561320" y="3364992"/>
            <a:ext cx="868680" cy="384048"/>
          </a:xfrm>
          <a:prstGeom prst="rect">
            <a:avLst/>
          </a:prstGeom>
          <a:noFill/>
          <a:ln/>
        </p:spPr>
        <p:txBody>
          <a:bodyPr wrap="square" rtlCol="0" anchor="ctr"/>
          <a:lstStyle/>
          <a:p>
            <a:pPr marL="0" indent="0" algn="ctr">
              <a:buNone/>
            </a:pPr>
            <a:endParaRPr lang="en-US" sz="1400" dirty="0"/>
          </a:p>
        </p:txBody>
      </p:sp>
      <p:sp>
        <p:nvSpPr>
          <p:cNvPr id="22" name="Text 20"/>
          <p:cNvSpPr/>
          <p:nvPr/>
        </p:nvSpPr>
        <p:spPr>
          <a:xfrm>
            <a:off x="6309360" y="3822192"/>
            <a:ext cx="2377440" cy="384048"/>
          </a:xfrm>
          <a:prstGeom prst="rect">
            <a:avLst/>
          </a:prstGeom>
          <a:noFill/>
          <a:ln/>
        </p:spPr>
        <p:txBody>
          <a:bodyPr wrap="square" rtlCol="0" anchor="ctr"/>
          <a:lstStyle/>
          <a:p>
            <a:pPr marL="0" indent="0">
              <a:buNone/>
            </a:pPr>
            <a:r>
              <a:rPr lang="en-US" sz="1250" dirty="0">
                <a:solidFill>
                  <a:srgbClr val="1B2A34"/>
                </a:solidFill>
                <a:latin typeface="Calibri" pitchFamily="34" charset="0"/>
                <a:ea typeface="Calibri" pitchFamily="34" charset="-122"/>
                <a:cs typeface="Calibri" pitchFamily="34" charset="-120"/>
              </a:rPr>
              <a:t>Jamie Leweling</a:t>
            </a:r>
            <a:endParaRPr lang="en-US" sz="1250" dirty="0"/>
          </a:p>
        </p:txBody>
      </p:sp>
      <p:sp>
        <p:nvSpPr>
          <p:cNvPr id="23" name="Text 21"/>
          <p:cNvSpPr/>
          <p:nvPr/>
        </p:nvSpPr>
        <p:spPr>
          <a:xfrm>
            <a:off x="8686800" y="3822192"/>
            <a:ext cx="1005840" cy="384048"/>
          </a:xfrm>
          <a:prstGeom prst="rect">
            <a:avLst/>
          </a:prstGeom>
          <a:noFill/>
          <a:ln/>
        </p:spPr>
        <p:txBody>
          <a:bodyPr wrap="square" rtlCol="0" anchor="ctr"/>
          <a:lstStyle/>
          <a:p>
            <a:pPr marL="0" indent="0" algn="ctr">
              <a:buNone/>
            </a:pPr>
            <a:r>
              <a:rPr lang="en-US" sz="1250" b="1" dirty="0">
                <a:solidFill>
                  <a:srgbClr val="2D6A4F"/>
                </a:solidFill>
                <a:latin typeface="Calibri" pitchFamily="34" charset="0"/>
                <a:ea typeface="Calibri" pitchFamily="34" charset="-122"/>
                <a:cs typeface="Calibri" pitchFamily="34" charset="-120"/>
              </a:rPr>
              <a:t>87.6%</a:t>
            </a:r>
            <a:endParaRPr lang="en-US" sz="1250" dirty="0"/>
          </a:p>
        </p:txBody>
      </p:sp>
      <p:sp>
        <p:nvSpPr>
          <p:cNvPr id="24" name="Text 22"/>
          <p:cNvSpPr/>
          <p:nvPr/>
        </p:nvSpPr>
        <p:spPr>
          <a:xfrm>
            <a:off x="9692640" y="3822192"/>
            <a:ext cx="914400" cy="384048"/>
          </a:xfrm>
          <a:prstGeom prst="rect">
            <a:avLst/>
          </a:prstGeom>
          <a:noFill/>
          <a:ln/>
        </p:spPr>
        <p:txBody>
          <a:bodyPr wrap="square" rtlCol="0" anchor="ctr"/>
          <a:lstStyle/>
          <a:p>
            <a:pPr marL="0" indent="0" algn="ctr">
              <a:buNone/>
            </a:pPr>
            <a:r>
              <a:rPr lang="en-US" sz="1200" dirty="0">
                <a:solidFill>
                  <a:srgbClr val="5F6B72"/>
                </a:solidFill>
                <a:latin typeface="Calibri" pitchFamily="34" charset="0"/>
                <a:ea typeface="Calibri" pitchFamily="34" charset="-122"/>
                <a:cs typeface="Calibri" pitchFamily="34" charset="-120"/>
              </a:rPr>
              <a:t>€40M</a:t>
            </a:r>
            <a:endParaRPr lang="en-US" sz="1200" dirty="0"/>
          </a:p>
        </p:txBody>
      </p:sp>
      <p:sp>
        <p:nvSpPr>
          <p:cNvPr id="25" name="Text 23"/>
          <p:cNvSpPr/>
          <p:nvPr/>
        </p:nvSpPr>
        <p:spPr>
          <a:xfrm>
            <a:off x="10561320" y="3822192"/>
            <a:ext cx="868680" cy="384048"/>
          </a:xfrm>
          <a:prstGeom prst="rect">
            <a:avLst/>
          </a:prstGeom>
          <a:noFill/>
          <a:ln/>
        </p:spPr>
        <p:txBody>
          <a:bodyPr wrap="square" rtlCol="0" anchor="ctr"/>
          <a:lstStyle/>
          <a:p>
            <a:pPr marL="0" indent="0" algn="ctr">
              <a:buNone/>
            </a:pPr>
            <a:endParaRPr lang="en-US" sz="1400" dirty="0"/>
          </a:p>
        </p:txBody>
      </p:sp>
      <p:sp>
        <p:nvSpPr>
          <p:cNvPr id="26" name="Text 24"/>
          <p:cNvSpPr/>
          <p:nvPr/>
        </p:nvSpPr>
        <p:spPr>
          <a:xfrm>
            <a:off x="6309360" y="4279392"/>
            <a:ext cx="2377440" cy="384048"/>
          </a:xfrm>
          <a:prstGeom prst="rect">
            <a:avLst/>
          </a:prstGeom>
          <a:noFill/>
          <a:ln/>
        </p:spPr>
        <p:txBody>
          <a:bodyPr wrap="square" rtlCol="0" anchor="ctr"/>
          <a:lstStyle/>
          <a:p>
            <a:pPr marL="0" indent="0">
              <a:buNone/>
            </a:pPr>
            <a:r>
              <a:rPr lang="en-US" sz="1250" b="1" dirty="0">
                <a:solidFill>
                  <a:srgbClr val="1B2A34"/>
                </a:solidFill>
                <a:latin typeface="Calibri" pitchFamily="34" charset="0"/>
                <a:ea typeface="Calibri" pitchFamily="34" charset="-122"/>
                <a:cs typeface="Calibri" pitchFamily="34" charset="-120"/>
              </a:rPr>
              <a:t>Chris Fuhrich</a:t>
            </a:r>
            <a:endParaRPr lang="en-US" sz="1250" dirty="0"/>
          </a:p>
        </p:txBody>
      </p:sp>
      <p:sp>
        <p:nvSpPr>
          <p:cNvPr id="27" name="Text 25"/>
          <p:cNvSpPr/>
          <p:nvPr/>
        </p:nvSpPr>
        <p:spPr>
          <a:xfrm>
            <a:off x="8686800" y="4279392"/>
            <a:ext cx="1005840" cy="384048"/>
          </a:xfrm>
          <a:prstGeom prst="rect">
            <a:avLst/>
          </a:prstGeom>
          <a:noFill/>
          <a:ln/>
        </p:spPr>
        <p:txBody>
          <a:bodyPr wrap="square" rtlCol="0" anchor="ctr"/>
          <a:lstStyle/>
          <a:p>
            <a:pPr marL="0" indent="0" algn="ctr">
              <a:buNone/>
            </a:pPr>
            <a:r>
              <a:rPr lang="en-US" sz="1250" b="1" dirty="0">
                <a:solidFill>
                  <a:srgbClr val="2D6A4F"/>
                </a:solidFill>
                <a:latin typeface="Calibri" pitchFamily="34" charset="0"/>
                <a:ea typeface="Calibri" pitchFamily="34" charset="-122"/>
                <a:cs typeface="Calibri" pitchFamily="34" charset="-120"/>
              </a:rPr>
              <a:t>86.3%</a:t>
            </a:r>
            <a:endParaRPr lang="en-US" sz="1250" dirty="0"/>
          </a:p>
        </p:txBody>
      </p:sp>
      <p:sp>
        <p:nvSpPr>
          <p:cNvPr id="28" name="Text 26"/>
          <p:cNvSpPr/>
          <p:nvPr/>
        </p:nvSpPr>
        <p:spPr>
          <a:xfrm>
            <a:off x="9692640" y="4279392"/>
            <a:ext cx="914400" cy="384048"/>
          </a:xfrm>
          <a:prstGeom prst="rect">
            <a:avLst/>
          </a:prstGeom>
          <a:noFill/>
          <a:ln/>
        </p:spPr>
        <p:txBody>
          <a:bodyPr wrap="square" rtlCol="0" anchor="ctr"/>
          <a:lstStyle/>
          <a:p>
            <a:pPr marL="0" indent="0" algn="ctr">
              <a:buNone/>
            </a:pPr>
            <a:r>
              <a:rPr lang="en-US" sz="1200" dirty="0">
                <a:solidFill>
                  <a:srgbClr val="5F6B72"/>
                </a:solidFill>
                <a:latin typeface="Calibri" pitchFamily="34" charset="0"/>
                <a:ea typeface="Calibri" pitchFamily="34" charset="-122"/>
                <a:cs typeface="Calibri" pitchFamily="34" charset="-120"/>
              </a:rPr>
              <a:t>€12M</a:t>
            </a:r>
            <a:endParaRPr lang="en-US" sz="1200" dirty="0"/>
          </a:p>
        </p:txBody>
      </p:sp>
      <p:sp>
        <p:nvSpPr>
          <p:cNvPr id="29" name="Text 27"/>
          <p:cNvSpPr/>
          <p:nvPr/>
        </p:nvSpPr>
        <p:spPr>
          <a:xfrm>
            <a:off x="10561320" y="4279392"/>
            <a:ext cx="868680" cy="384048"/>
          </a:xfrm>
          <a:prstGeom prst="rect">
            <a:avLst/>
          </a:prstGeom>
          <a:noFill/>
          <a:ln/>
        </p:spPr>
        <p:txBody>
          <a:bodyPr wrap="square" rtlCol="0" anchor="ctr"/>
          <a:lstStyle/>
          <a:p>
            <a:pPr marL="0" indent="0" algn="ctr">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30" name="Text 28"/>
          <p:cNvSpPr/>
          <p:nvPr/>
        </p:nvSpPr>
        <p:spPr>
          <a:xfrm>
            <a:off x="6309360" y="4736592"/>
            <a:ext cx="2377440" cy="384048"/>
          </a:xfrm>
          <a:prstGeom prst="rect">
            <a:avLst/>
          </a:prstGeom>
          <a:noFill/>
          <a:ln/>
        </p:spPr>
        <p:txBody>
          <a:bodyPr wrap="square" rtlCol="0" anchor="ctr"/>
          <a:lstStyle/>
          <a:p>
            <a:pPr marL="0" indent="0">
              <a:buNone/>
            </a:pPr>
            <a:r>
              <a:rPr lang="en-US" sz="1250" b="1" dirty="0">
                <a:solidFill>
                  <a:srgbClr val="1B2A34"/>
                </a:solidFill>
                <a:latin typeface="Calibri" pitchFamily="34" charset="0"/>
                <a:ea typeface="Calibri" pitchFamily="34" charset="-122"/>
                <a:cs typeface="Calibri" pitchFamily="34" charset="-120"/>
              </a:rPr>
              <a:t>Samuel Chukwueze</a:t>
            </a:r>
            <a:endParaRPr lang="en-US" sz="1250" dirty="0"/>
          </a:p>
        </p:txBody>
      </p:sp>
      <p:sp>
        <p:nvSpPr>
          <p:cNvPr id="31" name="Text 29"/>
          <p:cNvSpPr/>
          <p:nvPr/>
        </p:nvSpPr>
        <p:spPr>
          <a:xfrm>
            <a:off x="8686800" y="4736592"/>
            <a:ext cx="1005840" cy="384048"/>
          </a:xfrm>
          <a:prstGeom prst="rect">
            <a:avLst/>
          </a:prstGeom>
          <a:noFill/>
          <a:ln/>
        </p:spPr>
        <p:txBody>
          <a:bodyPr wrap="square" rtlCol="0" anchor="ctr"/>
          <a:lstStyle/>
          <a:p>
            <a:pPr marL="0" indent="0" algn="ctr">
              <a:buNone/>
            </a:pPr>
            <a:r>
              <a:rPr lang="en-US" sz="1250" b="1" dirty="0">
                <a:solidFill>
                  <a:srgbClr val="2D6A4F"/>
                </a:solidFill>
                <a:latin typeface="Calibri" pitchFamily="34" charset="0"/>
                <a:ea typeface="Calibri" pitchFamily="34" charset="-122"/>
                <a:cs typeface="Calibri" pitchFamily="34" charset="-120"/>
              </a:rPr>
              <a:t>84.1%</a:t>
            </a:r>
            <a:endParaRPr lang="en-US" sz="1250" dirty="0"/>
          </a:p>
        </p:txBody>
      </p:sp>
      <p:sp>
        <p:nvSpPr>
          <p:cNvPr id="32" name="Text 30"/>
          <p:cNvSpPr/>
          <p:nvPr/>
        </p:nvSpPr>
        <p:spPr>
          <a:xfrm>
            <a:off x="9692640" y="4736592"/>
            <a:ext cx="914400" cy="384048"/>
          </a:xfrm>
          <a:prstGeom prst="rect">
            <a:avLst/>
          </a:prstGeom>
          <a:noFill/>
          <a:ln/>
        </p:spPr>
        <p:txBody>
          <a:bodyPr wrap="square" rtlCol="0" anchor="ctr"/>
          <a:lstStyle/>
          <a:p>
            <a:pPr marL="0" indent="0" algn="ctr">
              <a:buNone/>
            </a:pPr>
            <a:r>
              <a:rPr lang="en-US" sz="1200" dirty="0">
                <a:solidFill>
                  <a:srgbClr val="5F6B72"/>
                </a:solidFill>
                <a:latin typeface="Calibri" pitchFamily="34" charset="0"/>
                <a:ea typeface="Calibri" pitchFamily="34" charset="-122"/>
                <a:cs typeface="Calibri" pitchFamily="34" charset="-120"/>
              </a:rPr>
              <a:t>€18M</a:t>
            </a:r>
            <a:endParaRPr lang="en-US" sz="1200" dirty="0"/>
          </a:p>
        </p:txBody>
      </p:sp>
      <p:sp>
        <p:nvSpPr>
          <p:cNvPr id="33" name="Text 31"/>
          <p:cNvSpPr/>
          <p:nvPr/>
        </p:nvSpPr>
        <p:spPr>
          <a:xfrm>
            <a:off x="10561320" y="4736592"/>
            <a:ext cx="868680" cy="384048"/>
          </a:xfrm>
          <a:prstGeom prst="rect">
            <a:avLst/>
          </a:prstGeom>
          <a:noFill/>
          <a:ln/>
        </p:spPr>
        <p:txBody>
          <a:bodyPr wrap="square" rtlCol="0" anchor="ctr"/>
          <a:lstStyle/>
          <a:p>
            <a:pPr marL="0" indent="0" algn="ctr">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6309360" y="5193792"/>
            <a:ext cx="2377440" cy="384048"/>
          </a:xfrm>
          <a:prstGeom prst="rect">
            <a:avLst/>
          </a:prstGeom>
          <a:noFill/>
          <a:ln/>
        </p:spPr>
        <p:txBody>
          <a:bodyPr wrap="square" rtlCol="0" anchor="ctr"/>
          <a:lstStyle/>
          <a:p>
            <a:pPr marL="0" indent="0">
              <a:buNone/>
            </a:pPr>
            <a:r>
              <a:rPr lang="en-US" sz="1250" b="1" dirty="0">
                <a:solidFill>
                  <a:srgbClr val="1B2A34"/>
                </a:solidFill>
                <a:latin typeface="Calibri" pitchFamily="34" charset="0"/>
                <a:ea typeface="Calibri" pitchFamily="34" charset="-122"/>
                <a:cs typeface="Calibri" pitchFamily="34" charset="-120"/>
              </a:rPr>
              <a:t>Florian Thauvin</a:t>
            </a:r>
            <a:endParaRPr lang="en-US" sz="1250" dirty="0"/>
          </a:p>
        </p:txBody>
      </p:sp>
      <p:sp>
        <p:nvSpPr>
          <p:cNvPr id="35" name="Text 33"/>
          <p:cNvSpPr/>
          <p:nvPr/>
        </p:nvSpPr>
        <p:spPr>
          <a:xfrm>
            <a:off x="8686800" y="5193792"/>
            <a:ext cx="1005840" cy="384048"/>
          </a:xfrm>
          <a:prstGeom prst="rect">
            <a:avLst/>
          </a:prstGeom>
          <a:noFill/>
          <a:ln/>
        </p:spPr>
        <p:txBody>
          <a:bodyPr wrap="square" rtlCol="0" anchor="ctr"/>
          <a:lstStyle/>
          <a:p>
            <a:pPr marL="0" indent="0" algn="ctr">
              <a:buNone/>
            </a:pPr>
            <a:r>
              <a:rPr lang="en-US" sz="1250" b="1" dirty="0">
                <a:solidFill>
                  <a:srgbClr val="2D6A4F"/>
                </a:solidFill>
                <a:latin typeface="Calibri" pitchFamily="34" charset="0"/>
                <a:ea typeface="Calibri" pitchFamily="34" charset="-122"/>
                <a:cs typeface="Calibri" pitchFamily="34" charset="-120"/>
              </a:rPr>
              <a:t>84.0%</a:t>
            </a:r>
            <a:endParaRPr lang="en-US" sz="1250" dirty="0"/>
          </a:p>
        </p:txBody>
      </p:sp>
      <p:sp>
        <p:nvSpPr>
          <p:cNvPr id="36" name="Text 34"/>
          <p:cNvSpPr/>
          <p:nvPr/>
        </p:nvSpPr>
        <p:spPr>
          <a:xfrm>
            <a:off x="9692640" y="5193792"/>
            <a:ext cx="914400" cy="384048"/>
          </a:xfrm>
          <a:prstGeom prst="rect">
            <a:avLst/>
          </a:prstGeom>
          <a:noFill/>
          <a:ln/>
        </p:spPr>
        <p:txBody>
          <a:bodyPr wrap="square" rtlCol="0" anchor="ctr"/>
          <a:lstStyle/>
          <a:p>
            <a:pPr marL="0" indent="0" algn="ctr">
              <a:buNone/>
            </a:pPr>
            <a:r>
              <a:rPr lang="en-US" sz="1200" dirty="0">
                <a:solidFill>
                  <a:srgbClr val="5F6B72"/>
                </a:solidFill>
                <a:latin typeface="Calibri" pitchFamily="34" charset="0"/>
                <a:ea typeface="Calibri" pitchFamily="34" charset="-122"/>
                <a:cs typeface="Calibri" pitchFamily="34" charset="-120"/>
              </a:rPr>
              <a:t>€5M</a:t>
            </a:r>
            <a:endParaRPr lang="en-US" sz="1200" dirty="0"/>
          </a:p>
        </p:txBody>
      </p:sp>
      <p:sp>
        <p:nvSpPr>
          <p:cNvPr id="37" name="Text 35"/>
          <p:cNvSpPr/>
          <p:nvPr/>
        </p:nvSpPr>
        <p:spPr>
          <a:xfrm>
            <a:off x="10561320" y="5193792"/>
            <a:ext cx="868680" cy="384048"/>
          </a:xfrm>
          <a:prstGeom prst="rect">
            <a:avLst/>
          </a:prstGeom>
          <a:noFill/>
          <a:ln/>
        </p:spPr>
        <p:txBody>
          <a:bodyPr wrap="square" rtlCol="0" anchor="ctr"/>
          <a:lstStyle/>
          <a:p>
            <a:pPr marL="0" indent="0" algn="ctr">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38" name="Text 36"/>
          <p:cNvSpPr/>
          <p:nvPr/>
        </p:nvSpPr>
        <p:spPr>
          <a:xfrm>
            <a:off x="6309360" y="5650992"/>
            <a:ext cx="2377440" cy="384048"/>
          </a:xfrm>
          <a:prstGeom prst="rect">
            <a:avLst/>
          </a:prstGeom>
          <a:noFill/>
          <a:ln/>
        </p:spPr>
        <p:txBody>
          <a:bodyPr wrap="square" rtlCol="0" anchor="ctr"/>
          <a:lstStyle/>
          <a:p>
            <a:pPr marL="0" indent="0">
              <a:buNone/>
            </a:pPr>
            <a:r>
              <a:rPr lang="en-US" sz="1250" dirty="0">
                <a:solidFill>
                  <a:srgbClr val="1B2A34"/>
                </a:solidFill>
                <a:latin typeface="Calibri" pitchFamily="34" charset="0"/>
                <a:ea typeface="Calibri" pitchFamily="34" charset="-122"/>
                <a:cs typeface="Calibri" pitchFamily="34" charset="-120"/>
              </a:rPr>
              <a:t>Jarrod Bowen</a:t>
            </a:r>
            <a:endParaRPr lang="en-US" sz="1250" dirty="0"/>
          </a:p>
        </p:txBody>
      </p:sp>
      <p:sp>
        <p:nvSpPr>
          <p:cNvPr id="39" name="Text 37"/>
          <p:cNvSpPr/>
          <p:nvPr/>
        </p:nvSpPr>
        <p:spPr>
          <a:xfrm>
            <a:off x="8686800" y="5650992"/>
            <a:ext cx="1005840" cy="384048"/>
          </a:xfrm>
          <a:prstGeom prst="rect">
            <a:avLst/>
          </a:prstGeom>
          <a:noFill/>
          <a:ln/>
        </p:spPr>
        <p:txBody>
          <a:bodyPr wrap="square" rtlCol="0" anchor="ctr"/>
          <a:lstStyle/>
          <a:p>
            <a:pPr marL="0" indent="0" algn="ctr">
              <a:buNone/>
            </a:pPr>
            <a:r>
              <a:rPr lang="en-US" sz="1250" b="1" dirty="0">
                <a:solidFill>
                  <a:srgbClr val="2D6A4F"/>
                </a:solidFill>
                <a:latin typeface="Calibri" pitchFamily="34" charset="0"/>
                <a:ea typeface="Calibri" pitchFamily="34" charset="-122"/>
                <a:cs typeface="Calibri" pitchFamily="34" charset="-120"/>
              </a:rPr>
              <a:t>82.1%</a:t>
            </a:r>
            <a:endParaRPr lang="en-US" sz="1250" dirty="0"/>
          </a:p>
        </p:txBody>
      </p:sp>
      <p:sp>
        <p:nvSpPr>
          <p:cNvPr id="40" name="Text 38"/>
          <p:cNvSpPr/>
          <p:nvPr/>
        </p:nvSpPr>
        <p:spPr>
          <a:xfrm>
            <a:off x="9692640" y="5650992"/>
            <a:ext cx="914400" cy="384048"/>
          </a:xfrm>
          <a:prstGeom prst="rect">
            <a:avLst/>
          </a:prstGeom>
          <a:noFill/>
          <a:ln/>
        </p:spPr>
        <p:txBody>
          <a:bodyPr wrap="square" rtlCol="0" anchor="ctr"/>
          <a:lstStyle/>
          <a:p>
            <a:pPr marL="0" indent="0" algn="ctr">
              <a:buNone/>
            </a:pPr>
            <a:r>
              <a:rPr lang="en-US" sz="1200" dirty="0">
                <a:solidFill>
                  <a:srgbClr val="5F6B72"/>
                </a:solidFill>
                <a:latin typeface="Calibri" pitchFamily="34" charset="0"/>
                <a:ea typeface="Calibri" pitchFamily="34" charset="-122"/>
                <a:cs typeface="Calibri" pitchFamily="34" charset="-120"/>
              </a:rPr>
              <a:t>€30M</a:t>
            </a:r>
            <a:endParaRPr lang="en-US" sz="1200" dirty="0"/>
          </a:p>
        </p:txBody>
      </p:sp>
      <p:sp>
        <p:nvSpPr>
          <p:cNvPr id="41" name="Text 39"/>
          <p:cNvSpPr/>
          <p:nvPr/>
        </p:nvSpPr>
        <p:spPr>
          <a:xfrm>
            <a:off x="10561320" y="5650992"/>
            <a:ext cx="868680" cy="384048"/>
          </a:xfrm>
          <a:prstGeom prst="rect">
            <a:avLst/>
          </a:prstGeom>
          <a:noFill/>
          <a:ln/>
        </p:spPr>
        <p:txBody>
          <a:bodyPr wrap="square" rtlCol="0" anchor="ctr"/>
          <a:lstStyle/>
          <a:p>
            <a:pPr marL="0" indent="0" algn="ctr">
              <a:buNone/>
            </a:pPr>
            <a:endParaRPr lang="en-US" sz="1400" dirty="0"/>
          </a:p>
        </p:txBody>
      </p:sp>
      <p:sp>
        <p:nvSpPr>
          <p:cNvPr id="42" name="Text 40"/>
          <p:cNvSpPr/>
          <p:nvPr/>
        </p:nvSpPr>
        <p:spPr>
          <a:xfrm>
            <a:off x="6263640" y="6172200"/>
            <a:ext cx="5029200" cy="91440"/>
          </a:xfrm>
          <a:prstGeom prst="rect">
            <a:avLst/>
          </a:prstGeom>
          <a:noFill/>
          <a:ln/>
        </p:spPr>
        <p:txBody>
          <a:bodyPr wrap="square" rtlCol="0" anchor="ctr"/>
          <a:lstStyle/>
          <a:p>
            <a:pPr marL="0" indent="0">
              <a:buNone/>
            </a:pPr>
            <a:r>
              <a:rPr lang="en-US" sz="100" dirty="0">
                <a:solidFill>
                  <a:srgbClr val="FFFFFF"/>
                </a:solidFill>
                <a:latin typeface="Calibri" pitchFamily="34" charset="0"/>
                <a:ea typeface="Calibri" pitchFamily="34" charset="-122"/>
                <a:cs typeface="Calibri" pitchFamily="34" charset="-120"/>
              </a:rPr>
              <a:t>Cheaper look-alikes (Chukwueze, Fuhrich, Thauvin) = like-for-like replacements at a lower price.</a:t>
            </a:r>
            <a:endParaRPr lang="en-US" sz="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PLAYER SIMILARITY</a:t>
            </a:r>
            <a:endParaRPr lang="en-US" sz="1200" dirty="0"/>
          </a:p>
        </p:txBody>
      </p:sp>
      <p:sp>
        <p:nvSpPr>
          <p:cNvPr id="3" name="Text 1"/>
          <p:cNvSpPr/>
          <p:nvPr/>
        </p:nvSpPr>
        <p:spPr>
          <a:xfrm>
            <a:off x="640080" y="61264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Why Is It a Match?</a:t>
            </a:r>
            <a:endParaRPr lang="en-US" sz="3200" dirty="0"/>
          </a:p>
        </p:txBody>
      </p:sp>
      <p:sp>
        <p:nvSpPr>
          <p:cNvPr id="7" name="Shape 5"/>
          <p:cNvSpPr/>
          <p:nvPr/>
        </p:nvSpPr>
        <p:spPr>
          <a:xfrm>
            <a:off x="2658291" y="1730829"/>
            <a:ext cx="5486400" cy="4114800"/>
          </a:xfrm>
          <a:prstGeom prst="roundRect">
            <a:avLst>
              <a:gd name="adj" fmla="val 1556"/>
            </a:avLst>
          </a:prstGeom>
          <a:solidFill>
            <a:srgbClr val="1B4332"/>
          </a:solidFill>
          <a:ln/>
        </p:spPr>
        <p:txBody>
          <a:bodyPr/>
          <a:lstStyle/>
          <a:p>
            <a:endParaRPr lang="en-001"/>
          </a:p>
        </p:txBody>
      </p:sp>
      <p:sp>
        <p:nvSpPr>
          <p:cNvPr id="8" name="Text 6"/>
          <p:cNvSpPr/>
          <p:nvPr/>
        </p:nvSpPr>
        <p:spPr>
          <a:xfrm>
            <a:off x="2932611" y="1913709"/>
            <a:ext cx="4937760" cy="365760"/>
          </a:xfrm>
          <a:prstGeom prst="rect">
            <a:avLst/>
          </a:prstGeom>
          <a:noFill/>
          <a:ln/>
        </p:spPr>
        <p:txBody>
          <a:bodyPr wrap="square" rtlCol="0" anchor="ctr"/>
          <a:lstStyle/>
          <a:p>
            <a:pPr marL="0" indent="0">
              <a:buNone/>
            </a:pPr>
            <a:r>
              <a:rPr lang="en-US" sz="1400" dirty="0">
                <a:solidFill>
                  <a:srgbClr val="D8F3DC"/>
                </a:solidFill>
                <a:latin typeface="Calibri" pitchFamily="34" charset="0"/>
                <a:ea typeface="Calibri" pitchFamily="34" charset="-122"/>
                <a:cs typeface="Calibri" pitchFamily="34" charset="-120"/>
              </a:rPr>
              <a:t>Closest match to Salah</a:t>
            </a:r>
            <a:endParaRPr lang="en-US" sz="1400" dirty="0"/>
          </a:p>
        </p:txBody>
      </p:sp>
      <p:sp>
        <p:nvSpPr>
          <p:cNvPr id="9" name="Text 7"/>
          <p:cNvSpPr/>
          <p:nvPr/>
        </p:nvSpPr>
        <p:spPr>
          <a:xfrm>
            <a:off x="2932611" y="2279469"/>
            <a:ext cx="493776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Harry Wilson   </a:t>
            </a:r>
            <a:r>
              <a:rPr lang="en-US" sz="2400" b="1" dirty="0">
                <a:solidFill>
                  <a:srgbClr val="E9C46A"/>
                </a:solidFill>
                <a:latin typeface="Cambria" pitchFamily="34" charset="0"/>
                <a:ea typeface="Cambria" pitchFamily="34" charset="-122"/>
                <a:cs typeface="Cambria" pitchFamily="34" charset="-120"/>
              </a:rPr>
              <a:t>91.3%</a:t>
            </a:r>
            <a:endParaRPr lang="en-US" sz="2400" dirty="0"/>
          </a:p>
        </p:txBody>
      </p:sp>
      <p:sp>
        <p:nvSpPr>
          <p:cNvPr id="10" name="Text 8"/>
          <p:cNvSpPr/>
          <p:nvPr/>
        </p:nvSpPr>
        <p:spPr>
          <a:xfrm>
            <a:off x="2932611" y="2873829"/>
            <a:ext cx="4937760" cy="320040"/>
          </a:xfrm>
          <a:prstGeom prst="rect">
            <a:avLst/>
          </a:prstGeom>
          <a:noFill/>
          <a:ln/>
        </p:spPr>
        <p:txBody>
          <a:bodyPr wrap="square" rtlCol="0" anchor="ctr"/>
          <a:lstStyle/>
          <a:p>
            <a:pPr marL="0" indent="0">
              <a:buNone/>
            </a:pPr>
            <a:r>
              <a:rPr lang="en-US" sz="1300" i="1" dirty="0">
                <a:solidFill>
                  <a:srgbClr val="52B788"/>
                </a:solidFill>
                <a:latin typeface="Calibri" pitchFamily="34" charset="0"/>
                <a:ea typeface="Calibri" pitchFamily="34" charset="-122"/>
                <a:cs typeface="Calibri" pitchFamily="34" charset="-120"/>
              </a:rPr>
              <a:t>Excellent Match</a:t>
            </a:r>
            <a:endParaRPr lang="en-US" sz="1300" dirty="0"/>
          </a:p>
        </p:txBody>
      </p:sp>
      <p:sp>
        <p:nvSpPr>
          <p:cNvPr id="11" name="Text 9"/>
          <p:cNvSpPr/>
          <p:nvPr/>
        </p:nvSpPr>
        <p:spPr>
          <a:xfrm>
            <a:off x="2932611" y="3331029"/>
            <a:ext cx="49377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Most alike in these stats:</a:t>
            </a:r>
            <a:endParaRPr lang="en-US" sz="1400" dirty="0"/>
          </a:p>
        </p:txBody>
      </p:sp>
      <p:sp>
        <p:nvSpPr>
          <p:cNvPr id="12" name="Text 10"/>
          <p:cNvSpPr/>
          <p:nvPr/>
        </p:nvSpPr>
        <p:spPr>
          <a:xfrm>
            <a:off x="3024051" y="3742509"/>
            <a:ext cx="365760" cy="347472"/>
          </a:xfrm>
          <a:prstGeom prst="rect">
            <a:avLst/>
          </a:prstGeom>
          <a:noFill/>
          <a:ln/>
        </p:spPr>
        <p:txBody>
          <a:bodyPr wrap="square" rtlCol="0" anchor="ctr"/>
          <a:lstStyle/>
          <a:p>
            <a:pPr marL="0" indent="0">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3435531" y="3742509"/>
            <a:ext cx="4480560" cy="347472"/>
          </a:xfrm>
          <a:prstGeom prst="rect">
            <a:avLst/>
          </a:prstGeom>
          <a:noFill/>
          <a:ln/>
        </p:spPr>
        <p:txBody>
          <a:bodyPr wrap="square" rtlCol="0" anchor="ctr"/>
          <a:lstStyle/>
          <a:p>
            <a:pPr marL="0" indent="0">
              <a:buNone/>
            </a:pPr>
            <a:r>
              <a:rPr lang="en-US" sz="1350" dirty="0">
                <a:solidFill>
                  <a:srgbClr val="D8F3DC"/>
                </a:solidFill>
                <a:latin typeface="Calibri" pitchFamily="34" charset="0"/>
                <a:ea typeface="Calibri" pitchFamily="34" charset="-122"/>
                <a:cs typeface="Calibri" pitchFamily="34" charset="-120"/>
              </a:rPr>
              <a:t>Shots per 90</a:t>
            </a:r>
            <a:endParaRPr lang="en-US" sz="1350" dirty="0"/>
          </a:p>
        </p:txBody>
      </p:sp>
      <p:sp>
        <p:nvSpPr>
          <p:cNvPr id="14" name="Text 12"/>
          <p:cNvSpPr/>
          <p:nvPr/>
        </p:nvSpPr>
        <p:spPr>
          <a:xfrm>
            <a:off x="3024051" y="4144845"/>
            <a:ext cx="365760" cy="347472"/>
          </a:xfrm>
          <a:prstGeom prst="rect">
            <a:avLst/>
          </a:prstGeom>
          <a:noFill/>
          <a:ln/>
        </p:spPr>
        <p:txBody>
          <a:bodyPr wrap="square" rtlCol="0" anchor="ctr"/>
          <a:lstStyle/>
          <a:p>
            <a:pPr marL="0" indent="0">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3435531" y="4144845"/>
            <a:ext cx="4480560" cy="347472"/>
          </a:xfrm>
          <a:prstGeom prst="rect">
            <a:avLst/>
          </a:prstGeom>
          <a:noFill/>
          <a:ln/>
        </p:spPr>
        <p:txBody>
          <a:bodyPr wrap="square" rtlCol="0" anchor="ctr"/>
          <a:lstStyle/>
          <a:p>
            <a:pPr marL="0" indent="0">
              <a:buNone/>
            </a:pPr>
            <a:r>
              <a:rPr lang="en-US" sz="1350" dirty="0">
                <a:solidFill>
                  <a:srgbClr val="D8F3DC"/>
                </a:solidFill>
                <a:latin typeface="Calibri" pitchFamily="34" charset="0"/>
                <a:ea typeface="Calibri" pitchFamily="34" charset="-122"/>
                <a:cs typeface="Calibri" pitchFamily="34" charset="-120"/>
              </a:rPr>
              <a:t>Shots on Target per 90</a:t>
            </a:r>
            <a:endParaRPr lang="en-US" sz="1350" dirty="0"/>
          </a:p>
        </p:txBody>
      </p:sp>
      <p:sp>
        <p:nvSpPr>
          <p:cNvPr id="16" name="Text 14"/>
          <p:cNvSpPr/>
          <p:nvPr/>
        </p:nvSpPr>
        <p:spPr>
          <a:xfrm>
            <a:off x="3024051" y="4547181"/>
            <a:ext cx="365760" cy="347472"/>
          </a:xfrm>
          <a:prstGeom prst="rect">
            <a:avLst/>
          </a:prstGeom>
          <a:noFill/>
          <a:ln/>
        </p:spPr>
        <p:txBody>
          <a:bodyPr wrap="square" rtlCol="0" anchor="ctr"/>
          <a:lstStyle/>
          <a:p>
            <a:pPr marL="0" indent="0">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3435531" y="4547181"/>
            <a:ext cx="4480560" cy="347472"/>
          </a:xfrm>
          <a:prstGeom prst="rect">
            <a:avLst/>
          </a:prstGeom>
          <a:noFill/>
          <a:ln/>
        </p:spPr>
        <p:txBody>
          <a:bodyPr wrap="square" rtlCol="0" anchor="ctr"/>
          <a:lstStyle/>
          <a:p>
            <a:pPr marL="0" indent="0">
              <a:buNone/>
            </a:pPr>
            <a:r>
              <a:rPr lang="en-US" sz="1350" dirty="0">
                <a:solidFill>
                  <a:srgbClr val="D8F3DC"/>
                </a:solidFill>
                <a:latin typeface="Calibri" pitchFamily="34" charset="0"/>
                <a:ea typeface="Calibri" pitchFamily="34" charset="-122"/>
                <a:cs typeface="Calibri" pitchFamily="34" charset="-120"/>
              </a:rPr>
              <a:t>Shots on Target %</a:t>
            </a:r>
            <a:endParaRPr lang="en-US" sz="1350" dirty="0"/>
          </a:p>
        </p:txBody>
      </p:sp>
      <p:sp>
        <p:nvSpPr>
          <p:cNvPr id="18" name="Text 16"/>
          <p:cNvSpPr/>
          <p:nvPr/>
        </p:nvSpPr>
        <p:spPr>
          <a:xfrm>
            <a:off x="3024051" y="4949517"/>
            <a:ext cx="365760" cy="347472"/>
          </a:xfrm>
          <a:prstGeom prst="rect">
            <a:avLst/>
          </a:prstGeom>
          <a:noFill/>
          <a:ln/>
        </p:spPr>
        <p:txBody>
          <a:bodyPr wrap="square" rtlCol="0" anchor="ctr"/>
          <a:lstStyle/>
          <a:p>
            <a:pPr marL="0" indent="0">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3435531" y="4949517"/>
            <a:ext cx="4480560" cy="347472"/>
          </a:xfrm>
          <a:prstGeom prst="rect">
            <a:avLst/>
          </a:prstGeom>
          <a:noFill/>
          <a:ln/>
        </p:spPr>
        <p:txBody>
          <a:bodyPr wrap="square" rtlCol="0" anchor="ctr"/>
          <a:lstStyle/>
          <a:p>
            <a:pPr marL="0" indent="0">
              <a:buNone/>
            </a:pPr>
            <a:r>
              <a:rPr lang="en-US" sz="1350" dirty="0">
                <a:solidFill>
                  <a:srgbClr val="D8F3DC"/>
                </a:solidFill>
                <a:latin typeface="Calibri" pitchFamily="34" charset="0"/>
                <a:ea typeface="Calibri" pitchFamily="34" charset="-122"/>
                <a:cs typeface="Calibri" pitchFamily="34" charset="-120"/>
              </a:rPr>
              <a:t>Plus-Minus per 90</a:t>
            </a:r>
            <a:endParaRPr lang="en-US" sz="1350" dirty="0"/>
          </a:p>
        </p:txBody>
      </p:sp>
      <p:sp>
        <p:nvSpPr>
          <p:cNvPr id="20" name="Text 18"/>
          <p:cNvSpPr/>
          <p:nvPr/>
        </p:nvSpPr>
        <p:spPr>
          <a:xfrm>
            <a:off x="3024051" y="5351853"/>
            <a:ext cx="365760" cy="347472"/>
          </a:xfrm>
          <a:prstGeom prst="rect">
            <a:avLst/>
          </a:prstGeom>
          <a:noFill/>
          <a:ln/>
        </p:spPr>
        <p:txBody>
          <a:bodyPr wrap="square" rtlCol="0" anchor="ctr"/>
          <a:lstStyle/>
          <a:p>
            <a:pPr marL="0" indent="0">
              <a:buNone/>
            </a:pPr>
            <a:r>
              <a:rPr lang="en-US" sz="1400" b="1" dirty="0">
                <a:solidFill>
                  <a:srgbClr val="52B788"/>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3435531" y="5351853"/>
            <a:ext cx="4480560" cy="347472"/>
          </a:xfrm>
          <a:prstGeom prst="rect">
            <a:avLst/>
          </a:prstGeom>
          <a:noFill/>
          <a:ln/>
        </p:spPr>
        <p:txBody>
          <a:bodyPr wrap="square" rtlCol="0" anchor="ctr"/>
          <a:lstStyle/>
          <a:p>
            <a:pPr marL="0" indent="0">
              <a:buNone/>
            </a:pPr>
            <a:r>
              <a:rPr lang="en-US" sz="1350" dirty="0">
                <a:solidFill>
                  <a:srgbClr val="D8F3DC"/>
                </a:solidFill>
                <a:latin typeface="Calibri" pitchFamily="34" charset="0"/>
                <a:ea typeface="Calibri" pitchFamily="34" charset="-122"/>
                <a:cs typeface="Calibri" pitchFamily="34" charset="-120"/>
              </a:rPr>
              <a:t>Fouls Committed per 90</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MODEL EXPLAINABILITY</a:t>
            </a:r>
            <a:endParaRPr lang="en-US" sz="1200" dirty="0"/>
          </a:p>
        </p:txBody>
      </p:sp>
      <p:sp>
        <p:nvSpPr>
          <p:cNvPr id="3" name="Text 1"/>
          <p:cNvSpPr/>
          <p:nvPr/>
        </p:nvSpPr>
        <p:spPr>
          <a:xfrm>
            <a:off x="640080" y="548640"/>
            <a:ext cx="10972800" cy="685800"/>
          </a:xfrm>
          <a:prstGeom prst="rect">
            <a:avLst/>
          </a:prstGeom>
          <a:noFill/>
          <a:ln/>
        </p:spPr>
        <p:txBody>
          <a:bodyPr wrap="square" rtlCol="0" anchor="ctr"/>
          <a:lstStyle/>
          <a:p>
            <a:pPr marL="0" indent="0">
              <a:buNone/>
            </a:pPr>
            <a:r>
              <a:rPr lang="en-US" sz="3000" b="1" dirty="0">
                <a:solidFill>
                  <a:srgbClr val="1B2A34"/>
                </a:solidFill>
                <a:latin typeface="Cambria" pitchFamily="34" charset="0"/>
                <a:ea typeface="Cambria" pitchFamily="34" charset="-122"/>
                <a:cs typeface="Cambria" pitchFamily="34" charset="-120"/>
              </a:rPr>
              <a:t>Explaining the Model (SHAP)</a:t>
            </a:r>
            <a:endParaRPr lang="en-US" sz="3000" dirty="0"/>
          </a:p>
        </p:txBody>
      </p:sp>
      <p:sp>
        <p:nvSpPr>
          <p:cNvPr id="4" name="Text 2"/>
          <p:cNvSpPr/>
          <p:nvPr/>
        </p:nvSpPr>
        <p:spPr>
          <a:xfrm>
            <a:off x="640080" y="1298448"/>
            <a:ext cx="10972800" cy="365760"/>
          </a:xfrm>
          <a:prstGeom prst="rect">
            <a:avLst/>
          </a:prstGeom>
          <a:noFill/>
          <a:ln/>
        </p:spPr>
        <p:txBody>
          <a:bodyPr wrap="square" rtlCol="0" anchor="ctr"/>
          <a:lstStyle/>
          <a:p>
            <a:pPr marL="0" indent="0">
              <a:buNone/>
            </a:pPr>
            <a:r>
              <a:rPr lang="en-US" sz="1450" dirty="0">
                <a:solidFill>
                  <a:srgbClr val="5F6B72"/>
                </a:solidFill>
                <a:latin typeface="Calibri" pitchFamily="34" charset="0"/>
                <a:ea typeface="Calibri" pitchFamily="34" charset="-122"/>
                <a:cs typeface="Calibri" pitchFamily="34" charset="-120"/>
              </a:rPr>
              <a:t>SHAP shows how each stat pushed a player's predicted value up or down. SHAP explains the model in 2 ways:</a:t>
            </a:r>
            <a:endParaRPr lang="en-US" sz="1400" dirty="0">
              <a:solidFill>
                <a:schemeClr val="tx1">
                  <a:lumMod val="75000"/>
                  <a:lumOff val="25000"/>
                </a:schemeClr>
              </a:solidFill>
            </a:endParaRPr>
          </a:p>
        </p:txBody>
      </p:sp>
      <p:sp>
        <p:nvSpPr>
          <p:cNvPr id="5" name="Text 3"/>
          <p:cNvSpPr/>
          <p:nvPr/>
        </p:nvSpPr>
        <p:spPr>
          <a:xfrm>
            <a:off x="640080" y="1828800"/>
            <a:ext cx="5120640" cy="36576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Global view what drives player value overall</a:t>
            </a:r>
            <a:endParaRPr lang="en-US" sz="1500" dirty="0"/>
          </a:p>
        </p:txBody>
      </p:sp>
      <p:sp>
        <p:nvSpPr>
          <p:cNvPr id="6" name="Text 4"/>
          <p:cNvSpPr/>
          <p:nvPr/>
        </p:nvSpPr>
        <p:spPr>
          <a:xfrm>
            <a:off x="640080" y="2286000"/>
            <a:ext cx="2377440" cy="292608"/>
          </a:xfrm>
          <a:prstGeom prst="rect">
            <a:avLst/>
          </a:prstGeom>
          <a:noFill/>
          <a:ln/>
        </p:spPr>
        <p:txBody>
          <a:bodyPr wrap="square" rtlCol="0" anchor="ctr"/>
          <a:lstStyle/>
          <a:p>
            <a:pPr marL="0" indent="0">
              <a:buNone/>
            </a:pPr>
            <a:r>
              <a:rPr lang="en-US" sz="1200" dirty="0">
                <a:solidFill>
                  <a:srgbClr val="1B2A34"/>
                </a:solidFill>
                <a:latin typeface="Calibri" pitchFamily="34" charset="0"/>
                <a:ea typeface="Calibri" pitchFamily="34" charset="-122"/>
                <a:cs typeface="Calibri" pitchFamily="34" charset="-120"/>
              </a:rPr>
              <a:t>Age</a:t>
            </a:r>
            <a:endParaRPr lang="en-US" sz="1200" dirty="0"/>
          </a:p>
        </p:txBody>
      </p:sp>
      <p:sp>
        <p:nvSpPr>
          <p:cNvPr id="7" name="Shape 5"/>
          <p:cNvSpPr/>
          <p:nvPr/>
        </p:nvSpPr>
        <p:spPr>
          <a:xfrm>
            <a:off x="3063240" y="2322576"/>
            <a:ext cx="2560320" cy="219456"/>
          </a:xfrm>
          <a:prstGeom prst="roundRect">
            <a:avLst>
              <a:gd name="adj" fmla="val 12500"/>
            </a:avLst>
          </a:prstGeom>
          <a:solidFill>
            <a:srgbClr val="52B788"/>
          </a:solidFill>
          <a:ln/>
        </p:spPr>
        <p:txBody>
          <a:bodyPr/>
          <a:lstStyle/>
          <a:p>
            <a:endParaRPr lang="en-001"/>
          </a:p>
        </p:txBody>
      </p:sp>
      <p:sp>
        <p:nvSpPr>
          <p:cNvPr id="8" name="Text 6"/>
          <p:cNvSpPr/>
          <p:nvPr/>
        </p:nvSpPr>
        <p:spPr>
          <a:xfrm>
            <a:off x="640080" y="2670048"/>
            <a:ext cx="2377440" cy="292608"/>
          </a:xfrm>
          <a:prstGeom prst="rect">
            <a:avLst/>
          </a:prstGeom>
          <a:noFill/>
          <a:ln/>
        </p:spPr>
        <p:txBody>
          <a:bodyPr wrap="square" rtlCol="0" anchor="ctr"/>
          <a:lstStyle/>
          <a:p>
            <a:pPr marL="0" indent="0">
              <a:buNone/>
            </a:pPr>
            <a:r>
              <a:rPr lang="en-US" sz="1200" dirty="0">
                <a:solidFill>
                  <a:srgbClr val="1B2A34"/>
                </a:solidFill>
                <a:latin typeface="Calibri" pitchFamily="34" charset="0"/>
                <a:ea typeface="Calibri" pitchFamily="34" charset="-122"/>
                <a:cs typeface="Calibri" pitchFamily="34" charset="-120"/>
              </a:rPr>
              <a:t>Team Goals On Pitch</a:t>
            </a:r>
            <a:endParaRPr lang="en-US" sz="1200" dirty="0"/>
          </a:p>
        </p:txBody>
      </p:sp>
      <p:sp>
        <p:nvSpPr>
          <p:cNvPr id="9" name="Shape 7"/>
          <p:cNvSpPr/>
          <p:nvPr/>
        </p:nvSpPr>
        <p:spPr>
          <a:xfrm>
            <a:off x="3063240" y="2706624"/>
            <a:ext cx="2048256" cy="219456"/>
          </a:xfrm>
          <a:prstGeom prst="roundRect">
            <a:avLst>
              <a:gd name="adj" fmla="val 12500"/>
            </a:avLst>
          </a:prstGeom>
          <a:solidFill>
            <a:srgbClr val="52B788"/>
          </a:solidFill>
          <a:ln/>
        </p:spPr>
        <p:txBody>
          <a:bodyPr/>
          <a:lstStyle/>
          <a:p>
            <a:endParaRPr lang="en-001"/>
          </a:p>
        </p:txBody>
      </p:sp>
      <p:sp>
        <p:nvSpPr>
          <p:cNvPr id="10" name="Text 8"/>
          <p:cNvSpPr/>
          <p:nvPr/>
        </p:nvSpPr>
        <p:spPr>
          <a:xfrm>
            <a:off x="640080" y="3054096"/>
            <a:ext cx="2377440" cy="292608"/>
          </a:xfrm>
          <a:prstGeom prst="rect">
            <a:avLst/>
          </a:prstGeom>
          <a:noFill/>
          <a:ln/>
        </p:spPr>
        <p:txBody>
          <a:bodyPr wrap="square" rtlCol="0" anchor="ctr"/>
          <a:lstStyle/>
          <a:p>
            <a:pPr marL="0" indent="0">
              <a:buNone/>
            </a:pPr>
            <a:r>
              <a:rPr lang="en-US" sz="1200" dirty="0">
                <a:solidFill>
                  <a:srgbClr val="1B2A34"/>
                </a:solidFill>
                <a:latin typeface="Calibri" pitchFamily="34" charset="0"/>
                <a:ea typeface="Calibri" pitchFamily="34" charset="-122"/>
                <a:cs typeface="Calibri" pitchFamily="34" charset="-120"/>
              </a:rPr>
              <a:t>Premier League</a:t>
            </a:r>
            <a:endParaRPr lang="en-US" sz="1200" dirty="0"/>
          </a:p>
        </p:txBody>
      </p:sp>
      <p:sp>
        <p:nvSpPr>
          <p:cNvPr id="11" name="Shape 9"/>
          <p:cNvSpPr/>
          <p:nvPr/>
        </p:nvSpPr>
        <p:spPr>
          <a:xfrm>
            <a:off x="3063240" y="3090672"/>
            <a:ext cx="1828800" cy="219456"/>
          </a:xfrm>
          <a:prstGeom prst="roundRect">
            <a:avLst>
              <a:gd name="adj" fmla="val 12500"/>
            </a:avLst>
          </a:prstGeom>
          <a:solidFill>
            <a:srgbClr val="52B788"/>
          </a:solidFill>
          <a:ln/>
        </p:spPr>
        <p:txBody>
          <a:bodyPr/>
          <a:lstStyle/>
          <a:p>
            <a:endParaRPr lang="en-001"/>
          </a:p>
        </p:txBody>
      </p:sp>
      <p:sp>
        <p:nvSpPr>
          <p:cNvPr id="12" name="Text 10"/>
          <p:cNvSpPr/>
          <p:nvPr/>
        </p:nvSpPr>
        <p:spPr>
          <a:xfrm>
            <a:off x="640080" y="3438144"/>
            <a:ext cx="2377440" cy="292608"/>
          </a:xfrm>
          <a:prstGeom prst="rect">
            <a:avLst/>
          </a:prstGeom>
          <a:noFill/>
          <a:ln/>
        </p:spPr>
        <p:txBody>
          <a:bodyPr wrap="square" rtlCol="0" anchor="ctr"/>
          <a:lstStyle/>
          <a:p>
            <a:pPr marL="0" indent="0">
              <a:buNone/>
            </a:pPr>
            <a:r>
              <a:rPr lang="en-US" sz="1200" dirty="0">
                <a:solidFill>
                  <a:srgbClr val="1B2A34"/>
                </a:solidFill>
                <a:latin typeface="Calibri" pitchFamily="34" charset="0"/>
                <a:ea typeface="Calibri" pitchFamily="34" charset="-122"/>
                <a:cs typeface="Calibri" pitchFamily="34" charset="-120"/>
              </a:rPr>
              <a:t>Contract Years-Left</a:t>
            </a:r>
            <a:endParaRPr lang="en-US" sz="1200" dirty="0"/>
          </a:p>
        </p:txBody>
      </p:sp>
      <p:sp>
        <p:nvSpPr>
          <p:cNvPr id="13" name="Shape 11"/>
          <p:cNvSpPr/>
          <p:nvPr/>
        </p:nvSpPr>
        <p:spPr>
          <a:xfrm>
            <a:off x="3063240" y="3474720"/>
            <a:ext cx="1682496" cy="219456"/>
          </a:xfrm>
          <a:prstGeom prst="roundRect">
            <a:avLst>
              <a:gd name="adj" fmla="val 12500"/>
            </a:avLst>
          </a:prstGeom>
          <a:solidFill>
            <a:srgbClr val="52B788"/>
          </a:solidFill>
          <a:ln/>
        </p:spPr>
        <p:txBody>
          <a:bodyPr/>
          <a:lstStyle/>
          <a:p>
            <a:endParaRPr lang="en-001"/>
          </a:p>
        </p:txBody>
      </p:sp>
      <p:sp>
        <p:nvSpPr>
          <p:cNvPr id="14" name="Text 12"/>
          <p:cNvSpPr/>
          <p:nvPr/>
        </p:nvSpPr>
        <p:spPr>
          <a:xfrm>
            <a:off x="640080" y="3822192"/>
            <a:ext cx="2377440" cy="292608"/>
          </a:xfrm>
          <a:prstGeom prst="rect">
            <a:avLst/>
          </a:prstGeom>
          <a:noFill/>
          <a:ln/>
        </p:spPr>
        <p:txBody>
          <a:bodyPr wrap="square" rtlCol="0" anchor="ctr"/>
          <a:lstStyle/>
          <a:p>
            <a:pPr marL="0" indent="0">
              <a:buNone/>
            </a:pPr>
            <a:r>
              <a:rPr lang="en-US" sz="1200" dirty="0">
                <a:solidFill>
                  <a:srgbClr val="1B2A34"/>
                </a:solidFill>
                <a:latin typeface="Calibri" pitchFamily="34" charset="0"/>
                <a:ea typeface="Calibri" pitchFamily="34" charset="-122"/>
                <a:cs typeface="Calibri" pitchFamily="34" charset="-120"/>
              </a:rPr>
              <a:t>Points Per Match</a:t>
            </a:r>
            <a:endParaRPr lang="en-US" sz="1200" dirty="0"/>
          </a:p>
        </p:txBody>
      </p:sp>
      <p:sp>
        <p:nvSpPr>
          <p:cNvPr id="15" name="Shape 13"/>
          <p:cNvSpPr/>
          <p:nvPr/>
        </p:nvSpPr>
        <p:spPr>
          <a:xfrm>
            <a:off x="3063240" y="3858768"/>
            <a:ext cx="1170432" cy="219456"/>
          </a:xfrm>
          <a:prstGeom prst="roundRect">
            <a:avLst>
              <a:gd name="adj" fmla="val 12500"/>
            </a:avLst>
          </a:prstGeom>
          <a:solidFill>
            <a:srgbClr val="52B788"/>
          </a:solidFill>
          <a:ln/>
        </p:spPr>
        <p:txBody>
          <a:bodyPr/>
          <a:lstStyle/>
          <a:p>
            <a:endParaRPr lang="en-001"/>
          </a:p>
        </p:txBody>
      </p:sp>
      <p:sp>
        <p:nvSpPr>
          <p:cNvPr id="18" name="Shape 16"/>
          <p:cNvSpPr/>
          <p:nvPr/>
        </p:nvSpPr>
        <p:spPr>
          <a:xfrm>
            <a:off x="5989320" y="1828800"/>
            <a:ext cx="5532120" cy="4434840"/>
          </a:xfrm>
          <a:prstGeom prst="roundRect">
            <a:avLst>
              <a:gd name="adj" fmla="val 1443"/>
            </a:avLst>
          </a:prstGeom>
          <a:solidFill>
            <a:srgbClr val="1B4332"/>
          </a:solidFill>
          <a:ln/>
        </p:spPr>
        <p:txBody>
          <a:bodyPr/>
          <a:lstStyle/>
          <a:p>
            <a:endParaRPr lang="en-001"/>
          </a:p>
        </p:txBody>
      </p:sp>
      <p:sp>
        <p:nvSpPr>
          <p:cNvPr id="19" name="Text 17"/>
          <p:cNvSpPr/>
          <p:nvPr/>
        </p:nvSpPr>
        <p:spPr>
          <a:xfrm>
            <a:off x="6217920" y="1965960"/>
            <a:ext cx="5120640" cy="365760"/>
          </a:xfrm>
          <a:prstGeom prst="rect">
            <a:avLst/>
          </a:prstGeom>
          <a:noFill/>
          <a:ln/>
        </p:spPr>
        <p:txBody>
          <a:bodyPr wrap="square" rtlCol="0" anchor="ctr"/>
          <a:lstStyle/>
          <a:p>
            <a:pPr marL="0" indent="0">
              <a:buNone/>
            </a:pPr>
            <a:r>
              <a:rPr lang="en-US" sz="1450" b="1" dirty="0">
                <a:solidFill>
                  <a:srgbClr val="52B788"/>
                </a:solidFill>
                <a:latin typeface="Calibri" pitchFamily="34" charset="0"/>
                <a:ea typeface="Calibri" pitchFamily="34" charset="-122"/>
                <a:cs typeface="Calibri" pitchFamily="34" charset="-120"/>
              </a:rPr>
              <a:t>Per-player receipt — Amad Diallo</a:t>
            </a:r>
            <a:endParaRPr lang="en-US" sz="1450" dirty="0"/>
          </a:p>
        </p:txBody>
      </p:sp>
      <p:sp>
        <p:nvSpPr>
          <p:cNvPr id="20" name="Text 18"/>
          <p:cNvSpPr/>
          <p:nvPr/>
        </p:nvSpPr>
        <p:spPr>
          <a:xfrm>
            <a:off x="6217920" y="2331720"/>
            <a:ext cx="5120640" cy="365760"/>
          </a:xfrm>
          <a:prstGeom prst="rect">
            <a:avLst/>
          </a:prstGeom>
          <a:noFill/>
          <a:ln/>
        </p:spPr>
        <p:txBody>
          <a:bodyPr wrap="square" rtlCol="0" anchor="ctr"/>
          <a:lstStyle/>
          <a:p>
            <a:pPr marL="0" indent="0">
              <a:buNone/>
            </a:pPr>
            <a:r>
              <a:rPr lang="en-US" sz="1200" dirty="0">
                <a:solidFill>
                  <a:srgbClr val="D8F3DC"/>
                </a:solidFill>
                <a:latin typeface="Calibri" pitchFamily="34" charset="0"/>
                <a:ea typeface="Calibri" pitchFamily="34" charset="-122"/>
                <a:cs typeface="Calibri" pitchFamily="34" charset="-120"/>
              </a:rPr>
              <a:t>Predicted €59.4M  vs  listed €45M   →   </a:t>
            </a:r>
            <a:r>
              <a:rPr lang="en-US" sz="1300" b="1" dirty="0">
                <a:solidFill>
                  <a:srgbClr val="E9C46A"/>
                </a:solidFill>
                <a:latin typeface="Calibri" pitchFamily="34" charset="0"/>
                <a:ea typeface="Calibri" pitchFamily="34" charset="-122"/>
                <a:cs typeface="Calibri" pitchFamily="34" charset="-120"/>
              </a:rPr>
              <a:t>UNDERVALUED by €14.4M</a:t>
            </a:r>
            <a:endParaRPr lang="en-US" sz="1200" dirty="0"/>
          </a:p>
        </p:txBody>
      </p:sp>
      <p:sp>
        <p:nvSpPr>
          <p:cNvPr id="21" name="Text 19"/>
          <p:cNvSpPr/>
          <p:nvPr/>
        </p:nvSpPr>
        <p:spPr>
          <a:xfrm>
            <a:off x="6263640" y="2788920"/>
            <a:ext cx="2651760" cy="274320"/>
          </a:xfrm>
          <a:prstGeom prst="rect">
            <a:avLst/>
          </a:prstGeom>
          <a:noFill/>
          <a:ln/>
        </p:spPr>
        <p:txBody>
          <a:bodyPr wrap="square" rtlCol="0" anchor="ctr"/>
          <a:lstStyle/>
          <a:p>
            <a:pPr marL="0" indent="0">
              <a:buNone/>
            </a:pPr>
            <a:r>
              <a:rPr lang="en-US" sz="1100" b="1" dirty="0">
                <a:solidFill>
                  <a:srgbClr val="D8F3DC"/>
                </a:solidFill>
                <a:latin typeface="Calibri" pitchFamily="34" charset="0"/>
                <a:ea typeface="Calibri" pitchFamily="34" charset="-122"/>
                <a:cs typeface="Calibri" pitchFamily="34" charset="-120"/>
              </a:rPr>
              <a:t>Factor</a:t>
            </a:r>
            <a:endParaRPr lang="en-US" sz="1100" dirty="0"/>
          </a:p>
        </p:txBody>
      </p:sp>
      <p:sp>
        <p:nvSpPr>
          <p:cNvPr id="22" name="Text 20"/>
          <p:cNvSpPr/>
          <p:nvPr/>
        </p:nvSpPr>
        <p:spPr>
          <a:xfrm>
            <a:off x="8961120" y="2788920"/>
            <a:ext cx="2377440" cy="274320"/>
          </a:xfrm>
          <a:prstGeom prst="rect">
            <a:avLst/>
          </a:prstGeom>
          <a:noFill/>
          <a:ln/>
        </p:spPr>
        <p:txBody>
          <a:bodyPr wrap="square" rtlCol="0" anchor="ctr"/>
          <a:lstStyle/>
          <a:p>
            <a:pPr marL="0" indent="0" algn="r">
              <a:buNone/>
            </a:pPr>
            <a:r>
              <a:rPr lang="en-US" sz="1100" b="1" dirty="0">
                <a:solidFill>
                  <a:srgbClr val="D8F3DC"/>
                </a:solidFill>
                <a:latin typeface="Calibri" pitchFamily="34" charset="0"/>
                <a:ea typeface="Calibri" pitchFamily="34" charset="-122"/>
                <a:cs typeface="Calibri" pitchFamily="34" charset="-120"/>
              </a:rPr>
              <a:t>Effect on value</a:t>
            </a:r>
            <a:endParaRPr lang="en-US" sz="1100" dirty="0"/>
          </a:p>
        </p:txBody>
      </p:sp>
      <p:sp>
        <p:nvSpPr>
          <p:cNvPr id="23" name="Text 21"/>
          <p:cNvSpPr/>
          <p:nvPr/>
        </p:nvSpPr>
        <p:spPr>
          <a:xfrm>
            <a:off x="6263640" y="3127248"/>
            <a:ext cx="329184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Premier League</a:t>
            </a:r>
            <a:endParaRPr lang="en-US" sz="1250" dirty="0"/>
          </a:p>
        </p:txBody>
      </p:sp>
      <p:sp>
        <p:nvSpPr>
          <p:cNvPr id="24" name="Text 22"/>
          <p:cNvSpPr/>
          <p:nvPr/>
        </p:nvSpPr>
        <p:spPr>
          <a:xfrm>
            <a:off x="8961120" y="3127248"/>
            <a:ext cx="2377440" cy="365760"/>
          </a:xfrm>
          <a:prstGeom prst="rect">
            <a:avLst/>
          </a:prstGeom>
          <a:noFill/>
          <a:ln/>
        </p:spPr>
        <p:txBody>
          <a:bodyPr wrap="square" rtlCol="0" anchor="ctr"/>
          <a:lstStyle/>
          <a:p>
            <a:pPr marL="0" indent="0" algn="r">
              <a:buNone/>
            </a:pPr>
            <a:r>
              <a:rPr lang="en-US" sz="1250" b="1" dirty="0">
                <a:solidFill>
                  <a:srgbClr val="52B788"/>
                </a:solidFill>
                <a:latin typeface="Calibri" pitchFamily="34" charset="0"/>
                <a:ea typeface="Calibri" pitchFamily="34" charset="-122"/>
                <a:cs typeface="Calibri" pitchFamily="34" charset="-120"/>
              </a:rPr>
              <a:t>+0.44</a:t>
            </a:r>
            <a:endParaRPr lang="en-US" sz="1250" dirty="0"/>
          </a:p>
        </p:txBody>
      </p:sp>
      <p:sp>
        <p:nvSpPr>
          <p:cNvPr id="25" name="Text 23"/>
          <p:cNvSpPr/>
          <p:nvPr/>
        </p:nvSpPr>
        <p:spPr>
          <a:xfrm>
            <a:off x="6263640" y="3547872"/>
            <a:ext cx="329184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Team Goals On Pitch</a:t>
            </a:r>
            <a:endParaRPr lang="en-US" sz="1250" dirty="0"/>
          </a:p>
        </p:txBody>
      </p:sp>
      <p:sp>
        <p:nvSpPr>
          <p:cNvPr id="26" name="Text 24"/>
          <p:cNvSpPr/>
          <p:nvPr/>
        </p:nvSpPr>
        <p:spPr>
          <a:xfrm>
            <a:off x="8961120" y="3547872"/>
            <a:ext cx="2377440" cy="365760"/>
          </a:xfrm>
          <a:prstGeom prst="rect">
            <a:avLst/>
          </a:prstGeom>
          <a:noFill/>
          <a:ln/>
        </p:spPr>
        <p:txBody>
          <a:bodyPr wrap="square" rtlCol="0" anchor="ctr"/>
          <a:lstStyle/>
          <a:p>
            <a:pPr marL="0" indent="0" algn="r">
              <a:buNone/>
            </a:pPr>
            <a:r>
              <a:rPr lang="en-US" sz="1250" b="1" dirty="0">
                <a:solidFill>
                  <a:srgbClr val="52B788"/>
                </a:solidFill>
                <a:latin typeface="Calibri" pitchFamily="34" charset="0"/>
                <a:ea typeface="Calibri" pitchFamily="34" charset="-122"/>
                <a:cs typeface="Calibri" pitchFamily="34" charset="-120"/>
              </a:rPr>
              <a:t>+0.38</a:t>
            </a:r>
            <a:endParaRPr lang="en-US" sz="1250" dirty="0"/>
          </a:p>
        </p:txBody>
      </p:sp>
      <p:sp>
        <p:nvSpPr>
          <p:cNvPr id="27" name="Text 25"/>
          <p:cNvSpPr/>
          <p:nvPr/>
        </p:nvSpPr>
        <p:spPr>
          <a:xfrm>
            <a:off x="6263640" y="3968496"/>
            <a:ext cx="329184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Contract Years-Left</a:t>
            </a:r>
            <a:endParaRPr lang="en-US" sz="1250" dirty="0"/>
          </a:p>
        </p:txBody>
      </p:sp>
      <p:sp>
        <p:nvSpPr>
          <p:cNvPr id="28" name="Text 26"/>
          <p:cNvSpPr/>
          <p:nvPr/>
        </p:nvSpPr>
        <p:spPr>
          <a:xfrm>
            <a:off x="8961120" y="3968496"/>
            <a:ext cx="2377440" cy="365760"/>
          </a:xfrm>
          <a:prstGeom prst="rect">
            <a:avLst/>
          </a:prstGeom>
          <a:noFill/>
          <a:ln/>
        </p:spPr>
        <p:txBody>
          <a:bodyPr wrap="square" rtlCol="0" anchor="ctr"/>
          <a:lstStyle/>
          <a:p>
            <a:pPr marL="0" indent="0" algn="r">
              <a:buNone/>
            </a:pPr>
            <a:r>
              <a:rPr lang="en-US" sz="1250" b="1" dirty="0">
                <a:solidFill>
                  <a:srgbClr val="52B788"/>
                </a:solidFill>
                <a:latin typeface="Calibri" pitchFamily="34" charset="0"/>
                <a:ea typeface="Calibri" pitchFamily="34" charset="-122"/>
                <a:cs typeface="Calibri" pitchFamily="34" charset="-120"/>
              </a:rPr>
              <a:t>+0.34</a:t>
            </a:r>
            <a:endParaRPr lang="en-US" sz="1250" dirty="0"/>
          </a:p>
        </p:txBody>
      </p:sp>
      <p:sp>
        <p:nvSpPr>
          <p:cNvPr id="29" name="Text 27"/>
          <p:cNvSpPr/>
          <p:nvPr/>
        </p:nvSpPr>
        <p:spPr>
          <a:xfrm>
            <a:off x="6263640" y="4389120"/>
            <a:ext cx="329184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Age</a:t>
            </a:r>
            <a:endParaRPr lang="en-US" sz="1250" dirty="0"/>
          </a:p>
        </p:txBody>
      </p:sp>
      <p:sp>
        <p:nvSpPr>
          <p:cNvPr id="30" name="Text 28"/>
          <p:cNvSpPr/>
          <p:nvPr/>
        </p:nvSpPr>
        <p:spPr>
          <a:xfrm>
            <a:off x="8961120" y="4389120"/>
            <a:ext cx="2377440" cy="365760"/>
          </a:xfrm>
          <a:prstGeom prst="rect">
            <a:avLst/>
          </a:prstGeom>
          <a:noFill/>
          <a:ln/>
        </p:spPr>
        <p:txBody>
          <a:bodyPr wrap="square" rtlCol="0" anchor="ctr"/>
          <a:lstStyle/>
          <a:p>
            <a:pPr marL="0" indent="0" algn="r">
              <a:buNone/>
            </a:pPr>
            <a:r>
              <a:rPr lang="en-US" sz="1250" b="1" dirty="0">
                <a:solidFill>
                  <a:srgbClr val="52B788"/>
                </a:solidFill>
                <a:latin typeface="Calibri" pitchFamily="34" charset="0"/>
                <a:ea typeface="Calibri" pitchFamily="34" charset="-122"/>
                <a:cs typeface="Calibri" pitchFamily="34" charset="-120"/>
              </a:rPr>
              <a:t>+0.32</a:t>
            </a:r>
            <a:endParaRPr lang="en-US" sz="1250" dirty="0"/>
          </a:p>
        </p:txBody>
      </p:sp>
      <p:sp>
        <p:nvSpPr>
          <p:cNvPr id="31" name="Text 29"/>
          <p:cNvSpPr/>
          <p:nvPr/>
        </p:nvSpPr>
        <p:spPr>
          <a:xfrm>
            <a:off x="6263640" y="4809744"/>
            <a:ext cx="329184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Plus-Minus</a:t>
            </a:r>
            <a:endParaRPr lang="en-US" sz="1250" dirty="0"/>
          </a:p>
        </p:txBody>
      </p:sp>
      <p:sp>
        <p:nvSpPr>
          <p:cNvPr id="32" name="Text 30"/>
          <p:cNvSpPr/>
          <p:nvPr/>
        </p:nvSpPr>
        <p:spPr>
          <a:xfrm>
            <a:off x="8961120" y="4809744"/>
            <a:ext cx="2377440" cy="365760"/>
          </a:xfrm>
          <a:prstGeom prst="rect">
            <a:avLst/>
          </a:prstGeom>
          <a:noFill/>
          <a:ln/>
        </p:spPr>
        <p:txBody>
          <a:bodyPr wrap="square" rtlCol="0" anchor="ctr"/>
          <a:lstStyle/>
          <a:p>
            <a:pPr marL="0" indent="0" algn="r">
              <a:buNone/>
            </a:pPr>
            <a:r>
              <a:rPr lang="en-US" sz="1250" b="1" dirty="0">
                <a:solidFill>
                  <a:srgbClr val="52B788"/>
                </a:solidFill>
                <a:latin typeface="Calibri" pitchFamily="34" charset="0"/>
                <a:ea typeface="Calibri" pitchFamily="34" charset="-122"/>
                <a:cs typeface="Calibri" pitchFamily="34" charset="-120"/>
              </a:rPr>
              <a:t>+0.20</a:t>
            </a:r>
            <a:endParaRPr lang="en-US" sz="1250" dirty="0"/>
          </a:p>
        </p:txBody>
      </p:sp>
      <p:sp>
        <p:nvSpPr>
          <p:cNvPr id="33" name="Text 31"/>
          <p:cNvSpPr/>
          <p:nvPr/>
        </p:nvSpPr>
        <p:spPr>
          <a:xfrm>
            <a:off x="6263640" y="5230368"/>
            <a:ext cx="329184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Points Per Match</a:t>
            </a:r>
            <a:endParaRPr lang="en-US" sz="1250" dirty="0"/>
          </a:p>
        </p:txBody>
      </p:sp>
      <p:sp>
        <p:nvSpPr>
          <p:cNvPr id="34" name="Text 32"/>
          <p:cNvSpPr/>
          <p:nvPr/>
        </p:nvSpPr>
        <p:spPr>
          <a:xfrm>
            <a:off x="8961120" y="5230368"/>
            <a:ext cx="2377440" cy="365760"/>
          </a:xfrm>
          <a:prstGeom prst="rect">
            <a:avLst/>
          </a:prstGeom>
          <a:noFill/>
          <a:ln/>
        </p:spPr>
        <p:txBody>
          <a:bodyPr wrap="square" rtlCol="0" anchor="ctr"/>
          <a:lstStyle/>
          <a:p>
            <a:pPr marL="0" indent="0" algn="r">
              <a:buNone/>
            </a:pPr>
            <a:r>
              <a:rPr lang="en-US" sz="1250" b="1" dirty="0">
                <a:solidFill>
                  <a:srgbClr val="52B788"/>
                </a:solidFill>
                <a:latin typeface="Calibri" pitchFamily="34" charset="0"/>
                <a:ea typeface="Calibri" pitchFamily="34" charset="-122"/>
                <a:cs typeface="Calibri" pitchFamily="34" charset="-120"/>
              </a:rPr>
              <a:t>+0.15</a:t>
            </a:r>
            <a:endParaRPr lang="en-US" sz="1250" dirty="0"/>
          </a:p>
        </p:txBody>
      </p:sp>
      <p:sp>
        <p:nvSpPr>
          <p:cNvPr id="35" name="Text 33"/>
          <p:cNvSpPr/>
          <p:nvPr/>
        </p:nvSpPr>
        <p:spPr>
          <a:xfrm>
            <a:off x="6263640" y="5650992"/>
            <a:ext cx="329184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On-Off Impact</a:t>
            </a:r>
            <a:endParaRPr lang="en-US" sz="1250" dirty="0"/>
          </a:p>
        </p:txBody>
      </p:sp>
      <p:sp>
        <p:nvSpPr>
          <p:cNvPr id="36" name="Text 34"/>
          <p:cNvSpPr/>
          <p:nvPr/>
        </p:nvSpPr>
        <p:spPr>
          <a:xfrm>
            <a:off x="8961120" y="5650992"/>
            <a:ext cx="2377440" cy="365760"/>
          </a:xfrm>
          <a:prstGeom prst="rect">
            <a:avLst/>
          </a:prstGeom>
          <a:noFill/>
          <a:ln/>
        </p:spPr>
        <p:txBody>
          <a:bodyPr wrap="square" rtlCol="0" anchor="ctr"/>
          <a:lstStyle/>
          <a:p>
            <a:pPr marL="0" indent="0" algn="r">
              <a:buNone/>
            </a:pPr>
            <a:r>
              <a:rPr lang="en-US" sz="1250" b="1" dirty="0">
                <a:solidFill>
                  <a:srgbClr val="E88D7D"/>
                </a:solidFill>
                <a:latin typeface="Calibri" pitchFamily="34" charset="0"/>
                <a:ea typeface="Calibri" pitchFamily="34" charset="-122"/>
                <a:cs typeface="Calibri" pitchFamily="34" charset="-120"/>
              </a:rPr>
              <a:t>−0.13</a:t>
            </a:r>
            <a:endParaRPr lang="en-US" sz="1250" dirty="0"/>
          </a:p>
        </p:txBody>
      </p:sp>
      <p:pic>
        <p:nvPicPr>
          <p:cNvPr id="38" name="Picture 37">
            <a:extLst>
              <a:ext uri="{FF2B5EF4-FFF2-40B4-BE49-F238E27FC236}">
                <a16:creationId xmlns:a16="http://schemas.microsoft.com/office/drawing/2014/main" id="{B5CCBA5C-01B4-02CE-488E-EF5A7735B1ED}"/>
              </a:ext>
            </a:extLst>
          </p:cNvPr>
          <p:cNvPicPr>
            <a:picLocks noChangeAspect="1"/>
          </p:cNvPicPr>
          <p:nvPr/>
        </p:nvPicPr>
        <p:blipFill>
          <a:blip r:embed="rId3"/>
          <a:stretch>
            <a:fillRect/>
          </a:stretch>
        </p:blipFill>
        <p:spPr>
          <a:xfrm>
            <a:off x="670560" y="4357116"/>
            <a:ext cx="4440936" cy="24780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52B788"/>
                </a:solidFill>
                <a:latin typeface="Calibri" pitchFamily="34" charset="0"/>
                <a:ea typeface="Calibri" pitchFamily="34" charset="-122"/>
                <a:cs typeface="Calibri" pitchFamily="34" charset="-120"/>
              </a:rPr>
              <a:t>FUTURE WORK</a:t>
            </a:r>
            <a:endParaRPr lang="en-US" sz="1200" dirty="0"/>
          </a:p>
        </p:txBody>
      </p:sp>
      <p:sp>
        <p:nvSpPr>
          <p:cNvPr id="3" name="Text 1"/>
          <p:cNvSpPr/>
          <p:nvPr/>
        </p:nvSpPr>
        <p:spPr>
          <a:xfrm>
            <a:off x="640080" y="658368"/>
            <a:ext cx="10972800" cy="731520"/>
          </a:xfrm>
          <a:prstGeom prst="rect">
            <a:avLst/>
          </a:prstGeom>
          <a:noFill/>
          <a:ln/>
        </p:spPr>
        <p:txBody>
          <a:bodyPr wrap="square" rtlCol="0" anchor="ctr"/>
          <a:lstStyle/>
          <a:p>
            <a:pPr marL="0" indent="0">
              <a:buNone/>
            </a:pPr>
            <a:r>
              <a:rPr lang="en-US" sz="3200" b="1" dirty="0">
                <a:solidFill>
                  <a:srgbClr val="1B2A34"/>
                </a:solidFill>
                <a:latin typeface="Cambria" pitchFamily="34" charset="0"/>
                <a:ea typeface="Cambria" pitchFamily="34" charset="-122"/>
                <a:cs typeface="Cambria" pitchFamily="34" charset="-120"/>
              </a:rPr>
              <a:t>Where I can do more upgrade</a:t>
            </a:r>
            <a:endParaRPr lang="en-US" sz="3200" dirty="0"/>
          </a:p>
        </p:txBody>
      </p:sp>
      <p:sp>
        <p:nvSpPr>
          <p:cNvPr id="4" name="Shape 2"/>
          <p:cNvSpPr/>
          <p:nvPr/>
        </p:nvSpPr>
        <p:spPr>
          <a:xfrm>
            <a:off x="640080" y="1600200"/>
            <a:ext cx="5120640" cy="1874520"/>
          </a:xfrm>
          <a:prstGeom prst="roundRect">
            <a:avLst>
              <a:gd name="adj" fmla="val 2927"/>
            </a:avLst>
          </a:prstGeom>
          <a:solidFill>
            <a:srgbClr val="F3F7F4"/>
          </a:solidFill>
          <a:ln w="12700">
            <a:solidFill>
              <a:srgbClr val="DDE7E1"/>
            </a:solidFill>
            <a:prstDash val="solid"/>
          </a:ln>
        </p:spPr>
        <p:txBody>
          <a:bodyPr/>
          <a:lstStyle/>
          <a:p>
            <a:endParaRPr lang="en-001"/>
          </a:p>
        </p:txBody>
      </p:sp>
      <p:sp>
        <p:nvSpPr>
          <p:cNvPr id="5" name="Text 3"/>
          <p:cNvSpPr/>
          <p:nvPr/>
        </p:nvSpPr>
        <p:spPr>
          <a:xfrm>
            <a:off x="822960" y="1737360"/>
            <a:ext cx="475488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Multiple seasons</a:t>
            </a:r>
            <a:endParaRPr lang="en-US" sz="1500" dirty="0"/>
          </a:p>
        </p:txBody>
      </p:sp>
      <p:sp>
        <p:nvSpPr>
          <p:cNvPr id="6" name="Text 4"/>
          <p:cNvSpPr/>
          <p:nvPr/>
        </p:nvSpPr>
        <p:spPr>
          <a:xfrm>
            <a:off x="822960" y="2148840"/>
            <a:ext cx="4754880" cy="1188720"/>
          </a:xfrm>
          <a:prstGeom prst="rect">
            <a:avLst/>
          </a:prstGeom>
          <a:noFill/>
          <a:ln/>
        </p:spPr>
        <p:txBody>
          <a:bodyPr wrap="square" rtlCol="0" anchor="t"/>
          <a:lstStyle/>
          <a:p>
            <a:pPr marL="0" indent="0">
              <a:lnSpc>
                <a:spcPct val="105000"/>
              </a:lnSpc>
              <a:buNone/>
            </a:pPr>
            <a:r>
              <a:rPr lang="en-US" sz="1250" dirty="0">
                <a:solidFill>
                  <a:srgbClr val="1B2A34"/>
                </a:solidFill>
                <a:latin typeface="Calibri" pitchFamily="34" charset="0"/>
                <a:ea typeface="Calibri" pitchFamily="34" charset="-122"/>
                <a:cs typeface="Calibri" pitchFamily="34" charset="-120"/>
              </a:rPr>
              <a:t>Smooths out one-off form and reveals a player's true trajectory.</a:t>
            </a:r>
            <a:endParaRPr lang="en-US" sz="1250" dirty="0"/>
          </a:p>
        </p:txBody>
      </p:sp>
      <p:sp>
        <p:nvSpPr>
          <p:cNvPr id="7" name="Shape 5"/>
          <p:cNvSpPr/>
          <p:nvPr/>
        </p:nvSpPr>
        <p:spPr>
          <a:xfrm>
            <a:off x="6400800" y="1600200"/>
            <a:ext cx="5120640" cy="1874520"/>
          </a:xfrm>
          <a:prstGeom prst="roundRect">
            <a:avLst>
              <a:gd name="adj" fmla="val 2927"/>
            </a:avLst>
          </a:prstGeom>
          <a:solidFill>
            <a:srgbClr val="F3F7F4"/>
          </a:solidFill>
          <a:ln w="12700">
            <a:solidFill>
              <a:srgbClr val="DDE7E1"/>
            </a:solidFill>
            <a:prstDash val="solid"/>
          </a:ln>
        </p:spPr>
        <p:txBody>
          <a:bodyPr/>
          <a:lstStyle/>
          <a:p>
            <a:endParaRPr lang="en-001"/>
          </a:p>
        </p:txBody>
      </p:sp>
      <p:sp>
        <p:nvSpPr>
          <p:cNvPr id="8" name="Text 6"/>
          <p:cNvSpPr/>
          <p:nvPr/>
        </p:nvSpPr>
        <p:spPr>
          <a:xfrm>
            <a:off x="6583680" y="1737360"/>
            <a:ext cx="475488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Advanced metrics</a:t>
            </a:r>
            <a:endParaRPr lang="en-US" sz="1500" dirty="0"/>
          </a:p>
        </p:txBody>
      </p:sp>
      <p:sp>
        <p:nvSpPr>
          <p:cNvPr id="9" name="Text 7"/>
          <p:cNvSpPr/>
          <p:nvPr/>
        </p:nvSpPr>
        <p:spPr>
          <a:xfrm>
            <a:off x="6583680" y="2148840"/>
            <a:ext cx="4754880" cy="1188720"/>
          </a:xfrm>
          <a:prstGeom prst="rect">
            <a:avLst/>
          </a:prstGeom>
          <a:noFill/>
          <a:ln/>
        </p:spPr>
        <p:txBody>
          <a:bodyPr wrap="square" rtlCol="0" anchor="t"/>
          <a:lstStyle/>
          <a:p>
            <a:pPr marL="0" indent="0">
              <a:lnSpc>
                <a:spcPct val="105000"/>
              </a:lnSpc>
              <a:buNone/>
            </a:pPr>
            <a:r>
              <a:rPr lang="en-US" sz="1250" dirty="0">
                <a:solidFill>
                  <a:srgbClr val="1B2A34"/>
                </a:solidFill>
                <a:latin typeface="Calibri" pitchFamily="34" charset="0"/>
                <a:ea typeface="Calibri" pitchFamily="34" charset="-122"/>
                <a:cs typeface="Calibri" pitchFamily="34" charset="-120"/>
              </a:rPr>
              <a:t>Add xG, progressive passes, defensive actions for a sharper signal</a:t>
            </a:r>
            <a:endParaRPr lang="en-US" sz="1250" dirty="0"/>
          </a:p>
        </p:txBody>
      </p:sp>
      <p:sp>
        <p:nvSpPr>
          <p:cNvPr id="10" name="Shape 8"/>
          <p:cNvSpPr/>
          <p:nvPr/>
        </p:nvSpPr>
        <p:spPr>
          <a:xfrm>
            <a:off x="640080" y="3703320"/>
            <a:ext cx="5120640" cy="1874520"/>
          </a:xfrm>
          <a:prstGeom prst="roundRect">
            <a:avLst>
              <a:gd name="adj" fmla="val 2927"/>
            </a:avLst>
          </a:prstGeom>
          <a:solidFill>
            <a:srgbClr val="F3F7F4"/>
          </a:solidFill>
          <a:ln w="12700">
            <a:solidFill>
              <a:srgbClr val="DDE7E1"/>
            </a:solidFill>
            <a:prstDash val="solid"/>
          </a:ln>
        </p:spPr>
        <p:txBody>
          <a:bodyPr/>
          <a:lstStyle/>
          <a:p>
            <a:endParaRPr lang="en-001"/>
          </a:p>
        </p:txBody>
      </p:sp>
      <p:sp>
        <p:nvSpPr>
          <p:cNvPr id="11" name="Text 9"/>
          <p:cNvSpPr/>
          <p:nvPr/>
        </p:nvSpPr>
        <p:spPr>
          <a:xfrm>
            <a:off x="822960" y="3840480"/>
            <a:ext cx="475488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Interactive dashboard</a:t>
            </a:r>
            <a:endParaRPr lang="en-US" sz="1500" dirty="0"/>
          </a:p>
        </p:txBody>
      </p:sp>
      <p:sp>
        <p:nvSpPr>
          <p:cNvPr id="12" name="Text 10"/>
          <p:cNvSpPr/>
          <p:nvPr/>
        </p:nvSpPr>
        <p:spPr>
          <a:xfrm>
            <a:off x="822960" y="4251960"/>
            <a:ext cx="4754880" cy="1188720"/>
          </a:xfrm>
          <a:prstGeom prst="rect">
            <a:avLst/>
          </a:prstGeom>
          <a:noFill/>
          <a:ln/>
        </p:spPr>
        <p:txBody>
          <a:bodyPr wrap="square" rtlCol="0" anchor="t"/>
          <a:lstStyle/>
          <a:p>
            <a:pPr marL="0" indent="0">
              <a:lnSpc>
                <a:spcPct val="105000"/>
              </a:lnSpc>
              <a:buNone/>
            </a:pPr>
            <a:r>
              <a:rPr lang="en-US" sz="1250" dirty="0">
                <a:solidFill>
                  <a:srgbClr val="1B2A34"/>
                </a:solidFill>
                <a:latin typeface="Calibri" pitchFamily="34" charset="0"/>
                <a:ea typeface="Calibri" pitchFamily="34" charset="-122"/>
                <a:cs typeface="Calibri" pitchFamily="34" charset="-120"/>
              </a:rPr>
              <a:t>Let scouts filter and explore picks in a live tool</a:t>
            </a:r>
            <a:endParaRPr lang="en-US" sz="1250" dirty="0"/>
          </a:p>
        </p:txBody>
      </p:sp>
      <p:sp>
        <p:nvSpPr>
          <p:cNvPr id="13" name="Shape 11"/>
          <p:cNvSpPr/>
          <p:nvPr/>
        </p:nvSpPr>
        <p:spPr>
          <a:xfrm>
            <a:off x="6400800" y="3703320"/>
            <a:ext cx="5120640" cy="1874520"/>
          </a:xfrm>
          <a:prstGeom prst="roundRect">
            <a:avLst>
              <a:gd name="adj" fmla="val 2927"/>
            </a:avLst>
          </a:prstGeom>
          <a:solidFill>
            <a:srgbClr val="F3F7F4"/>
          </a:solidFill>
          <a:ln w="12700">
            <a:solidFill>
              <a:srgbClr val="DDE7E1"/>
            </a:solidFill>
            <a:prstDash val="solid"/>
          </a:ln>
        </p:spPr>
        <p:txBody>
          <a:bodyPr/>
          <a:lstStyle/>
          <a:p>
            <a:endParaRPr lang="en-001"/>
          </a:p>
        </p:txBody>
      </p:sp>
      <p:sp>
        <p:nvSpPr>
          <p:cNvPr id="14" name="Text 12"/>
          <p:cNvSpPr/>
          <p:nvPr/>
        </p:nvSpPr>
        <p:spPr>
          <a:xfrm>
            <a:off x="6583680" y="3840480"/>
            <a:ext cx="4754880" cy="411480"/>
          </a:xfrm>
          <a:prstGeom prst="rect">
            <a:avLst/>
          </a:prstGeom>
          <a:noFill/>
          <a:ln/>
        </p:spPr>
        <p:txBody>
          <a:bodyPr wrap="square" rtlCol="0" anchor="ctr"/>
          <a:lstStyle/>
          <a:p>
            <a:pPr marL="0" indent="0">
              <a:buNone/>
            </a:pPr>
            <a:r>
              <a:rPr lang="en-US" sz="1500" b="1" dirty="0">
                <a:solidFill>
                  <a:srgbClr val="2D6A4F"/>
                </a:solidFill>
                <a:latin typeface="Calibri" pitchFamily="34" charset="0"/>
                <a:ea typeface="Calibri" pitchFamily="34" charset="-122"/>
                <a:cs typeface="Calibri" pitchFamily="34" charset="-120"/>
              </a:rPr>
              <a:t>Wages &amp; injuries</a:t>
            </a:r>
            <a:endParaRPr lang="en-US" sz="1500" dirty="0"/>
          </a:p>
        </p:txBody>
      </p:sp>
      <p:sp>
        <p:nvSpPr>
          <p:cNvPr id="15" name="Text 13"/>
          <p:cNvSpPr/>
          <p:nvPr/>
        </p:nvSpPr>
        <p:spPr>
          <a:xfrm>
            <a:off x="6583680" y="4251960"/>
            <a:ext cx="4754880" cy="1188720"/>
          </a:xfrm>
          <a:prstGeom prst="rect">
            <a:avLst/>
          </a:prstGeom>
          <a:noFill/>
          <a:ln/>
        </p:spPr>
        <p:txBody>
          <a:bodyPr wrap="square" rtlCol="0" anchor="t"/>
          <a:lstStyle/>
          <a:p>
            <a:pPr marL="0" indent="0">
              <a:lnSpc>
                <a:spcPct val="105000"/>
              </a:lnSpc>
              <a:buNone/>
            </a:pPr>
            <a:r>
              <a:rPr lang="en-US" sz="1250" dirty="0">
                <a:solidFill>
                  <a:srgbClr val="1B2A34"/>
                </a:solidFill>
                <a:latin typeface="Calibri" pitchFamily="34" charset="0"/>
                <a:ea typeface="Calibri" pitchFamily="34" charset="-122"/>
                <a:cs typeface="Calibri" pitchFamily="34" charset="-120"/>
              </a:rPr>
              <a:t>Factor in total cost and availability, not just transfer fee.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1B4332"/>
        </a:solidFill>
        <a:effectLst/>
      </p:bgPr>
    </p:bg>
    <p:spTree>
      <p:nvGrpSpPr>
        <p:cNvPr id="1" name=""/>
        <p:cNvGrpSpPr/>
        <p:nvPr/>
      </p:nvGrpSpPr>
      <p:grpSpPr>
        <a:xfrm>
          <a:off x="0" y="0"/>
          <a:ext cx="0" cy="0"/>
          <a:chOff x="0" y="0"/>
          <a:chExt cx="0" cy="0"/>
        </a:xfrm>
      </p:grpSpPr>
      <p:sp>
        <p:nvSpPr>
          <p:cNvPr id="3" name="Text 1"/>
          <p:cNvSpPr/>
          <p:nvPr/>
        </p:nvSpPr>
        <p:spPr>
          <a:xfrm>
            <a:off x="731520" y="914400"/>
            <a:ext cx="10058400" cy="8229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4" name="Text 2"/>
          <p:cNvSpPr/>
          <p:nvPr/>
        </p:nvSpPr>
        <p:spPr>
          <a:xfrm>
            <a:off x="822960" y="2011680"/>
            <a:ext cx="10515600" cy="2926080"/>
          </a:xfrm>
          <a:prstGeom prst="rect">
            <a:avLst/>
          </a:prstGeom>
          <a:noFill/>
          <a:ln/>
        </p:spPr>
        <p:txBody>
          <a:bodyPr wrap="square" rtlCol="0" anchor="t"/>
          <a:lstStyle/>
          <a:p>
            <a:pPr marL="342900" indent="-342900">
              <a:spcAft>
                <a:spcPts val="1200"/>
              </a:spcAft>
              <a:buSzPct val="100000"/>
              <a:buChar char="•"/>
            </a:pPr>
            <a:r>
              <a:rPr lang="en-001" dirty="0">
                <a:solidFill>
                  <a:schemeClr val="bg2"/>
                </a:solidFill>
              </a:rPr>
              <a:t>Developed an XGBoost model that predicts player market value (R² = 0.75)</a:t>
            </a:r>
            <a:endParaRPr lang="en-US" sz="1800" dirty="0">
              <a:solidFill>
                <a:schemeClr val="bg2"/>
              </a:solidFill>
            </a:endParaRPr>
          </a:p>
          <a:p>
            <a:pPr marL="342900" indent="-342900">
              <a:spcAft>
                <a:spcPts val="1200"/>
              </a:spcAft>
              <a:buSzPct val="100000"/>
              <a:buChar char="•"/>
            </a:pPr>
            <a:r>
              <a:rPr lang="en-US" sz="1800" dirty="0">
                <a:solidFill>
                  <a:schemeClr val="bg2"/>
                </a:solidFill>
                <a:latin typeface="Calibri" pitchFamily="34" charset="0"/>
                <a:ea typeface="Calibri" pitchFamily="34" charset="-122"/>
                <a:cs typeface="Calibri" pitchFamily="34" charset="-120"/>
              </a:rPr>
              <a:t>Finds undervalued talent</a:t>
            </a:r>
            <a:endParaRPr lang="en-US" sz="1800" dirty="0">
              <a:solidFill>
                <a:schemeClr val="bg2"/>
              </a:solidFill>
            </a:endParaRPr>
          </a:p>
          <a:p>
            <a:pPr marL="342900" indent="-342900">
              <a:spcAft>
                <a:spcPts val="1200"/>
              </a:spcAft>
              <a:buSzPct val="100000"/>
              <a:buChar char="•"/>
            </a:pPr>
            <a:r>
              <a:rPr lang="en-US" sz="1800" dirty="0">
                <a:solidFill>
                  <a:schemeClr val="bg2"/>
                </a:solidFill>
                <a:latin typeface="Calibri" pitchFamily="34" charset="0"/>
                <a:ea typeface="Calibri" pitchFamily="34" charset="-122"/>
                <a:cs typeface="Calibri" pitchFamily="34" charset="-120"/>
              </a:rPr>
              <a:t>Suggests like-for-like replacements at lower cost</a:t>
            </a:r>
            <a:endParaRPr lang="en-US" sz="1800" dirty="0">
              <a:solidFill>
                <a:schemeClr val="bg2"/>
              </a:solidFill>
            </a:endParaRPr>
          </a:p>
          <a:p>
            <a:pPr marL="342900" indent="-342900">
              <a:spcAft>
                <a:spcPts val="1200"/>
              </a:spcAft>
              <a:buSzPct val="100000"/>
              <a:buChar char="•"/>
            </a:pPr>
            <a:r>
              <a:rPr lang="en-US" sz="1800" dirty="0">
                <a:solidFill>
                  <a:schemeClr val="bg2"/>
                </a:solidFill>
                <a:latin typeface="Calibri" pitchFamily="34" charset="0"/>
                <a:ea typeface="Calibri" pitchFamily="34" charset="-122"/>
                <a:cs typeface="Calibri" pitchFamily="34" charset="-120"/>
              </a:rPr>
              <a:t>Explains </a:t>
            </a:r>
            <a:r>
              <a:rPr lang="en-US" dirty="0">
                <a:solidFill>
                  <a:schemeClr val="bg2"/>
                </a:solidFill>
                <a:latin typeface="Calibri" pitchFamily="34" charset="0"/>
                <a:ea typeface="Calibri" pitchFamily="34" charset="-122"/>
                <a:cs typeface="Calibri" pitchFamily="34" charset="-120"/>
              </a:rPr>
              <a:t>why the player is valued on that price</a:t>
            </a:r>
            <a:endParaRPr lang="en-US" sz="1800" dirty="0">
              <a:solidFill>
                <a:schemeClr val="bg2"/>
              </a:solidFill>
            </a:endParaRPr>
          </a:p>
        </p:txBody>
      </p:sp>
      <p:sp>
        <p:nvSpPr>
          <p:cNvPr id="6" name="Text 4"/>
          <p:cNvSpPr/>
          <p:nvPr/>
        </p:nvSpPr>
        <p:spPr>
          <a:xfrm>
            <a:off x="5232601" y="4816945"/>
            <a:ext cx="2922668"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Thank yo</a:t>
            </a:r>
            <a:r>
              <a:rPr lang="en-US" b="1" dirty="0">
                <a:solidFill>
                  <a:srgbClr val="FFFFFF"/>
                </a:solidFill>
                <a:latin typeface="Calibri" pitchFamily="34" charset="0"/>
                <a:ea typeface="Calibri" pitchFamily="34" charset="-122"/>
                <a:cs typeface="Calibri" pitchFamily="34" charset="-120"/>
              </a:rPr>
              <a:t>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1195</TotalTime>
  <Words>4757</Words>
  <Application>Microsoft Office PowerPoint</Application>
  <PresentationFormat>Widescreen</PresentationFormat>
  <Paragraphs>582</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Md Rafi</cp:lastModifiedBy>
  <cp:revision>6</cp:revision>
  <dcterms:created xsi:type="dcterms:W3CDTF">2026-08-04T07:29:56Z</dcterms:created>
  <dcterms:modified xsi:type="dcterms:W3CDTF">2026-08-05T03:29:01Z</dcterms:modified>
</cp:coreProperties>
</file>